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4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&lt;exact title text&gt;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&lt;bullets, prose, or code block — verbatim&gt;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VR Creator - Day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Pong · 1972 · Atari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Why Pong mattered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1972, Atari. One of the first video games you could play in public.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Dead simple — two paddles, one ball. Anyone got it in seconds. That simplicity is why it spread.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Launched the whole arcade industry; 3 years later 'Home Pong' put a video game on the family TV for the first time.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Proved games could be a business. Pac-Man, Mario, your living-room console — all trace back here.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The 5-day arc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1972 —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Pong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(today, highlighted)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1980 — Pac-Man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1990s — Tower / Base Defense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late 1990s — Fighter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2020s — Racing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A quick history of VR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dream is old — VR headsets go back to the 1960s, but they were huge, blurry, and wildly expensive.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2012: the Oculus Rift made VR cheap and good enough to be real. Now standalone headsets (Quest) need no PC at all.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VR = the screen wraps all the way around you. You don't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look at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the game — you're </a:t>
            </a:r>
            <a:r>
              <a:rPr sz="2000" b="0" i="1">
                <a:solidFill>
                  <a:srgbClr val="1A1A1A"/>
                </a:solidFill>
                <a:latin typeface="Poppins"/>
              </a:rPr>
              <a:t>inside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Today's concepts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Variables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values that can change.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Conditions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if / else, and comparing numbers.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GDScript is Python with two small differences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545576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E53A2C"/>
                </a:solidFill>
                <a:latin typeface="Poppins"/>
              </a:rPr>
              <a:t>Code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06040"/>
            <a:ext cx="5455767" cy="3886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Two</a:t>
            </a:r>
            <a:r>
              <a:rPr sz="1800">
                <a:solidFill>
                  <a:srgbClr val="E6E6E6"/>
                </a:solidFill>
                <a:latin typeface="Consolas"/>
              </a:rPr>
              <a:t>-</a:t>
            </a:r>
            <a:r>
              <a:rPr sz="1800">
                <a:solidFill>
                  <a:srgbClr val="E6E6E6"/>
                </a:solidFill>
                <a:latin typeface="Consolas"/>
              </a:rPr>
              <a:t>column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visual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diagram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Left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column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header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Python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blue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,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right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column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header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GDScript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green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Two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rows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with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a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connecting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arrow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between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each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pair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Left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`</a:t>
            </a:r>
            <a:r>
              <a:rPr sz="1800">
                <a:solidFill>
                  <a:srgbClr val="E6E6E6"/>
                </a:solidFill>
                <a:latin typeface="Consolas"/>
              </a:rPr>
              <a:t>x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5</a:t>
            </a:r>
            <a:r>
              <a:rPr sz="1800">
                <a:solidFill>
                  <a:srgbClr val="E6E6E6"/>
                </a:solidFill>
                <a:latin typeface="Consolas"/>
              </a:rPr>
              <a:t>`</a:t>
            </a:r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→</a:t>
            </a:r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Right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`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x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5</a:t>
            </a:r>
            <a:r>
              <a:rPr sz="1800">
                <a:solidFill>
                  <a:srgbClr val="E6E6E6"/>
                </a:solidFill>
                <a:latin typeface="Consolas"/>
              </a:rPr>
              <a:t>`</a:t>
            </a:r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with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callout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box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around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`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`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in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iCode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red</a:t>
            </a:r>
            <a:r>
              <a:rPr sz="1800">
                <a:solidFill>
                  <a:srgbClr val="E6E6E6"/>
                </a:solidFill>
                <a:latin typeface="Consolas"/>
              </a:rPr>
              <a:t>,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label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one extra word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Left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`</a:t>
            </a:r>
            <a:r>
              <a:rPr sz="1800">
                <a:solidFill>
                  <a:srgbClr val="E6E6E6"/>
                </a:solidFill>
                <a:latin typeface="Consolas"/>
              </a:rPr>
              <a:t>def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update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`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→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Right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`</a:t>
            </a:r>
            <a:r>
              <a:rPr sz="1800">
                <a:solidFill>
                  <a:srgbClr val="569CD6"/>
                </a:solidFill>
                <a:latin typeface="Consolas"/>
              </a:rPr>
              <a:t>func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update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`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with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callout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box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around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`</a:t>
            </a:r>
            <a:r>
              <a:rPr sz="1800">
                <a:solidFill>
                  <a:srgbClr val="569CD6"/>
                </a:solidFill>
                <a:latin typeface="Consolas"/>
              </a:rPr>
              <a:t>func</a:t>
            </a:r>
            <a:r>
              <a:rPr sz="1800">
                <a:solidFill>
                  <a:srgbClr val="E6E6E6"/>
                </a:solidFill>
                <a:latin typeface="Consolas"/>
              </a:rPr>
              <a:t>`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in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iCode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red</a:t>
            </a:r>
            <a:r>
              <a:rPr sz="1800">
                <a:solidFill>
                  <a:srgbClr val="E6E6E6"/>
                </a:solidFill>
                <a:latin typeface="Consolas"/>
              </a:rPr>
              <a:t>,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label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different keyword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Pre-coding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"Open the project. Open the script. Run it. Read the errors."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</a:t>
            </a:r>
          </a:p>
        </p:txBody>
      </p:sp>
      <p:pic>
        <p:nvPicPr>
          <p:cNvPr id="8" name="Picture 7" descr="WalkA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91109"/>
            <a:ext cx="6766377" cy="487014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Launch Godot 4. The Project Manager window opens. Find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Import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button at the top-right.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</a:t>
            </a:r>
          </a:p>
        </p:txBody>
      </p:sp>
      <p:pic>
        <p:nvPicPr>
          <p:cNvPr id="8" name="Picture 7" descr="WalkA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5703"/>
            <a:ext cx="6766377" cy="48809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Click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Import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button at the top-right of the Project Manager.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</a:t>
            </a:r>
          </a:p>
        </p:txBody>
      </p:sp>
      <p:pic>
        <p:nvPicPr>
          <p:cNvPr id="8" name="Picture 7" descr="WalkA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48248"/>
            <a:ext cx="6766377" cy="475586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 the file browser, open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Day1_Pong_Game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folder and click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project.godot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select 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</a:t>
            </a:r>
          </a:p>
        </p:txBody>
      </p:sp>
      <p:pic>
        <p:nvPicPr>
          <p:cNvPr id="8" name="Picture 7" descr="WalkA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9461"/>
            <a:ext cx="6766377" cy="487343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Godot asks to confirm. 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Import &amp; Edit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</a:t>
            </a:r>
          </a:p>
        </p:txBody>
      </p:sp>
      <p:pic>
        <p:nvPicPr>
          <p:cNvPr id="8" name="Picture 7" descr="Walk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3136"/>
            <a:ext cx="6766377" cy="38060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Godot imports the project (first time takes a few seconds) and the editor opens. You're in.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14</a:t>
            </a:r>
          </a:p>
        </p:txBody>
      </p:sp>
      <p:pic>
        <p:nvPicPr>
          <p:cNvPr id="8" name="Picture 7" descr="WalkB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940" y="1143000"/>
            <a:ext cx="6414897" cy="5166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Look at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FileSystem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panel (bottom-left). Find the file named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15</a:t>
            </a:r>
          </a:p>
        </p:txBody>
      </p:sp>
      <p:pic>
        <p:nvPicPr>
          <p:cNvPr id="8" name="Picture 7" descr="WalkB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3136"/>
            <a:ext cx="6766377" cy="38060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Hover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then double-click to open 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Lesson chunks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"Eight holes to fill. We'll fill them in order."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Variable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(just the word, very large, centred on slide)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What does </a:t>
            </a:r>
            <a:r>
              <a:rPr sz="5400" b="1" i="1">
                <a:solidFill>
                  <a:srgbClr val="1A1A1A"/>
                </a:solidFill>
                <a:latin typeface="Poppins"/>
              </a:rPr>
              <a:t>variable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mean?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"What does </a:t>
            </a:r>
            <a:r>
              <a:rPr sz="2400" b="0" i="1">
                <a:solidFill>
                  <a:srgbClr val="8A8A8A"/>
                </a:solidFill>
                <a:latin typeface="Poppins"/>
              </a:rPr>
              <a:t>vary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mean?"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vary = something that can change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V in 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variable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→ 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V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ALUE that can 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C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HANGE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The cookie jar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Consolas"/>
              </a:rPr>
              <a:t>CookiesInJar = 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A week later…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Consolas"/>
              </a:rPr>
              <a:t>CookiesInJar = 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You eat 3 cookies.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"What is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CookiesInJar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now?"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A variable is a VALUE that can CHANGE across time.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How does a video game use variables?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Pong's variables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How fast is the ball moving left/right?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ball_speed_x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How fast is the ball moving up/down?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ball_speed_y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How fast does the paddle move?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paddle_speed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Every frame, these numbers decide how fast everything goes.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27</a:t>
            </a:r>
          </a:p>
        </p:txBody>
      </p:sp>
      <p:pic>
        <p:nvPicPr>
          <p:cNvPr id="8" name="Picture 7" descr="D1C1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27755"/>
            <a:ext cx="6766377" cy="499685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487113" y="3209544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Right below the score, between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#@todo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#@end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you'll add three variables of your own.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74520"/>
            <a:ext cx="5074782" cy="42062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ball_speed_x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6.0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ball_speed_y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3.0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paddle_speed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6.0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Three variables — left-right ball speed, up-down ball speed, and paddle speed.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Without these, the ball has no speed. It can't move. Every moving thing in Pong needs a number.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var name := value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makes a new variable.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:=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sets the starting value. Pick any numbers you like.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#1 — Create your game variables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41985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819656"/>
            <a:ext cx="4198504" cy="4261104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score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0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lives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3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speed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6.0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4304" y="1527048"/>
            <a:ext cx="685019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84304" y="1819656"/>
            <a:ext cx="6850190" cy="4261104"/>
          </a:xfrm>
          <a:prstGeom prst="round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 # ball left-right speed (pick a number)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 # ball up-down speed (pick a number)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 # paddle speed (pick a number)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30</a:t>
            </a:r>
          </a:p>
        </p:txBody>
      </p:sp>
      <p:pic>
        <p:nvPicPr>
          <p:cNvPr id="8" name="Picture 7" descr="WalkB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3136"/>
            <a:ext cx="6766377" cy="38060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Press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F5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key on your keyboard. (Or click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Play ▶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button in the top-right toolbar.)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31</a:t>
            </a:r>
          </a:p>
        </p:txBody>
      </p:sp>
      <p:pic>
        <p:nvPicPr>
          <p:cNvPr id="8" name="Picture 7" descr="WalkC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23136"/>
            <a:ext cx="6766377" cy="380608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A new window pops up, 1152 × 648 pixels. Dark background, two cyan paddles. The ball will be frozen at the centre until chunk #6b — that's normal.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32</a:t>
            </a:r>
          </a:p>
        </p:txBody>
      </p:sp>
      <p:pic>
        <p:nvPicPr>
          <p:cNvPr id="8" name="Picture 7" descr="Walk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48953"/>
            <a:ext cx="6766377" cy="27544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Close the game window, OR press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F8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in the editor to stop it.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33</a:t>
            </a:r>
          </a:p>
        </p:txBody>
      </p:sp>
      <p:pic>
        <p:nvPicPr>
          <p:cNvPr id="8" name="Picture 7" descr="WalkD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05960"/>
            <a:ext cx="6766377" cy="46404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If your game window doesn't open after F5, look at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Output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panel at the bottom of the editor. That's where errors print.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Step D.2 — Three errors you WILL hit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Parse Error: Expected ':' after \"if\" condition.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you forgot the colon at the end of an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line.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Identifier \"ball_speedy\" not declared in the current scope.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typo in a variable name (probably missing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_x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_y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).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Expected indented block.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→ the line after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 ...: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not indented (use Tab or 4 spaces).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Naming your variables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Code doesn't care what you call a variable.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"The name is for </a:t>
            </a:r>
            <a:r>
              <a:rPr sz="2400" b="1" i="0">
                <a:solidFill>
                  <a:srgbClr val="8A8A8A"/>
                </a:solidFill>
                <a:latin typeface="Poppins"/>
              </a:rPr>
              <a:t>YOU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."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Programmers go SILLY on 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foobar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bazinga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are decades-old programmer jokes — built right into real codebases.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Even Claude (the AI in your editor) types nonsense words like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fligerbigitibetting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when it's just thinking out loud.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Making code feel personal makes it more fun to read AND more fun to write.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Both work — pick your favourite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929" y="1965960"/>
            <a:ext cx="9021836" cy="45262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score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0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What's the funniest variable name you can think of?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Your code, your names.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Real game studios do this every 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"Codebases are full of inside jokes, pet names, and references hidden in variable names. It's part of the culture."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42</a:t>
            </a:r>
          </a:p>
        </p:txBody>
      </p:sp>
      <p:pic>
        <p:nvPicPr>
          <p:cNvPr id="8" name="Picture 7" descr="D1C1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64918"/>
            <a:ext cx="6766376" cy="172252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487113" y="3209544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Right below your chunk #1a variables, you've got another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#@todo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block waiting for two more — names of your choosing.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74520"/>
            <a:ext cx="5074782" cy="42062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skibidi_speed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99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gyatt_factor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42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Two variables — names are 100% your choice. Numbers too.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You'll display them on the scoreboard in TODO #9. Pick something that'll make your neighbour laugh.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Same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var name := value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as before. Name rules: lowercase, underscores, no spaces.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#2 — Your own variables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41985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819656"/>
            <a:ext cx="4198504" cy="4261104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skibidi_speed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99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ohio_rizz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7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gyatt_factor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42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4304" y="1527048"/>
            <a:ext cx="685019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84304" y="1819656"/>
            <a:ext cx="6850190" cy="4261104"/>
          </a:xfrm>
          <a:prstGeom prst="round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 # silly variable name #1 (your choice)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 # silly variable name #2 (your choice)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Boolean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A variable with only TWO possible values.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Those two values: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true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or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false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"No numbers. No text. Just yes or no."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Boolean = a YES/NO switch.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The light switch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Consolas"/>
              </a:rPr>
              <a:t>light_on = true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Flip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Consolas"/>
              </a:rPr>
              <a:t>light_on = false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Is the light in this room on right now?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"True or false?"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A boolean is a true/false switch. Like a light switch.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Games are full of yes/no switches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the player alive?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is_alive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the game paused?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is_paused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the door locked?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door_locked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All booleans.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Today in Pong: is the ball moving yet?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"That's a boolean. We'll call it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ball_moving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."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55</a:t>
            </a:r>
          </a:p>
        </p:txBody>
      </p:sp>
      <p:pic>
        <p:nvPicPr>
          <p:cNvPr id="8" name="Picture 7" descr="D1C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47234"/>
            <a:ext cx="6766377" cy="375789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487113" y="3209544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Just below your variables from #1b, there's a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#@todo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block for one boolean.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74520"/>
            <a:ext cx="5074782" cy="42062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ball_moving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DCDCAA"/>
                </a:solidFill>
                <a:latin typeface="Consolas"/>
              </a:rPr>
              <a:t>false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One variable — a true/false switch called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ball_moving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The ball needs to freeze until Space is pressed. This flag is the on/off switch.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Same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var name := value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the value is just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true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or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false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instead of a number.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#3 — Make a boolean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41985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819656"/>
            <a:ext cx="4198504" cy="4261104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is_alive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DCDCAA"/>
                </a:solidFill>
                <a:latin typeface="Consolas"/>
              </a:rPr>
              <a:t>true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door_locked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DCDCAA"/>
                </a:solidFill>
                <a:latin typeface="Consolas"/>
              </a:rPr>
              <a:t>false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ball_moving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DCDCAA"/>
                </a:solidFill>
                <a:latin typeface="Consolas"/>
              </a:rPr>
              <a:t>false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4304" y="1527048"/>
            <a:ext cx="685019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84304" y="1819656"/>
            <a:ext cx="6850190" cy="4261104"/>
          </a:xfrm>
          <a:prstGeom prst="round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 # a true/false variable called ball_moving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 # start it as false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statement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An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runs a block of code ONLY WHEN something is true.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The shape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929" y="1965960"/>
            <a:ext cx="9021836" cy="45262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[</a:t>
            </a:r>
            <a:r>
              <a:rPr sz="1800">
                <a:solidFill>
                  <a:srgbClr val="E6E6E6"/>
                </a:solidFill>
                <a:latin typeface="Consolas"/>
              </a:rPr>
              <a:t>something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569CD6"/>
                </a:solidFill>
                <a:latin typeface="Consolas"/>
              </a:rPr>
              <a:t>is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DCDCAA"/>
                </a:solidFill>
                <a:latin typeface="Consolas"/>
              </a:rPr>
              <a:t>true</a:t>
            </a:r>
            <a:r>
              <a:rPr sz="1800">
                <a:solidFill>
                  <a:srgbClr val="E6E6E6"/>
                </a:solidFill>
                <a:latin typeface="Consolas"/>
              </a:rPr>
              <a:t>]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E6E6E6"/>
                </a:solidFill>
                <a:latin typeface="Consolas"/>
              </a:rPr>
              <a:t>do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this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E6E6E6"/>
                </a:solidFill>
                <a:latin typeface="Consolas"/>
              </a:rPr>
              <a:t>and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this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is indentation?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Notice how some lines are shifted to the right?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That shift is called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indentation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In GDScript (and Python), it's not decorative — it tells the computer which lines belong to which rule.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Think of it as an invisible box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929" y="1965960"/>
            <a:ext cx="9021836" cy="45262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score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&gt;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5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         </a:t>
            </a:r>
            <a:r>
              <a:rPr sz="1800">
                <a:solidFill>
                  <a:srgbClr val="E6E6E6"/>
                </a:solidFill>
                <a:latin typeface="Consolas"/>
              </a:rPr>
              <a:t>←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OPENS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the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box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blue</a:t>
            </a:r>
            <a:r>
              <a:rPr sz="1800">
                <a:solidFill>
                  <a:srgbClr val="E6E6E6"/>
                </a:solidFill>
                <a:latin typeface="Consolas"/>
              </a:rPr>
              <a:t>/</a:t>
            </a:r>
            <a:r>
              <a:rPr sz="1800">
                <a:solidFill>
                  <a:srgbClr val="E6E6E6"/>
                </a:solidFill>
                <a:latin typeface="Consolas"/>
              </a:rPr>
              <a:t>highlighted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┌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┐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│</a:t>
            </a:r>
            <a:r>
              <a:rPr sz="1800">
                <a:solidFill>
                  <a:srgbClr val="E6E6E6"/>
                </a:solidFill>
                <a:latin typeface="Consolas"/>
              </a:rPr>
              <a:t>   </a:t>
            </a:r>
            <a:r>
              <a:rPr sz="1800">
                <a:solidFill>
                  <a:srgbClr val="DCDCAA"/>
                </a:solidFill>
                <a:latin typeface="Consolas"/>
              </a:rPr>
              <a:t>print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winning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   </a:t>
            </a:r>
            <a:r>
              <a:rPr sz="1800">
                <a:solidFill>
                  <a:srgbClr val="E6E6E6"/>
                </a:solidFill>
                <a:latin typeface="Consolas"/>
              </a:rPr>
              <a:t>←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LINE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1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inside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│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│</a:t>
            </a:r>
            <a:r>
              <a:rPr sz="1800">
                <a:solidFill>
                  <a:srgbClr val="E6E6E6"/>
                </a:solidFill>
                <a:latin typeface="Consolas"/>
              </a:rPr>
              <a:t>   </a:t>
            </a:r>
            <a:r>
              <a:rPr sz="1800">
                <a:solidFill>
                  <a:srgbClr val="E6E6E6"/>
                </a:solidFill>
                <a:latin typeface="Consolas"/>
              </a:rPr>
              <a:t>do_something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     </a:t>
            </a:r>
            <a:r>
              <a:rPr sz="1800">
                <a:solidFill>
                  <a:srgbClr val="E6E6E6"/>
                </a:solidFill>
                <a:latin typeface="Consolas"/>
              </a:rPr>
              <a:t>←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LINE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2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inside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│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└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─</a:t>
            </a:r>
            <a:r>
              <a:rPr sz="1800">
                <a:solidFill>
                  <a:srgbClr val="E6E6E6"/>
                </a:solidFill>
                <a:latin typeface="Consolas"/>
              </a:rPr>
              <a:t>┘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DCDCAA"/>
                </a:solidFill>
                <a:latin typeface="Consolas"/>
              </a:rPr>
              <a:t>print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done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           </a:t>
            </a:r>
            <a:r>
              <a:rPr sz="1800">
                <a:solidFill>
                  <a:srgbClr val="E6E6E6"/>
                </a:solidFill>
                <a:latin typeface="Consolas"/>
              </a:rPr>
              <a:t>←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LINE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3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ALWAYS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runs</a:t>
            </a:r>
            <a:r>
              <a:rPr sz="1800">
                <a:solidFill>
                  <a:srgbClr val="E6E6E6"/>
                </a:solidFill>
                <a:latin typeface="Consolas"/>
              </a:rPr>
              <a:t>,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outside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the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box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Condition is TRUE → box opens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929" y="1965960"/>
            <a:ext cx="9021836" cy="45262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Same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diagram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569CD6"/>
                </a:solidFill>
                <a:latin typeface="Consolas"/>
              </a:rPr>
              <a:t>as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S065b</a:t>
            </a:r>
            <a:r>
              <a:rPr sz="1800">
                <a:solidFill>
                  <a:srgbClr val="E6E6E6"/>
                </a:solidFill>
                <a:latin typeface="Consolas"/>
              </a:rPr>
              <a:t>,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but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with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annotations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Condition is FALSE → box stays closed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929" y="1965960"/>
            <a:ext cx="9021836" cy="45262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Same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diagram</a:t>
            </a:r>
            <a:r>
              <a:rPr sz="1800">
                <a:solidFill>
                  <a:srgbClr val="E6E6E6"/>
                </a:solidFill>
                <a:latin typeface="Consolas"/>
              </a:rPr>
              <a:t>,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different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annotations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happens without indentation?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929" y="1965960"/>
            <a:ext cx="9021836" cy="45262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score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&gt;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5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    </a:t>
            </a:r>
            <a:r>
              <a:rPr sz="1800">
                <a:solidFill>
                  <a:srgbClr val="E6E6E6"/>
                </a:solidFill>
                <a:latin typeface="Consolas"/>
              </a:rPr>
              <a:t>←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the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DCDCAA"/>
                </a:solidFill>
                <a:latin typeface="Consolas"/>
              </a:rPr>
              <a:t>print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winning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←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NOT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indented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→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NOT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inside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the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box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DCDCAA"/>
                </a:solidFill>
                <a:latin typeface="Consolas"/>
              </a:rPr>
              <a:t>print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done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    </a:t>
            </a:r>
            <a:r>
              <a:rPr sz="1800">
                <a:solidFill>
                  <a:srgbClr val="E6E6E6"/>
                </a:solidFill>
                <a:latin typeface="Consolas"/>
              </a:rPr>
              <a:t>←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NOT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indented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→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also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not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inside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the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box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The box rule applies to EVERYTHING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Every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opens a box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Every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func ...: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opens a box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Every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for ... in ...: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opens a box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Every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else: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opens a box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Anything followed by a colon `:` opens a box. What's indented under it is inside.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CHECK: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Which lines run when the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is TRUE?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929" y="1965960"/>
            <a:ext cx="9021836" cy="45262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health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&gt;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0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       </a:t>
            </a:r>
            <a:r>
              <a:rPr sz="1800">
                <a:solidFill>
                  <a:srgbClr val="E6E6E6"/>
                </a:solidFill>
                <a:latin typeface="Consolas"/>
              </a:rPr>
              <a:t>←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condition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TRUE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E6E6E6"/>
                </a:solidFill>
                <a:latin typeface="Consolas"/>
              </a:rPr>
              <a:t>line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1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DCDCAA"/>
                </a:solidFill>
                <a:latin typeface="Consolas"/>
              </a:rPr>
              <a:t>print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alive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E6E6E6"/>
                </a:solidFill>
                <a:latin typeface="Consolas"/>
              </a:rPr>
              <a:t>line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2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take_damage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line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3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move_player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CHECK: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Which line ALWAYS runs?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929" y="1965960"/>
            <a:ext cx="9021836" cy="45262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is_paused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E6E6E6"/>
                </a:solidFill>
                <a:latin typeface="Consolas"/>
              </a:rPr>
              <a:t>line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1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freeze_enemies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E6E6E6"/>
                </a:solidFill>
                <a:latin typeface="Consolas"/>
              </a:rPr>
              <a:t>line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2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show_menu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line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3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update_timer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CHECK: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Nested boxes — what runs?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929" y="1965960"/>
            <a:ext cx="9021836" cy="45262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has_key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E6E6E6"/>
                </a:solidFill>
                <a:latin typeface="Consolas"/>
              </a:rPr>
              <a:t>line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1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DCDCAA"/>
                </a:solidFill>
                <a:latin typeface="Consolas"/>
              </a:rPr>
              <a:t>print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you have the key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door_locked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    </a:t>
            </a:r>
            <a:r>
              <a:rPr sz="1800">
                <a:solidFill>
                  <a:srgbClr val="E6E6E6"/>
                </a:solidFill>
                <a:latin typeface="Consolas"/>
              </a:rPr>
              <a:t>line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2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DCDCAA"/>
                </a:solidFill>
                <a:latin typeface="Consolas"/>
              </a:rPr>
              <a:t>print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door unlocked!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E6E6E6"/>
                </a:solidFill>
                <a:latin typeface="Consolas"/>
              </a:rPr>
              <a:t>line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3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DCDCAA"/>
                </a:solidFill>
                <a:latin typeface="Consolas"/>
              </a:rPr>
              <a:t>print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you</a:t>
            </a:r>
            <a:r>
              <a:rPr sz="1800">
                <a:solidFill>
                  <a:srgbClr val="CE9178"/>
                </a:solidFill>
                <a:latin typeface="Consolas"/>
              </a:rPr>
              <a:t>'</a:t>
            </a:r>
            <a:r>
              <a:rPr sz="1800">
                <a:solidFill>
                  <a:srgbClr val="CE9178"/>
                </a:solidFill>
                <a:latin typeface="Consolas"/>
              </a:rPr>
              <a:t>re inside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line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4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DCDCAA"/>
                </a:solidFill>
                <a:latin typeface="Consolas"/>
              </a:rPr>
              <a:t>print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game continues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IF you're hungry → eat.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Real life is full of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if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rules.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IF you finish your veggies → you get dessert.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"What if you DIDN'T finish?"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is a rule that only fires when its condition is true.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"Otherwise: nothing."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Every game runs on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checks. Every. Single. Frame.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button pressed → jump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enemy near → attack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health = 0 → game over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Today in Pong: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"IF the player has NOT pressed Space yet → freeze the ball. Use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return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to skip the rest of the frame."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75</a:t>
            </a:r>
          </a:p>
        </p:txBody>
      </p:sp>
      <p:pic>
        <p:nvPicPr>
          <p:cNvPr id="8" name="Picture 7" descr="D1C6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19279"/>
            <a:ext cx="6766377" cy="201380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487113" y="3209544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Inside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_process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function, near the top.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74520"/>
            <a:ext cx="5074782" cy="42062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Input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is_key_pressed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KEY_SPACE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E6E6E6"/>
                </a:solidFill>
                <a:latin typeface="Consolas"/>
              </a:rPr>
              <a:t>ball_moving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DCDCAA"/>
                </a:solidFill>
                <a:latin typeface="Consolas"/>
              </a:rPr>
              <a:t>true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ball_moving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DCDCAA"/>
                </a:solidFill>
                <a:latin typeface="Consolas"/>
              </a:rPr>
              <a:t>false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return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Two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checks — one listens for Space, one freezes the ball.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The ball should wait. Without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return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it starts moving the moment the game opens.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Input.is_key_pressed(KEY_SPACE)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asks 'is Space held right now?'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return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stops the rest of the function.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#4 — Space key + ball freeze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41985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819656"/>
            <a:ext cx="4198504" cy="4261104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Input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is_key_pressed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KEY_SPACE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E6E6E6"/>
                </a:solidFill>
                <a:latin typeface="Consolas"/>
              </a:rPr>
              <a:t>variable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DCDCAA"/>
                </a:solidFill>
                <a:latin typeface="Consolas"/>
              </a:rPr>
              <a:t>true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variable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DCDCAA"/>
                </a:solidFill>
                <a:latin typeface="Consolas"/>
              </a:rPr>
              <a:t>false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return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4304" y="1527048"/>
            <a:ext cx="685019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84304" y="1819656"/>
            <a:ext cx="6850190" cy="4261104"/>
          </a:xfrm>
          <a:prstGeom prst="round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 # if Space is pressed: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 #     set ball_moving to true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 # if ball_moving is false: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 #     return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It works! The ball waits for Space.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Press F5. The ball sits frozen at the centre until you tap </a:t>
            </a:r>
            <a:r>
              <a:rPr sz="2400" b="1" i="0">
                <a:solidFill>
                  <a:srgbClr val="8A8A8A"/>
                </a:solidFill>
                <a:latin typeface="Poppins"/>
              </a:rPr>
              <a:t>Space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. Then it moves.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79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onsolas"/>
              </a:rPr>
              <a:t>Input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is an 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object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929" y="1965960"/>
            <a:ext cx="9021836" cy="45262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Input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is_key_pressed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KEY_SPACE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6A9955"/>
                </a:solidFill>
                <a:latin typeface="Consolas"/>
              </a:rPr>
              <a:t>#  ↑       ↑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6A9955"/>
                </a:solidFill>
                <a:latin typeface="Consolas"/>
              </a:rPr>
              <a:t># object   verb (ask Input to check a key)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There is no ONE right answer in code.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For any problem in programming, there are thousands — sometimes MILLIONS — of valid solutions.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examples on the left side of TODO slides are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one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way. Your way is just as valid if it works.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What matters: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does it run? does it do what you wanted?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If yes — it's correct.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Updating a variable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We already know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var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makes a variable. Now we </a:t>
            </a:r>
            <a:r>
              <a:rPr sz="2400" b="1" i="0">
                <a:solidFill>
                  <a:srgbClr val="8A8A8A"/>
                </a:solidFill>
                <a:latin typeface="Poppins"/>
              </a:rPr>
              <a:t>UPDATE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one — read the current value, do some math, put the new value back.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74520"/>
            <a:ext cx="5074782" cy="42062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ball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position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x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+=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ball_speed_x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ball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position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y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+=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ball_speed_y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Two lines — move the ball left-right, and up-down, every frame.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Without this, the ball just sits there. This is the only reason anything moves.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+=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reads the current value, adds the speed, and puts the result back. Long form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x = x + speed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also works.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#5 — Move the ball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41985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819656"/>
            <a:ext cx="4198504" cy="4261104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x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x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+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amount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x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+=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amount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ball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position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x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+=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ball_speed_x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4304" y="1527048"/>
            <a:ext cx="685019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84304" y="1819656"/>
            <a:ext cx="6850190" cy="4261104"/>
          </a:xfrm>
          <a:prstGeom prst="round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 # add ball_speed_x to ball.position.x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 # add ball_speed_y to ball.position.y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The ball moves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Press F5, then Space. The ball drifts off the right side of the screen. That's expected — TODO #6 catches it.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/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else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else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is the OTHERWISE branch.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"When the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if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is NOT true → run the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else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block instead."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if / else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= two paths. ONE always runs.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Fork in the road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Sign reads: IF it's daytime → go left. ELSE → go right.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89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IF it's raining → umbrella.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"ELSE → ?"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One of the two paths ALWAYS runs.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Two-outcome checks are everywhere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you have the key → open the door, else → it stays locked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HP &gt; 0 → take damage, else → game over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input pressed → move, else → idle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Today in Pong: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"IF the ball hit the top OR bottom wall → flip its vertical speed. ELSE → let it keep going."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are the borders?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929" y="1965960"/>
            <a:ext cx="9021836" cy="45262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upper_border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0</a:t>
            </a:r>
            <a:r>
              <a:rPr sz="1800">
                <a:solidFill>
                  <a:srgbClr val="E6E6E6"/>
                </a:solidFill>
                <a:latin typeface="Consolas"/>
              </a:rPr>
              <a:t>               </a:t>
            </a:r>
            <a:r>
              <a:rPr sz="1800">
                <a:solidFill>
                  <a:srgbClr val="6A9955"/>
                </a:solidFill>
                <a:latin typeface="Consolas"/>
              </a:rPr>
              <a:t># top of screen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lower_border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SCREEN_H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-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BALL_SIZE</a:t>
            </a:r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6A9955"/>
                </a:solidFill>
                <a:latin typeface="Consolas"/>
              </a:rPr>
              <a:t># = 648 - 20 = 628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Why subtract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BALL_SIZE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929" y="1965960"/>
            <a:ext cx="9021836" cy="45262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y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628</a:t>
            </a:r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→</a:t>
            </a:r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ball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top</a:t>
            </a:r>
            <a:r>
              <a:rPr sz="1800">
                <a:solidFill>
                  <a:srgbClr val="E6E6E6"/>
                </a:solidFill>
                <a:latin typeface="Consolas"/>
              </a:rPr>
              <a:t>-</a:t>
            </a:r>
            <a:r>
              <a:rPr sz="1800">
                <a:solidFill>
                  <a:srgbClr val="E6E6E6"/>
                </a:solidFill>
                <a:latin typeface="Consolas"/>
              </a:rPr>
              <a:t>left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at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628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        </a:t>
            </a:r>
            <a:r>
              <a:rPr sz="1800">
                <a:solidFill>
                  <a:srgbClr val="E6E6E6"/>
                </a:solidFill>
                <a:latin typeface="Consolas"/>
              </a:rPr>
              <a:t>ball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bottom</a:t>
            </a:r>
            <a:r>
              <a:rPr sz="1800">
                <a:solidFill>
                  <a:srgbClr val="E6E6E6"/>
                </a:solidFill>
                <a:latin typeface="Consolas"/>
              </a:rPr>
              <a:t>-</a:t>
            </a:r>
            <a:r>
              <a:rPr sz="1800">
                <a:solidFill>
                  <a:srgbClr val="E6E6E6"/>
                </a:solidFill>
                <a:latin typeface="Consolas"/>
              </a:rPr>
              <a:t>right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at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648</a:t>
            </a:r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←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just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touching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the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wall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✓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y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648</a:t>
            </a:r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→</a:t>
            </a:r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ball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has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already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gone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OFF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the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screen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✗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Math figures it out for you.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Instead of guessing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628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we wrote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SCREEN_H - BALL_SIZE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If you change the screen size, or the ball size, the border updates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automatically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you don't touch it.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This is why game developers use math: one formula that works for any size, any speed, any screen.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You'll need this kind of thinking later this week.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Keep it in mind.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74520"/>
            <a:ext cx="5074782" cy="42062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upper_border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0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lower_border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SCREEN_H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-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BALL_SIZE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ball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position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y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&lt;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upper_border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or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ball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position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y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&gt;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lower_border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E6E6E6"/>
                </a:solidFill>
                <a:latin typeface="Consolas"/>
              </a:rPr>
              <a:t>ball_speed_y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-</a:t>
            </a:r>
            <a:r>
              <a:rPr sz="1800">
                <a:solidFill>
                  <a:srgbClr val="E6E6E6"/>
                </a:solidFill>
                <a:latin typeface="Consolas"/>
              </a:rPr>
              <a:t>ball_speed_y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else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pass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Named border variables + an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if/else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that bounces the ball off the top and bottom.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Without this, the ball drifts off screen.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checks both walls in one line.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Negating speed (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-ball_speed_y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) flips its direction.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else: pass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means 'otherwise do nothing'.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#6 — Wall bounce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41985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819656"/>
            <a:ext cx="4198504" cy="4261104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upper_border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0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lower_border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SCREEN_H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-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BALL_SIZE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A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or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B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E6E6E6"/>
                </a:solidFill>
                <a:latin typeface="Consolas"/>
              </a:rPr>
              <a:t>ball_speed_y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-</a:t>
            </a:r>
            <a:r>
              <a:rPr sz="1800">
                <a:solidFill>
                  <a:srgbClr val="E6E6E6"/>
                </a:solidFill>
                <a:latin typeface="Consolas"/>
              </a:rPr>
              <a:t>ball_speed_y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else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569CD6"/>
                </a:solidFill>
                <a:latin typeface="Consolas"/>
              </a:rPr>
              <a:t>pass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4304" y="1527048"/>
            <a:ext cx="685019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84304" y="1819656"/>
            <a:ext cx="6850190" cy="4261104"/>
          </a:xfrm>
          <a:prstGeom prst="round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 var upper_border = 0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 var lower_border = SCREEN_H - BALL_SIZE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 # if ball.position.y &lt; upper_border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 # or ball.position.y &gt; lower_border: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 #     flip ball_speed_y (negate it)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 # else: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 #     pass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The ball bounces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Press F5, then Space. The ball ricochets off the top and bottom walls now. It still flies off the LEFT and RIGHT sides — TODO #8 fixes that.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— without an else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Same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if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from chunk #6b. This time we use it WITHOUT an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else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. If the check fails → nothing happens (no else, no other path).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74520"/>
            <a:ext cx="5074782" cy="42062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ball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position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x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&gt;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SCREEN_W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DCDCAA"/>
                </a:solidFill>
                <a:latin typeface="Consolas"/>
              </a:rPr>
              <a:t>print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point!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One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check — if the ball went past the right edge, print a message.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This is a 'does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even work?' test before adding real scoring in TODO #8.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print()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sends text to the Output panel at the bottom of Godot. Great for debugging.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#7 — Print 'point!'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41985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819656"/>
            <a:ext cx="4198504" cy="4261104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ball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position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x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&gt;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SCREEN_W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DCDCAA"/>
                </a:solidFill>
                <a:latin typeface="Consolas"/>
              </a:rPr>
              <a:t>print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your message here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4304" y="1527048"/>
            <a:ext cx="685019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84304" y="1819656"/>
            <a:ext cx="6850190" cy="4261104"/>
          </a:xfrm>
          <a:prstGeom prst="round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 # if ball.position.x is past SCREEN_W: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 #     print("point!")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See the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()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after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print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929" y="1965960"/>
            <a:ext cx="9021836" cy="45262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'point!' shows 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Press F5. Let the ball go past the right edge. Look at the Output panel —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point!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prints.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Comparison operators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onsolas"/>
              </a:rPr>
              <a:t>&gt;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and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&lt;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&gt;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means GREATER THAN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&lt;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means LESS THAN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Use them inside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if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929" y="1965960"/>
            <a:ext cx="9021836" cy="45262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score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&gt;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5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DCDCAA"/>
                </a:solidFill>
                <a:latin typeface="Consolas"/>
              </a:rPr>
              <a:t>print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winning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The rollercoaster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YOU MUST BE THIS TALL → 48 inches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You're 50 inches tall.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"Can you ride? What's the check?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your_height &gt; 48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— true or false?"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Consolas"/>
              </a:rPr>
              <a:t>&gt;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and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&lt;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let </a:t>
            </a:r>
            <a:r>
              <a:rPr sz="5400" b="1" i="0">
                <a:solidFill>
                  <a:srgbClr val="1A1A1A"/>
                </a:solidFill>
                <a:latin typeface="Consolas"/>
              </a:rPr>
              <a:t>if</a:t>
            </a:r>
            <a:r>
              <a:rPr sz="5400" b="1" i="0">
                <a:solidFill>
                  <a:srgbClr val="1A1A1A"/>
                </a:solidFill>
                <a:latin typeface="Poppins"/>
              </a:rPr>
              <a:t> compare two numbers.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Games are constantly comparing numbers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score &gt; high score?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health &lt; 20%?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enemy distance &lt; 100 pixels?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is timer == 0?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Today in Pong: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"Is the ball past the right edge? (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ball.x &gt; SCREEN_W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) → left player scores. Past the left edge? (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ball.x &lt; 0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) → right player scores."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112</a:t>
            </a:r>
          </a:p>
        </p:txBody>
      </p:sp>
      <p:pic>
        <p:nvPicPr>
          <p:cNvPr id="8" name="Picture 7" descr="D1C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07492"/>
            <a:ext cx="6766377" cy="163737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487113" y="3209544"/>
            <a:ext cx="2706550" cy="1033272"/>
          </a:xfrm>
          <a:prstGeom prst="rect">
            <a:avLst/>
          </a:prstGeom>
          <a:noFill/>
          <a:ln w="50800">
            <a:solidFill>
              <a:srgbClr val="E53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Same area you put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print(\"point!\")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test. We're upgrading it to real scoring.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74520"/>
            <a:ext cx="5074782" cy="42062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ball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position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x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&gt;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SCREEN_W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E6E6E6"/>
                </a:solidFill>
                <a:latin typeface="Consolas"/>
              </a:rPr>
              <a:t>left_score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+=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1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E6E6E6"/>
                </a:solidFill>
                <a:latin typeface="Consolas"/>
              </a:rPr>
              <a:t>reset_ball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ball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position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x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&lt;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0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E6E6E6"/>
                </a:solidFill>
                <a:latin typeface="Consolas"/>
              </a:rPr>
              <a:t>right_score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+=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1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E6E6E6"/>
                </a:solidFill>
                <a:latin typeface="Consolas"/>
              </a:rPr>
              <a:t>reset_ball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Two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if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blocks — one for each edge. Ball exits right → left player scores. Ball exits left → right player scores.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TODO #7 just printed text. This upgrades it to real scoring with the counter you set up in TODO #1.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reset_ball()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pre-written for you — it moves the ball back to centre.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+= 1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adds one point.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#8 — Real scoring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41985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819656"/>
            <a:ext cx="4198504" cy="4261104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left_score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+=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1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reset_ball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ball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position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x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&gt;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SCREEN_W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ball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position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x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&lt;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0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4304" y="1527048"/>
            <a:ext cx="685019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84304" y="1819656"/>
            <a:ext cx="6850190" cy="4261104"/>
          </a:xfrm>
          <a:prstGeom prst="round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 # if ball passed right edge (&gt; SCREEN_W):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 #     add 1 to left_score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 #     call reset_ball()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 # if ball passed left edge (&lt; 0):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 #     add 1 to right_score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 #     call reset_ball()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The scoreboard counts!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Press F5, then Space. Score a point past either edge. The number at the top of the screen jumps up.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Personalization Break — Make it yours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The ball bounces and scoring works. Pause and make this Pong YOURS: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• Change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ball_speed_x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ball_speed_y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how fast do you want it?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• Change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paddle_speed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is it too slow? Too fast?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• Change ball/paddle colour in the Inspector (click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node →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Ball Color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Save (Ctrl+S) and run (F5) after each change.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Remember your silly variables from TODO #2?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Time to put them ON SCREEN. But there's one problem — the scoreboard only holds </a:t>
            </a:r>
            <a:r>
              <a:rPr sz="2400" b="1" i="0">
                <a:solidFill>
                  <a:srgbClr val="8A8A8A"/>
                </a:solidFill>
                <a:latin typeface="Poppins"/>
              </a:rPr>
              <a:t>text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, and your variables are </a:t>
            </a:r>
            <a:r>
              <a:rPr sz="2400" b="1" i="0">
                <a:solidFill>
                  <a:srgbClr val="8A8A8A"/>
                </a:solidFill>
                <a:latin typeface="Poppins"/>
              </a:rPr>
              <a:t>numbers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. We need to convert them.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onsolas"/>
              </a:rPr>
              <a:t>str()</a:t>
            </a:r>
            <a:r>
              <a:rPr sz="3600" b="1" i="0">
                <a:solidFill>
                  <a:srgbClr val="1A1A1A"/>
                </a:solidFill>
                <a:latin typeface="Poppins"/>
              </a:rPr>
              <a:t> — turns a number into 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929" y="1965960"/>
            <a:ext cx="9021836" cy="45262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DCDCAA"/>
                </a:solidFill>
                <a:latin typeface="Consolas"/>
              </a:rPr>
              <a:t>str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B5CEA8"/>
                </a:solidFill>
                <a:latin typeface="Consolas"/>
              </a:rPr>
              <a:t>99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6A9955"/>
                </a:solidFill>
                <a:latin typeface="Consolas"/>
              </a:rPr>
              <a:t># → "99"   (the number 99 as text)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DCDCAA"/>
                </a:solidFill>
                <a:latin typeface="Consolas"/>
              </a:rPr>
              <a:t>str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skibidi_speed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   </a:t>
            </a:r>
            <a:r>
              <a:rPr sz="1800">
                <a:solidFill>
                  <a:srgbClr val="6A9955"/>
                </a:solidFill>
                <a:latin typeface="Consolas"/>
              </a:rPr>
              <a:t># → "99"  (whatever value the variable holds)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Joining text pieces with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+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929" y="1965960"/>
            <a:ext cx="9021836" cy="45262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Speed: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+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DCDCAA"/>
                </a:solidFill>
                <a:latin typeface="Consolas"/>
              </a:rPr>
              <a:t>str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skibidi_speed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   </a:t>
            </a:r>
            <a:r>
              <a:rPr sz="1800">
                <a:solidFill>
                  <a:srgbClr val="6A9955"/>
                </a:solidFill>
                <a:latin typeface="Consolas"/>
              </a:rPr>
              <a:t># → "Speed: 99"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★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+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DCDCAA"/>
                </a:solidFill>
                <a:latin typeface="Consolas"/>
              </a:rPr>
              <a:t>str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gyatt_factor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+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 ★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6A9955"/>
                </a:solidFill>
                <a:latin typeface="Consolas"/>
              </a:rPr>
              <a:t># → "★ 42 ★"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Appending with </a:t>
            </a:r>
            <a:r>
              <a:rPr sz="3600" b="1" i="0">
                <a:solidFill>
                  <a:srgbClr val="1A1A1A"/>
                </a:solidFill>
                <a:latin typeface="Consolas"/>
              </a:rPr>
              <a:t>+=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929" y="1965960"/>
            <a:ext cx="9021836" cy="45262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score_label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text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+=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   ★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+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DCDCAA"/>
                </a:solidFill>
                <a:latin typeface="Consolas"/>
              </a:rPr>
              <a:t>str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skibidi_speed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6A9955"/>
                </a:solidFill>
                <a:latin typeface="Consolas"/>
              </a:rPr>
              <a:t># reads: "stick this onto the end of whatever's already there"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What you're about to write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74520"/>
            <a:ext cx="5074782" cy="420624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score_label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text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+=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   ★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+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DCDCAA"/>
                </a:solidFill>
                <a:latin typeface="Consolas"/>
              </a:rPr>
              <a:t>str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skibidi_speed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+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 ★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+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DCDCAA"/>
                </a:solidFill>
                <a:latin typeface="Consolas"/>
              </a:rPr>
              <a:t>str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gyatt_factor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742" y="1874520"/>
            <a:ext cx="583675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What: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One line that appends your silly variables onto the scoreboard text.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Why: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Your variables from TODO #2 have been sitting there doing nothing. Now they show up live in the game.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How: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str()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converts a number to text.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+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joins text pieces.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+=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adds to what's already on the scoreboard.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This is one approach — yours works if it runs.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TODO #9 — Scoreboard personalisation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41985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819656"/>
            <a:ext cx="4198504" cy="4261104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DCDCAA"/>
                </a:solidFill>
                <a:latin typeface="Consolas"/>
              </a:rPr>
              <a:t>str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your_variable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label: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+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DCDCAA"/>
                </a:solidFill>
                <a:latin typeface="Consolas"/>
              </a:rPr>
              <a:t>str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variable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score_label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text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+=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 more text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score_label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text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+=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CE9178"/>
                </a:solidFill>
                <a:latin typeface="Consolas"/>
              </a:rPr>
              <a:t> ★ </a:t>
            </a:r>
            <a:r>
              <a:rPr sz="1800">
                <a:solidFill>
                  <a:srgbClr val="CE9178"/>
                </a:solidFill>
                <a:latin typeface="Consolas"/>
              </a:rPr>
              <a:t>"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+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DCDCAA"/>
                </a:solidFill>
                <a:latin typeface="Consolas"/>
              </a:rPr>
              <a:t>str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x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4304" y="1527048"/>
            <a:ext cx="685019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84304" y="1819656"/>
            <a:ext cx="6850190" cy="4261104"/>
          </a:xfrm>
          <a:prstGeom prst="round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 # append first silly var to score_label.text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 # use str() to convert it, + to join with a label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 # append second silly var too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 # add stars, emojis, labels if you want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Your variables, live on the scoreboard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Run it. The scoreboard now shows your silly variables right next to the score. Have your neighbour read theirs out loud.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Make it yours — Personalization Sessions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More ways to make this Pong YOUR Pong. Pick any, in any order.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125</a:t>
            </a:r>
          </a:p>
        </p:txBody>
      </p:sp>
      <p:pic>
        <p:nvPicPr>
          <p:cNvPr id="8" name="Picture 7" descr="D1B1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87376"/>
            <a:ext cx="6766377" cy="36776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Run the game, then look at the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Inspector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on the right.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Ball Color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Paddle Color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are right there — click a swatch, pick any colour, then Save (Ctrl+S) and run (F5).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126</a:t>
            </a:r>
          </a:p>
        </p:txBody>
      </p:sp>
      <p:pic>
        <p:nvPicPr>
          <p:cNvPr id="8" name="Picture 7" descr="D1B1S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87459"/>
            <a:ext cx="6766376" cy="347744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At the top of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two lines define them: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@export var ball_color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@export var paddle_color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The magic word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@export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is what makes a variable show up in the Inspector.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127</a:t>
            </a:r>
          </a:p>
        </p:txBody>
      </p:sp>
      <p:pic>
        <p:nvPicPr>
          <p:cNvPr id="8" name="Picture 7" descr="D1B3S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93731"/>
            <a:ext cx="6766377" cy="426489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main.gd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find your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TODO #2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variables. Rename them to something even funnier. Then find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TODO #9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(the scoreboard) and update the name there too — they must match.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Final Challenge — make Pong 2-player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Open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player2.gd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(it's on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PaddleRight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node). Two TODOs inside: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FC-1 — comment out the AI (right paddle plays itself → should sit still)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FC-2 — add I/K key movement for a real second player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FC-3 (bonus) — random ball respawn angle with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randf_range()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oppins"/>
              </a:rPr>
              <a:t>•  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You already did every piece this morning. Give it a whirl.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FC-1 + FC-2 — AI off, real player 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41985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819656"/>
            <a:ext cx="4198504" cy="4261104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6A9955"/>
                </a:solidFill>
                <a:latin typeface="Consolas"/>
              </a:rPr>
              <a:t># FC-1 — comment out (Ctrl+K)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6A9955"/>
                </a:solidFill>
                <a:latin typeface="Consolas"/>
              </a:rPr>
              <a:t># put # at start of each AI line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Input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is_key_pressed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KEY_I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E6E6E6"/>
                </a:solidFill>
                <a:latin typeface="Consolas"/>
              </a:rPr>
              <a:t>position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y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-=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paddle_speed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if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Input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is_key_pressed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KEY_K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    </a:t>
            </a:r>
            <a:r>
              <a:rPr sz="1800">
                <a:solidFill>
                  <a:srgbClr val="E6E6E6"/>
                </a:solidFill>
                <a:latin typeface="Consolas"/>
              </a:rPr>
              <a:t>position</a:t>
            </a:r>
            <a:r>
              <a:rPr sz="1800">
                <a:solidFill>
                  <a:srgbClr val="E6E6E6"/>
                </a:solidFill>
                <a:latin typeface="Consolas"/>
              </a:rPr>
              <a:t>.</a:t>
            </a:r>
            <a:r>
              <a:rPr sz="1800">
                <a:solidFill>
                  <a:srgbClr val="E6E6E6"/>
                </a:solidFill>
                <a:latin typeface="Consolas"/>
              </a:rPr>
              <a:t>y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+=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paddle_speed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4304" y="1527048"/>
            <a:ext cx="685019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84304" y="1819656"/>
            <a:ext cx="6850190" cy="4261104"/>
          </a:xfrm>
          <a:prstGeom prst="round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 # FC-1: comment out ALL 5 AI lines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 # (select + Ctrl+K, or add # manually)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 # paddle should now sit still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 # FC-2: add I/K key movement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 # if I key pressed → move UP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 # if K key pressed → move DOWN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78408"/>
            <a:ext cx="11277295" cy="384048"/>
          </a:xfrm>
          <a:prstGeom prst="roundRect">
            <a:avLst/>
          </a:prstGeom>
          <a:solidFill>
            <a:srgbClr val="E53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36576" bIns="36576"/>
          <a:lstStyle/>
          <a:p>
            <a:pPr algn="l"/>
            <a:r>
              <a:rPr sz="1700" b="1">
                <a:solidFill>
                  <a:srgbClr val="FFFFFF"/>
                </a:solidFill>
                <a:latin typeface="Poppins"/>
              </a:rPr>
              <a:t>FC-3 (Bonus) — Random ball respawn angle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41985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SYNTAX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819656"/>
            <a:ext cx="4198504" cy="4261104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const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ANGLE_MIN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-</a:t>
            </a:r>
            <a:r>
              <a:rPr sz="1800">
                <a:solidFill>
                  <a:srgbClr val="B5CEA8"/>
                </a:solidFill>
                <a:latin typeface="Consolas"/>
              </a:rPr>
              <a:t>45.0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const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ANGLE_MAX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: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B5CEA8"/>
                </a:solidFill>
                <a:latin typeface="Consolas"/>
              </a:rPr>
              <a:t>45.0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569CD6"/>
                </a:solidFill>
                <a:latin typeface="Consolas"/>
              </a:rPr>
              <a:t>var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angle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randf_range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ANGLE_MIN</a:t>
            </a:r>
            <a:r>
              <a:rPr sz="1800">
                <a:solidFill>
                  <a:srgbClr val="E6E6E6"/>
                </a:solidFill>
                <a:latin typeface="Consolas"/>
              </a:rPr>
              <a:t>,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ANGLE_MAX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ball_speed_x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DCDCAA"/>
                </a:solidFill>
                <a:latin typeface="Consolas"/>
              </a:rPr>
              <a:t>cos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deg_to_rad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angle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*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6.0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 </a:t>
            </a:r>
            <a:r>
              <a:rPr sz="1800">
                <a:solidFill>
                  <a:srgbClr val="E6E6E6"/>
                </a:solidFill>
                <a:latin typeface="Consolas"/>
              </a:rPr>
              <a:t>ball_speed_y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=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DCDCAA"/>
                </a:solidFill>
                <a:latin typeface="Consolas"/>
              </a:rPr>
              <a:t>sin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deg_to_rad</a:t>
            </a:r>
            <a:r>
              <a:rPr sz="1800">
                <a:solidFill>
                  <a:srgbClr val="E6E6E6"/>
                </a:solidFill>
                <a:latin typeface="Consolas"/>
              </a:rPr>
              <a:t>(</a:t>
            </a:r>
            <a:r>
              <a:rPr sz="1800">
                <a:solidFill>
                  <a:srgbClr val="E6E6E6"/>
                </a:solidFill>
                <a:latin typeface="Consolas"/>
              </a:rPr>
              <a:t>angle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)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E6E6E6"/>
                </a:solidFill>
                <a:latin typeface="Consolas"/>
              </a:rPr>
              <a:t>*</a:t>
            </a:r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  <a:r>
              <a:rPr sz="1800">
                <a:solidFill>
                  <a:srgbClr val="B5CEA8"/>
                </a:solidFill>
                <a:latin typeface="Consolas"/>
              </a:rPr>
              <a:t>6.0</a:t>
            </a:r>
          </a:p>
          <a:p>
            <a:pPr algn="l"/>
            <a:r>
              <a:rPr sz="1800">
                <a:solidFill>
                  <a:srgbClr val="E6E6E6"/>
                </a:solidFill>
                <a:latin typeface="Consolas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4304" y="1527048"/>
            <a:ext cx="685019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53A2C"/>
                </a:solidFill>
                <a:latin typeface="Poppins"/>
              </a:rPr>
              <a:t>WRITE THIS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84304" y="1819656"/>
            <a:ext cx="6850190" cy="4261104"/>
          </a:xfrm>
          <a:prstGeom prst="roundRect">
            <a:avLst/>
          </a:prstGeom>
          <a:solidFill>
            <a:srgbClr val="1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 # in reset_ball(), after position reset: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 # define ANGLE_MIN and ANGLE_MAX constants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 # pick a random angle with randf_range()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 # convert to x speed using cos(deg_to_rad())</a:t>
            </a:r>
          </a:p>
          <a:p>
            <a:pPr algn="l"/>
            <a:r>
              <a:rPr sz="1400">
                <a:solidFill>
                  <a:srgbClr val="E6E6E6"/>
                </a:solidFill>
                <a:latin typeface="Consolas"/>
              </a:rPr>
              <a:t>  # convert to y speed using sin(deg_to_rad())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12772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8A8A8A"/>
                </a:solidFill>
                <a:latin typeface="Poppins"/>
              </a:rPr>
              <a:t>Detailed instructions are in your code file, right next to this TODO.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Day 1 assets: none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Day 1 used zero imported art. Every visible thing on screen was a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ColorRect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a coloured box drawn by code. From Day 2 on, we bring in real art with Kenney.nl asset packs.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Take it home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Turn your Pong into a real Windows program — a </a:t>
            </a:r>
            <a:r>
              <a:rPr sz="2400" b="0" i="0">
                <a:solidFill>
                  <a:srgbClr val="8A8A8A"/>
                </a:solidFill>
                <a:latin typeface="Consolas"/>
              </a:rPr>
              <a:t>.exe</a:t>
            </a:r>
            <a:r>
              <a:rPr sz="2400" b="0" i="0">
                <a:solidFill>
                  <a:srgbClr val="8A8A8A"/>
                </a:solidFill>
                <a:latin typeface="Poppins"/>
              </a:rPr>
              <a:t> you can run on any PC, no Godot needed. Show your family tonight.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133</a:t>
            </a:r>
          </a:p>
        </p:txBody>
      </p:sp>
      <p:pic>
        <p:nvPicPr>
          <p:cNvPr id="8" name="Picture 7" descr="D1B6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56617"/>
            <a:ext cx="6766376" cy="433912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 the top menu bar, 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Project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then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Export…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134</a:t>
            </a:r>
          </a:p>
        </p:txBody>
      </p:sp>
      <p:pic>
        <p:nvPicPr>
          <p:cNvPr id="8" name="Picture 7" descr="D1B6S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52613"/>
            <a:ext cx="6766377" cy="414713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The Export window opens. It's empty the first time — 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Add…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at the top to add a target.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135</a:t>
            </a:r>
          </a:p>
        </p:txBody>
      </p:sp>
      <p:pic>
        <p:nvPicPr>
          <p:cNvPr id="8" name="Picture 7" descr="D1B6S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10663"/>
            <a:ext cx="6766377" cy="403103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From the list, pick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Windows Desktop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that's the kind of program Windows PCs run.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136</a:t>
            </a:r>
          </a:p>
        </p:txBody>
      </p:sp>
      <p:pic>
        <p:nvPicPr>
          <p:cNvPr id="8" name="Picture 7" descr="D1B6S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46076"/>
            <a:ext cx="6766377" cy="23602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Godot adds a Windows Desktop preset on the left. Leave the options as they are —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Runnable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on, Architecture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x86_64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137</a:t>
            </a:r>
          </a:p>
        </p:txBody>
      </p:sp>
      <p:pic>
        <p:nvPicPr>
          <p:cNvPr id="8" name="Picture 7" descr="D1B6S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80553"/>
            <a:ext cx="6766377" cy="329125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The first time on a new PC you may see a red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'No export template found'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message. 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Manage Export Templates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fix it.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138</a:t>
            </a:r>
          </a:p>
        </p:txBody>
      </p:sp>
      <p:pic>
        <p:nvPicPr>
          <p:cNvPr id="8" name="Picture 7" descr="D1B6S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58843"/>
            <a:ext cx="6766377" cy="353467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In the Export Template Manager, 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Download and Install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Let it finish, then close. (One-time setup per computer.)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139</a:t>
            </a:r>
          </a:p>
        </p:txBody>
      </p:sp>
      <p:pic>
        <p:nvPicPr>
          <p:cNvPr id="8" name="Picture 7" descr="D1B6S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84883"/>
            <a:ext cx="6766377" cy="468259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Export Project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, type a name (e.g.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Day 1 - Pong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), pick your folder, and click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Save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. Godot builds your game.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140</a:t>
            </a:r>
          </a:p>
        </p:txBody>
      </p:sp>
      <p:pic>
        <p:nvPicPr>
          <p:cNvPr id="8" name="Picture 7" descr="D1B6S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82839"/>
            <a:ext cx="6766377" cy="40866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7897" y="1143000"/>
            <a:ext cx="4236598" cy="5166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Godot writes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Day 1 - Pong.exe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plus a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.pck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data file into your folder. Double-click the </a:t>
            </a:r>
            <a:r>
              <a:rPr sz="2000" b="0" i="0">
                <a:solidFill>
                  <a:srgbClr val="1A1A1A"/>
                </a:solidFill>
                <a:latin typeface="Consolas"/>
              </a:rPr>
              <a:t>.exe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your Pong runs with no Godot needed. Keep the two files together.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11277295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 i="0">
                <a:solidFill>
                  <a:srgbClr val="1A1A1A"/>
                </a:solidFill>
                <a:latin typeface="Poppins"/>
              </a:rPr>
              <a:t>It's really yours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112772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0">
                <a:solidFill>
                  <a:srgbClr val="8A8A8A"/>
                </a:solidFill>
                <a:latin typeface="Poppins"/>
              </a:rPr>
              <a:t>Copy that folder to a USB stick or send it to a friend. It runs on any Windows PC. You built and shipped a real game on day one.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de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784435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51560" y="45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oppins"/>
              </a:rPr>
              <a:t>iCode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548640"/>
            <a:ext cx="2286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Poppins"/>
              </a:rPr>
              <a:t>EMPOWERING FUTURE INNOVATORS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228600"/>
            <a:ext cx="1463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53A2C"/>
                </a:solidFill>
                <a:latin typeface="Poppins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A8A8A"/>
                </a:solidFill>
                <a:latin typeface="Poppins"/>
              </a:rPr>
              <a:t>142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112772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Poppins"/>
              </a:rPr>
              <a:t>Tomorrow: Pac-Man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11277295" cy="4343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  <a:latin typeface="Poppins"/>
              </a:rPr>
              <a:t>1980. The next leap. We trade coloured rectangles for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tiles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— and learn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loops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and </a:t>
            </a:r>
            <a:r>
              <a:rPr sz="2000" b="1" i="0">
                <a:solidFill>
                  <a:srgbClr val="1A1A1A"/>
                </a:solidFill>
                <a:latin typeface="Poppins"/>
              </a:rPr>
              <a:t>functions</a:t>
            </a:r>
            <a:r>
              <a:rPr sz="2000" b="0" i="0">
                <a:solidFill>
                  <a:srgbClr val="1A1A1A"/>
                </a:solidFill>
                <a:latin typeface="Poppins"/>
              </a:rPr>
              <a:t> to bring a whole maze to life.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