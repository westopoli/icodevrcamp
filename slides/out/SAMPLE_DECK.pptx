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9D4DBB"/>
              </a:gs>
              <a:gs pos="35000">
                <a:srgbClr val="E94B8B"/>
              </a:gs>
              <a:gs pos="65000">
                <a:srgbClr val="F26B2B"/>
              </a:gs>
              <a:gs pos="100000">
                <a:srgbClr val="F9C84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20095" y="228600"/>
            <a:ext cx="1097280" cy="411480"/>
          </a:xfrm>
          <a:prstGeom prst="roundRect">
            <a:avLst/>
          </a:prstGeom>
          <a:solidFill>
            <a:srgbClr val="4D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Day 1 — Pong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666666"/>
                </a:solidFill>
                <a:latin typeface="Poppins"/>
              </a:rPr>
              <a:t>1972 · The first home video game arcade hit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9D4DBB"/>
              </a:gs>
              <a:gs pos="35000">
                <a:srgbClr val="E94B8B"/>
              </a:gs>
              <a:gs pos="65000">
                <a:srgbClr val="F26B2B"/>
              </a:gs>
              <a:gs pos="100000">
                <a:srgbClr val="F9C84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20095" y="228600"/>
            <a:ext cx="1097280" cy="411480"/>
          </a:xfrm>
          <a:prstGeom prst="roundRect">
            <a:avLst/>
          </a:prstGeom>
          <a:solidFill>
            <a:srgbClr val="4D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9D4DBB"/>
              </a:gs>
              <a:gs pos="35000">
                <a:srgbClr val="E94B8B"/>
              </a:gs>
              <a:gs pos="65000">
                <a:srgbClr val="F26B2B"/>
              </a:gs>
              <a:gs pos="100000">
                <a:srgbClr val="F9C84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20095" y="228600"/>
            <a:ext cx="1097280" cy="411480"/>
          </a:xfrm>
          <a:prstGeom prst="roundRect">
            <a:avLst/>
          </a:prstGeom>
          <a:solidFill>
            <a:srgbClr val="4D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Today we'll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Two paddles you can move with W/S and ↑/↓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One ball that bounces off walls + paddles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A scoreboard that counts goals up to 7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All in ~30 lines of GDScript you'll type yourself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9D4DBB"/>
              </a:gs>
              <a:gs pos="35000">
                <a:srgbClr val="E94B8B"/>
              </a:gs>
              <a:gs pos="65000">
                <a:srgbClr val="F26B2B"/>
              </a:gs>
              <a:gs pos="100000">
                <a:srgbClr val="F9C84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20095" y="228600"/>
            <a:ext cx="1097280" cy="411480"/>
          </a:xfrm>
          <a:prstGeom prst="roundRect">
            <a:avLst/>
          </a:prstGeom>
          <a:solidFill>
            <a:srgbClr val="4D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GDScript looks like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9D4DBB"/>
                </a:solidFill>
                <a:latin typeface="Poppins"/>
              </a:rPr>
              <a:t>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5455767" cy="3886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paddle_y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360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paddle_speed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keyboard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up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</a:t>
            </a:r>
            <a:r>
              <a:rPr sz="1800">
                <a:solidFill>
                  <a:srgbClr val="E6E6E6"/>
                </a:solidFill>
                <a:latin typeface="Consolas"/>
              </a:rPr>
              <a:t>paddle_y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paddle_speed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9D4DBB"/>
                </a:solidFill>
                <a:latin typeface="Poppins"/>
              </a:rPr>
              <a:t>GDScript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606040"/>
            <a:ext cx="5455767" cy="3886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360</a:t>
            </a:r>
          </a:p>
          <a:p>
            <a:pPr algn="l"/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is_action_pressed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up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</a:t>
            </a:r>
            <a:r>
              <a:rPr sz="1800">
                <a:solidFill>
                  <a:srgbClr val="E6E6E6"/>
                </a:solidFill>
                <a:latin typeface="Consolas"/>
              </a:rPr>
              <a:t>paddle_y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paddle_speed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9D4DBB"/>
              </a:gs>
              <a:gs pos="35000">
                <a:srgbClr val="E94B8B"/>
              </a:gs>
              <a:gs pos="65000">
                <a:srgbClr val="F26B2B"/>
              </a:gs>
              <a:gs pos="100000">
                <a:srgbClr val="F9C84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20095" y="228600"/>
            <a:ext cx="1097280" cy="411480"/>
          </a:xfrm>
          <a:prstGeom prst="roundRect">
            <a:avLst/>
          </a:prstGeom>
          <a:solidFill>
            <a:srgbClr val="4D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Poppins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11277295" cy="47091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666666"/>
                </a:solidFill>
                <a:latin typeface="Poppins"/>
              </a:rPr>
              <a:t>[ MISSING: placeholder.png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Poppins"/>
              </a:rPr>
              <a:t>Pong (Atari, 1972) — the arcade cabinet that started it 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9D4DBB"/>
              </a:gs>
              <a:gs pos="35000">
                <a:srgbClr val="E94B8B"/>
              </a:gs>
              <a:gs pos="65000">
                <a:srgbClr val="F26B2B"/>
              </a:gs>
              <a:gs pos="100000">
                <a:srgbClr val="F9C84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20095" y="228600"/>
            <a:ext cx="1097280" cy="411480"/>
          </a:xfrm>
          <a:prstGeom prst="roundRect">
            <a:avLst/>
          </a:prstGeom>
          <a:solidFill>
            <a:srgbClr val="4D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Today's tasks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6596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oppins"/>
                        </a:rPr>
                        <a:t>#</a:t>
                      </a:r>
                    </a:p>
                  </a:txBody>
                  <a:tcPr>
                    <a:solidFill>
                      <a:srgbClr val="9D4D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oppins"/>
                        </a:rPr>
                        <a:t>Concept</a:t>
                      </a:r>
                    </a:p>
                  </a:txBody>
                  <a:tcPr>
                    <a:solidFill>
                      <a:srgbClr val="9D4D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oppins"/>
                        </a:rPr>
                        <a:t>Where in main.gd</a:t>
                      </a:r>
                    </a:p>
                  </a:txBody>
                  <a:tcPr>
                    <a:solidFill>
                      <a:srgbClr val="9D4D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oppins"/>
                        </a:rPr>
                        <a:t>Size</a:t>
                      </a:r>
                    </a:p>
                  </a:txBody>
                  <a:tcPr>
                    <a:solidFill>
                      <a:srgbClr val="9D4DB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#1a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Variable declaration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TODO #1a banner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small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#1b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Creative naming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TODO #1b banner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small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#6a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Boolean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TODO #6a banner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tiny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Read + update (+=)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TODO #2 banner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small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if / else (wall bounce)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TODO #4 banner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medium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if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TODO #3 banner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small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Comparison 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TODO #5 banner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oppins"/>
                        </a:rP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9D4DBB"/>
              </a:gs>
              <a:gs pos="35000">
                <a:srgbClr val="E94B8B"/>
              </a:gs>
              <a:gs pos="65000">
                <a:srgbClr val="F26B2B"/>
              </a:gs>
              <a:gs pos="100000">
                <a:srgbClr val="F9C84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20095" y="228600"/>
            <a:ext cx="1097280" cy="411480"/>
          </a:xfrm>
          <a:prstGeom prst="roundRect">
            <a:avLst/>
          </a:prstGeom>
          <a:solidFill>
            <a:srgbClr val="4D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Variable declaration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39776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360</a:t>
            </a:r>
          </a:p>
          <a:p>
            <a:pPr algn="l"/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400</a:t>
            </a:r>
          </a:p>
          <a:p>
            <a:pPr algn="l"/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640</a:t>
            </a:r>
          </a:p>
          <a:p>
            <a:pPr algn="l"/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360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Poppins"/>
              </a:rPr>
              <a:t>A var holds one value. We'll declare four of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9D4DBB"/>
              </a:gs>
              <a:gs pos="35000">
                <a:srgbClr val="E94B8B"/>
              </a:gs>
              <a:gs pos="65000">
                <a:srgbClr val="F26B2B"/>
              </a:gs>
              <a:gs pos="100000">
                <a:srgbClr val="F9C84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20095" y="228600"/>
            <a:ext cx="1097280" cy="411480"/>
          </a:xfrm>
          <a:prstGeom prst="roundRect">
            <a:avLst/>
          </a:prstGeom>
          <a:solidFill>
            <a:srgbClr val="4D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Poppins"/>
              </a:rP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143000"/>
            <a:ext cx="822960" cy="822960"/>
          </a:xfrm>
          <a:prstGeom prst="ellipse">
            <a:avLst/>
          </a:prstGeom>
          <a:solidFill>
            <a:srgbClr val="F2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A1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666666"/>
                </a:solidFill>
                <a:latin typeface="Poppins"/>
              </a:rPr>
              <a:t>[ MISSING: placeholder.png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737" y="1143000"/>
            <a:ext cx="323075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Open Godot. Click the orange Import button in the Project Manager.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9D4DBB"/>
              </a:gs>
              <a:gs pos="35000">
                <a:srgbClr val="E94B8B"/>
              </a:gs>
              <a:gs pos="65000">
                <a:srgbClr val="F26B2B"/>
              </a:gs>
              <a:gs pos="100000">
                <a:srgbClr val="F9C84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20095" y="228600"/>
            <a:ext cx="1097280" cy="411480"/>
          </a:xfrm>
          <a:prstGeom prst="roundRect">
            <a:avLst/>
          </a:prstGeom>
          <a:solidFill>
            <a:srgbClr val="4D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Poppin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9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>
                <a:solidFill>
                  <a:srgbClr val="1A1A1A"/>
                </a:solidFill>
                <a:latin typeface="Poppins"/>
              </a:rPr>
              <a:t>Declare four variables: paddle_y (start at 360), paddle_speed (400), ball_x (640), and ball_y (360). Without these, nothing has a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D4DBB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360</a:t>
            </a:r>
          </a:p>
          <a:p>
            <a:pPr algn="l"/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400</a:t>
            </a:r>
          </a:p>
          <a:p>
            <a:pPr algn="l"/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640</a:t>
            </a:r>
          </a:p>
          <a:p>
            <a:pPr algn="l"/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360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D4DBB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666666"/>
                </a:solidFill>
                <a:latin typeface="Poppins"/>
              </a:rPr>
              <a:t>[ MISSING: placeholder.png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