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"/>
            <a:ext cx="6858000" cy="5029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oppins"/>
              </a:rPr>
              <a:t>Final Challenge — Board Examples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33272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033272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033272"/>
            <a:ext cx="3527450" cy="36576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FC-1  </a:t>
            </a:r>
            <a:r>
              <a:rPr sz="1200" b="0">
                <a:solidFill>
                  <a:srgbClr val="FFFFFF"/>
                </a:solidFill>
                <a:latin typeface="Poppins"/>
              </a:rPr>
              <a:t>for i in range(N)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1499616"/>
            <a:ext cx="3527450" cy="217170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for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i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569CD6"/>
                </a:solidFill>
                <a:latin typeface="Consolas"/>
              </a:rPr>
              <a:t>in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569CD6"/>
                </a:solidFill>
                <a:latin typeface="Consolas"/>
              </a:rPr>
              <a:t>range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B5CEA8"/>
                </a:solidFill>
                <a:latin typeface="Consolas"/>
              </a:rPr>
              <a:t>3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DCDCAA"/>
                </a:solidFill>
                <a:latin typeface="Consolas"/>
              </a:rPr>
              <a:t>print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E6E6E6"/>
                </a:solidFill>
                <a:latin typeface="Consolas"/>
              </a:rPr>
              <a:t>i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1538" y="1033272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1538" y="1033272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033272"/>
            <a:ext cx="3527450" cy="36576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FC-2  </a:t>
            </a:r>
            <a:r>
              <a:rPr sz="1200" b="0">
                <a:solidFill>
                  <a:srgbClr val="FFFFFF"/>
                </a:solidFill>
                <a:latin typeface="Poppins"/>
              </a:rPr>
              <a:t>for item in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1499616"/>
            <a:ext cx="3527450" cy="217170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for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colour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569CD6"/>
                </a:solidFill>
                <a:latin typeface="Consolas"/>
              </a:rPr>
              <a:t>in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[</a:t>
            </a:r>
            <a:r>
              <a:rPr sz="1400">
                <a:solidFill>
                  <a:srgbClr val="CE9178"/>
                </a:solidFill>
                <a:latin typeface="Consolas"/>
              </a:rPr>
              <a:t>"red"</a:t>
            </a:r>
            <a:r>
              <a:rPr sz="1400">
                <a:solidFill>
                  <a:srgbClr val="E6E6E6"/>
                </a:solidFill>
                <a:latin typeface="Consolas"/>
              </a:rPr>
              <a:t>,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CE9178"/>
                </a:solidFill>
                <a:latin typeface="Consolas"/>
              </a:rPr>
              <a:t>"green"</a:t>
            </a:r>
            <a:r>
              <a:rPr sz="1400">
                <a:solidFill>
                  <a:srgbClr val="E6E6E6"/>
                </a:solidFill>
                <a:latin typeface="Consolas"/>
              </a:rPr>
              <a:t>,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CE9178"/>
                </a:solidFill>
                <a:latin typeface="Consolas"/>
              </a:rPr>
              <a:t>"blue"</a:t>
            </a:r>
            <a:r>
              <a:rPr sz="1400">
                <a:solidFill>
                  <a:srgbClr val="E6E6E6"/>
                </a:solidFill>
                <a:latin typeface="Consolas"/>
              </a:rPr>
              <a:t>]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DCDCAA"/>
                </a:solidFill>
                <a:latin typeface="Consolas"/>
              </a:rPr>
              <a:t>print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E6E6E6"/>
                </a:solidFill>
                <a:latin typeface="Consolas"/>
              </a:rPr>
              <a:t>colour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3036" y="1033272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3036" y="1033272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3620" y="1033272"/>
            <a:ext cx="3527450" cy="36576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FC-3  </a:t>
            </a:r>
            <a:r>
              <a:rPr sz="1200" b="0">
                <a:solidFill>
                  <a:srgbClr val="FFFFFF"/>
                </a:solidFill>
                <a:latin typeface="Poppins"/>
              </a:rPr>
              <a:t>while + count + return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3620" y="1499616"/>
            <a:ext cx="3527450" cy="217170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var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n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:=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B5CEA8"/>
                </a:solidFill>
                <a:latin typeface="Consolas"/>
              </a:rPr>
              <a:t>0</a:t>
            </a:r>
          </a:p>
          <a:p>
            <a:r>
              <a:rPr sz="1400">
                <a:solidFill>
                  <a:srgbClr val="C586C0"/>
                </a:solidFill>
                <a:latin typeface="Consolas"/>
              </a:rPr>
              <a:t>while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n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&lt;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B5CEA8"/>
                </a:solidFill>
                <a:latin typeface="Consolas"/>
              </a:rPr>
              <a:t>5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DCDCAA"/>
                </a:solidFill>
                <a:latin typeface="Consolas"/>
              </a:rPr>
              <a:t>print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E6E6E6"/>
                </a:solidFill>
                <a:latin typeface="Consolas"/>
              </a:rPr>
              <a:t>n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E6E6E6"/>
                </a:solidFill>
                <a:latin typeface="Consolas"/>
              </a:rPr>
              <a:t>n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+=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B5CEA8"/>
                </a:solidFill>
                <a:latin typeface="Consolas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954780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954780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3954780"/>
            <a:ext cx="3527450" cy="36576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FC-4  </a:t>
            </a:r>
            <a:r>
              <a:rPr sz="1200" b="0">
                <a:solidFill>
                  <a:srgbClr val="FFFFFF"/>
                </a:solidFill>
                <a:latin typeface="Poppins"/>
              </a:rPr>
              <a:t>func, no params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" y="4421124"/>
            <a:ext cx="3527450" cy="217170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func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say_hi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DCDCAA"/>
                </a:solidFill>
                <a:latin typeface="Consolas"/>
              </a:rPr>
              <a:t>print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CE9178"/>
                </a:solidFill>
                <a:latin typeface="Consolas"/>
              </a:rPr>
              <a:t>"hi!"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1538" y="3954780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1538" y="3954780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2122" y="3954780"/>
            <a:ext cx="3527450" cy="36576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FC-5  </a:t>
            </a:r>
            <a:r>
              <a:rPr sz="1200" b="0">
                <a:solidFill>
                  <a:srgbClr val="FFFFFF"/>
                </a:solidFill>
                <a:latin typeface="Poppins"/>
              </a:rPr>
              <a:t>func with a parameter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2122" y="4421124"/>
            <a:ext cx="3527450" cy="217170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func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add_points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E6E6E6"/>
                </a:solidFill>
                <a:latin typeface="Consolas"/>
              </a:rPr>
              <a:t>amount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E6E6E6"/>
                </a:solidFill>
                <a:latin typeface="Consolas"/>
              </a:rPr>
              <a:t>score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+=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amount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3036" y="3954780"/>
            <a:ext cx="3728618" cy="2738628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43036" y="3954780"/>
            <a:ext cx="3728618" cy="365760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3620" y="3954780"/>
            <a:ext cx="3527450" cy="36576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FC-6  </a:t>
            </a:r>
            <a:r>
              <a:rPr sz="1200" b="0">
                <a:solidFill>
                  <a:srgbClr val="FFFFFF"/>
                </a:solidFill>
                <a:latin typeface="Poppins"/>
              </a:rPr>
              <a:t>func returning bool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3620" y="4421124"/>
            <a:ext cx="3527450" cy="2171700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400">
                <a:solidFill>
                  <a:srgbClr val="569CD6"/>
                </a:solidFill>
                <a:latin typeface="Consolas"/>
              </a:rPr>
              <a:t>func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DCDCAA"/>
                </a:solidFill>
                <a:latin typeface="Consolas"/>
              </a:rPr>
              <a:t>is_even</a:t>
            </a:r>
            <a:r>
              <a:rPr sz="1400">
                <a:solidFill>
                  <a:srgbClr val="E6E6E6"/>
                </a:solidFill>
                <a:latin typeface="Consolas"/>
              </a:rPr>
              <a:t>(</a:t>
            </a:r>
            <a:r>
              <a:rPr sz="1400">
                <a:solidFill>
                  <a:srgbClr val="E6E6E6"/>
                </a:solidFill>
                <a:latin typeface="Consolas"/>
              </a:rPr>
              <a:t>n</a:t>
            </a:r>
            <a:r>
              <a:rPr sz="1400">
                <a:solidFill>
                  <a:srgbClr val="E6E6E6"/>
                </a:solidFill>
                <a:latin typeface="Consolas"/>
              </a:rPr>
              <a:t>)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-&gt;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4EC9B0"/>
                </a:solidFill>
                <a:latin typeface="Consolas"/>
              </a:rPr>
              <a:t>bool</a:t>
            </a:r>
            <a:r>
              <a:rPr sz="140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400">
                <a:solidFill>
                  <a:srgbClr val="E6E6E6"/>
                </a:solidFill>
                <a:latin typeface="Consolas"/>
              </a:rPr>
              <a:t>    </a:t>
            </a:r>
            <a:r>
              <a:rPr sz="1400">
                <a:solidFill>
                  <a:srgbClr val="569CD6"/>
                </a:solidFill>
                <a:latin typeface="Consolas"/>
              </a:rPr>
              <a:t>return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n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%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B5CEA8"/>
                </a:solidFill>
                <a:latin typeface="Consolas"/>
              </a:rPr>
              <a:t>2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E6E6E6"/>
                </a:solidFill>
                <a:latin typeface="Consolas"/>
              </a:rPr>
              <a:t>==</a:t>
            </a: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  <a:r>
              <a:rPr sz="1400">
                <a:solidFill>
                  <a:srgbClr val="B5CEA8"/>
                </a:solidFill>
                <a:latin typeface="Consolas"/>
              </a:rPr>
              <a:t>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