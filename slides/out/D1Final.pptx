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&lt;exact title text&gt;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&lt;bullets, prose, or code block — verbatim&gt;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Pong · 1972 · Atari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Pong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1972, Atari. One of the first video games you could play in public.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Dead simple — two paddles, one ball. Anyone got it in seconds. That simplicity is why it spread.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Launched the whole arcade industry; 3 years later 'Home Pong' put a video game on the family TV for the first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Proved games could be a business. Pac-Man, Mario, your living-room console — all trace back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(today, highlighted)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Tower /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quick history of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dream is old — VR headsets go back to the 1960s, but they were huge, blurry, and wildly expensive.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2012: the Oculus Rift made VR cheap and good enough to be real. Now standalone headsets (Quest) need no PC at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VR = the screen wraps all the way around you. You don't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look 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game — you're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inside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values that can change.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if / else, and comparing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is Python with two small differences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x =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def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x =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project. Open the script. Run it. Read the errors."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pic>
        <p:nvPicPr>
          <p:cNvPr id="8" name="Picture 7" descr="Wal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1109"/>
            <a:ext cx="6766377" cy="48701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Launch Godot 4. The Project Manager window opens. Find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pic>
        <p:nvPicPr>
          <p:cNvPr id="8" name="Picture 7" descr="Walk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5703"/>
            <a:ext cx="6766377" cy="4880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 of the Project Manager.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Walk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8248"/>
            <a:ext cx="6766377" cy="4755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file browser, open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Day1_Pong_Game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folder and 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project.godot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select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Walk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9461"/>
            <a:ext cx="6766377" cy="4873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asks to confirm.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pic>
        <p:nvPicPr>
          <p:cNvPr id="8" name="Picture 7" descr="Walk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imports the project (first time takes a few seconds) and the editor opens. You're 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pic>
        <p:nvPicPr>
          <p:cNvPr id="8" name="Picture 7" descr="Walk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40" y="1143000"/>
            <a:ext cx="641489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(bottom-left). Find the file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Hover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double-click to open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"Eight holes to fill. We'll fill them in order."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(just the word, very large, centred on slide)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 does </a:t>
            </a:r>
            <a:r>
              <a:rPr sz="5400" b="1" i="1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does </a:t>
            </a:r>
            <a:r>
              <a:rPr sz="2400" b="0" i="1">
                <a:solidFill>
                  <a:srgbClr val="8A8A8A"/>
                </a:solidFill>
                <a:latin typeface="Poppins"/>
              </a:rPr>
              <a:t>vary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mean?"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vary = something that can change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 in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→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V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ALUE that can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C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HANGE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cookie jar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week later…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 eat 3 cookies.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CookiesInJar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now?"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is a VALUE that can CHANGE across time.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does a video game use variables?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Pong's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left/right?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up/down?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does the paddle move?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frame, these numbers decide how fast everything goes.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pic>
        <p:nvPicPr>
          <p:cNvPr id="8" name="Picture 7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755"/>
            <a:ext cx="6766377" cy="4996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the score, between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you'll add three variables of your own.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ball_speed_x := </a:t>
            </a:r>
            <a:r>
              <a:rPr sz="1800">
                <a:solidFill>
                  <a:srgbClr val="F67400"/>
                </a:solidFill>
                <a:latin typeface="Consolas"/>
              </a:rPr>
              <a:t>6.0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ball_speed_y := </a:t>
            </a:r>
            <a:r>
              <a:rPr sz="1800">
                <a:solidFill>
                  <a:srgbClr val="F67400"/>
                </a:solidFill>
                <a:latin typeface="Consolas"/>
              </a:rPr>
              <a:t>3.0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paddle_speed := </a:t>
            </a:r>
            <a:r>
              <a:rPr sz="1800">
                <a:solidFill>
                  <a:srgbClr val="F67400"/>
                </a:solidFill>
                <a:latin typeface="Consolas"/>
              </a:rPr>
              <a:t>6.0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Three variables — left-right ball speed, up-down ball speed, and paddle speed.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these, the ball has no speed. It can't move. Every moving thing in Pong needs a number.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makes a new variable.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:=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sets the starting value. Pick any numbers you like.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Create your game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score :=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lives := </a:t>
            </a:r>
            <a:r>
              <a:rPr sz="1400">
                <a:solidFill>
                  <a:srgbClr val="F67400"/>
                </a:solidFill>
                <a:latin typeface="Consolas"/>
              </a:rPr>
              <a:t>3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speed := </a:t>
            </a:r>
            <a:r>
              <a:rPr sz="1400">
                <a:solidFill>
                  <a:srgbClr val="F67400"/>
                </a:solidFill>
                <a:latin typeface="Consolas"/>
              </a:rPr>
              <a:t>6.0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ball left-right speed (5=slow, 15=super fast)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ball up-down speed (5=slow, 15=super fast)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paddle speed (5=slow, 15=super fast)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on your keyboard. (Or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Play ▶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in the top-right toolbar.)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pic>
        <p:nvPicPr>
          <p:cNvPr id="8" name="Picture 7" descr="Walk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new window pops up, 1152 × 648 pixels. Dark background, two cyan paddles. The ball will be frozen at the centre until chunk #6b — that's normal.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pic>
        <p:nvPicPr>
          <p:cNvPr id="8" name="Picture 7" descr="Walk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8953"/>
            <a:ext cx="6766377" cy="2754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Close the game window, OR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editor to stop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pic>
        <p:nvPicPr>
          <p:cNvPr id="8" name="Picture 7" descr="Walk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5960"/>
            <a:ext cx="6766377" cy="4640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your game window doesn't open after F5,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at the bottom of the editor. That's where errors print.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Step D.2 — Three errors you WILL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Parse Error: Expected ':' after \"if\" condition.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you forgot the colon at the end of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Identifier \"ball_speedy\" not declared in the current scope.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typo in a variable name (probably missing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Expected indented block.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the line 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not indented (use Tab or 4 spaces).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Naming your variables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Code doesn't care what you call a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"The name is for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YOU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Programmers go SILLY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foobar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bazinga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decades-old programmer jokes — built right into real codebases.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Even Claude (the AI in your editor) types nonsense words like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fligerbigitibetting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it's just thinking out loud.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Making code feel personal makes it more fun to read AND more fun to write.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Both work — pick your favourite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score :=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What's the funniest variable name you can think of?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code, your names.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Real game studios do this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"Codebases are full of inside jokes, pet names, and references hidden in variable names. It's part of the culture."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pic>
        <p:nvPicPr>
          <p:cNvPr id="8" name="Picture 7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64918"/>
            <a:ext cx="6766376" cy="17225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your chunk #1a variables, you've got another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waiting for two more — names of your choosing.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skibidi_speed := </a:t>
            </a:r>
            <a:r>
              <a:rPr sz="1800">
                <a:solidFill>
                  <a:srgbClr val="F67400"/>
                </a:solidFill>
                <a:latin typeface="Consolas"/>
              </a:rPr>
              <a:t>99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gyatt_factor := </a:t>
            </a:r>
            <a:r>
              <a:rPr sz="1800">
                <a:solidFill>
                  <a:srgbClr val="F67400"/>
                </a:solidFill>
                <a:latin typeface="Consolas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variables — names are 100% your choice. Numbers too.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You'll display them on the scoreboard in TODO #9. Pick something that'll make your neighbour laugh.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 before. Name rules: lowercase, underscores, no spaces.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Your own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skibidi_speed := </a:t>
            </a:r>
            <a:r>
              <a:rPr sz="1400">
                <a:solidFill>
                  <a:srgbClr val="F67400"/>
                </a:solidFill>
                <a:latin typeface="Consolas"/>
              </a:rPr>
              <a:t>99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ohio_rizz := </a:t>
            </a:r>
            <a:r>
              <a:rPr sz="1400">
                <a:solidFill>
                  <a:srgbClr val="F67400"/>
                </a:solidFill>
                <a:latin typeface="Consolas"/>
              </a:rPr>
              <a:t>7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gyatt_factor := </a:t>
            </a:r>
            <a:r>
              <a:rPr sz="1400">
                <a:solidFill>
                  <a:srgbClr val="F67400"/>
                </a:solidFill>
                <a:latin typeface="Consolas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silly variable name #1 (your choice)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silly variable name #2 (your choice)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with only TWO possible values.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Those two values: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true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or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"No numbers. No text. Just yes or no."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 = a YES/NO switch.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light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true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Flip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false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Is the light in this room on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"True or false?"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boolean is a true/false switch. Like a light switch.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full of yes/no switches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player alive?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game paused?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is_paused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door locked?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door_locked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booleans.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 is the ball moving yet?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"That's a boolean. We'll call it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ball_moving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pic>
        <p:nvPicPr>
          <p:cNvPr id="8" name="Picture 7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234"/>
            <a:ext cx="6766377" cy="37578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Just below your variables from #1b,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for one boolean.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ball_moving := </a:t>
            </a:r>
            <a:r>
              <a:rPr sz="1800">
                <a:solidFill>
                  <a:srgbClr val="27AEAE"/>
                </a:solidFill>
                <a:latin typeface="Consolas"/>
              </a:rPr>
              <a:t>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variable — a true/false switch called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needs to freeze until Space is pressed. This flag is the on/off switch.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value is just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instead of a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Make a boolean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is_alive := </a:t>
            </a:r>
            <a:r>
              <a:rPr sz="1400">
                <a:solidFill>
                  <a:srgbClr val="27AEAE"/>
                </a:solidFill>
                <a:latin typeface="Consolas"/>
              </a:rPr>
              <a:t>true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door_locked := </a:t>
            </a:r>
            <a:r>
              <a:rPr sz="1400">
                <a:solidFill>
                  <a:srgbClr val="27AEAE"/>
                </a:solidFill>
                <a:latin typeface="Consolas"/>
              </a:rPr>
              <a:t>false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ball_moving := </a:t>
            </a:r>
            <a:r>
              <a:rPr sz="1400">
                <a:solidFill>
                  <a:srgbClr val="27AEAE"/>
                </a:solidFill>
                <a:latin typeface="Consolas"/>
              </a:rPr>
              <a:t>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 true/false variable called ball_moving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start it as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statement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runs a block of code ONLY WHEN something is true.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[something </a:t>
            </a:r>
            <a:r>
              <a:rPr sz="1800">
                <a:solidFill>
                  <a:srgbClr val="CFCFC2"/>
                </a:solidFill>
                <a:latin typeface="Consolas"/>
              </a:rPr>
              <a:t>is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27AEAE"/>
                </a:solidFill>
                <a:latin typeface="Consolas"/>
              </a:rPr>
              <a:t>true</a:t>
            </a:r>
            <a:r>
              <a:rPr sz="1800">
                <a:solidFill>
                  <a:srgbClr val="CFCFC2"/>
                </a:solidFill>
                <a:latin typeface="Consolas"/>
              </a:rPr>
              <a:t>]: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do this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CFCFC2"/>
                </a:solidFill>
                <a:latin typeface="Consolas"/>
              </a:rPr>
              <a:t>and</a:t>
            </a:r>
            <a:r>
              <a:rPr sz="1800">
                <a:solidFill>
                  <a:srgbClr val="CFCFC2"/>
                </a:solidFill>
                <a:latin typeface="Consolas"/>
              </a:rPr>
              <a:t> this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is indentation?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Notice how some lines are shifted to the right?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shift is called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indentation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In GDScript (and Python), it's not decorative — it tells the computer which lines belong to which rule.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Think of it as an invisible 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         ← OPENS the box (blue/highlighted)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┌─────────────────────────────────────────┐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  <a:r>
              <a:rPr sz="1800">
                <a:solidFill>
                  <a:srgbClr val="CFCFC2"/>
                </a:solidFill>
                <a:latin typeface="Consolas"/>
              </a:rPr>
              <a:t> (inside)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│   </a:t>
            </a:r>
            <a:r>
              <a:rPr sz="18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800">
                <a:solidFill>
                  <a:srgbClr val="CFCFC2"/>
                </a:solidFill>
                <a:latin typeface="Consolas"/>
              </a:rPr>
              <a:t>()  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  <a:r>
              <a:rPr sz="1800">
                <a:solidFill>
                  <a:srgbClr val="CFCFC2"/>
                </a:solidFill>
                <a:latin typeface="Consolas"/>
              </a:rPr>
              <a:t> (inside) │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└─────────────────────────────────────────┘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"done"</a:t>
            </a:r>
            <a:r>
              <a:rPr sz="1800">
                <a:solidFill>
                  <a:srgbClr val="CFCFC2"/>
                </a:solidFill>
                <a:latin typeface="Consolas"/>
              </a:rPr>
              <a:t>)           ←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  <a:r>
              <a:rPr sz="1800">
                <a:solidFill>
                  <a:srgbClr val="CFCFC2"/>
                </a:solidFill>
                <a:latin typeface="Consolas"/>
              </a:rPr>
              <a:t> (ALWAYS runs, outside the box)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d1_box_open.png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Condition is TRUE → box opens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d1_box_closed.png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Condition is FALSE → box stays closed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happens without indentation?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    ← the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 ← NOT indented → NOT inside the box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"done"</a:t>
            </a:r>
            <a:r>
              <a:rPr sz="1800">
                <a:solidFill>
                  <a:srgbClr val="CFCFC2"/>
                </a:solidFill>
                <a:latin typeface="Consolas"/>
              </a:rPr>
              <a:t>)    ← NOT indented → also </a:t>
            </a:r>
            <a:r>
              <a:rPr sz="1800">
                <a:solidFill>
                  <a:srgbClr val="CFCFC2"/>
                </a:solidFill>
                <a:latin typeface="Consolas"/>
              </a:rPr>
              <a:t>not</a:t>
            </a:r>
            <a:r>
              <a:rPr sz="1800">
                <a:solidFill>
                  <a:srgbClr val="CFCFC2"/>
                </a:solidFill>
                <a:latin typeface="Consolas"/>
              </a:rPr>
              <a:t> inside the box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box rule applies to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... in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Anything followed by a colon `:` opens a box. What's indented under it is inside.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Which lines run when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TRUE?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health &gt;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:       ← condition = TRUE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Which line ALWAYS runs?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is_paused: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Nested boxes — what runs?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has_key: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door_locked: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line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line </a:t>
            </a:r>
            <a:r>
              <a:rPr sz="1800">
                <a:solidFill>
                  <a:srgbClr val="F67400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you're hungry → 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Real life is full of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rules.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 finish your veggies → you get dessert.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if you DIDN'T finish?"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a rule that only fires when its condition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"Otherwise: nothing."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game runs on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checks. Every. Single.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button pressed →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enemy near → attack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health = 0 → game over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player has NOT pressed Space yet → freeze the ball.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return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skip the rest of the frame."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pic>
        <p:nvPicPr>
          <p:cNvPr id="8" name="Picture 7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9279"/>
            <a:ext cx="6766377" cy="20138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function, near the top.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Input.</a:t>
            </a:r>
            <a:r>
              <a:rPr sz="18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800">
                <a:solidFill>
                  <a:srgbClr val="CFCFC2"/>
                </a:solidFill>
                <a:latin typeface="Consolas"/>
              </a:rPr>
              <a:t>(KEY_X):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my_bool = </a:t>
            </a:r>
            <a:r>
              <a:rPr sz="1800">
                <a:solidFill>
                  <a:srgbClr val="27AEAE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my_bool == </a:t>
            </a:r>
            <a:r>
              <a:rPr sz="1800">
                <a:solidFill>
                  <a:srgbClr val="27AEAE"/>
                </a:solidFill>
                <a:latin typeface="Consolas"/>
              </a:rPr>
              <a:t>false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— one listens for Space, one freezes the ball.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should wait. Without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it starts moving the moment the game opens.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Input.is_key_pressed(KEY_SPACE)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asks 'is Space held right now?'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stops the rest of the function.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Space key + ball freeze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(KEY_X):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my_bool = </a:t>
            </a:r>
            <a:r>
              <a:rPr sz="1400">
                <a:solidFill>
                  <a:srgbClr val="27AEAE"/>
                </a:solidFill>
                <a:latin typeface="Consolas"/>
              </a:rPr>
              <a:t>true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my_bool == </a:t>
            </a:r>
            <a:r>
              <a:rPr sz="1400">
                <a:solidFill>
                  <a:srgbClr val="27AEAE"/>
                </a:solidFill>
                <a:latin typeface="Consolas"/>
              </a:rPr>
              <a:t>false</a:t>
            </a:r>
            <a:r>
              <a:rPr sz="14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</a:t>
            </a:r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Space is pressed: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set ball_moving to true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ball_moving is false: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 works! The ball waits for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The ball sits frozen at the centre until you tap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Space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Then it moves.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Input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an 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object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Input.</a:t>
            </a:r>
            <a:r>
              <a:rPr sz="18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800">
                <a:solidFill>
                  <a:srgbClr val="CFCFC2"/>
                </a:solidFill>
                <a:latin typeface="Consolas"/>
              </a:rPr>
              <a:t>(KEY_SPACE)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↑       ↑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object   verb (ask Input to check a key)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There is no ONE right answer in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For any problem in programming, there are thousands — sometimes MILLIONS — of valid solutions.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examples on the left side of TODO slides are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way. Your way is just as valid if it works.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 matters: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does it run? does it do what you wanted?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If yes — it's correct.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Updating 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We already know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var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makes a variable. Now we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UPDATE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one — read the current value, do some math, put the new value back.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ball.position.x += ball_speed_x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ball.position.y += ball_speed_y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lines — move the ball left-right, and up-down, every frame.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just sits there. This is the only reason anything moves.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reads the current value, adds the speed, and puts the result back. Long form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x = x + 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also 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 — Move the ball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x = x + amount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x += amount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ball.position.x += ball_speed_x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ball_speed_x to ball.position.x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ball_speed_y to ball.position.y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moves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drifts off the right side of the screen. That's expected — TODO #6 catches it.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/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the OTHERWISE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"When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NOT true → run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block instead."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 / 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= two paths. ONE always runs.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Fork in the 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Sign reads: IF it's daytime → go left. ELSE → go right.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it's raining → umbrella.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"ELSE → ?"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One of the two paths ALWAYS runs.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Two-outcome checks are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have the key → open the door, else → it stays 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HP &gt; 0 → take damage, else → game over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input pressed → move, else → idle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ball hit the top OR bottom wall → flip its vertical speed. ELSE → let it keep going."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are the borders?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upper_border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               </a:t>
            </a:r>
            <a:r>
              <a:rPr sz="1800">
                <a:solidFill>
                  <a:srgbClr val="7A7C7D"/>
                </a:solidFill>
                <a:latin typeface="Consolas"/>
              </a:rPr>
              <a:t># top of screen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lower_border = SCREEN_H - BALL_SIZE  </a:t>
            </a:r>
            <a:r>
              <a:rPr sz="1800">
                <a:solidFill>
                  <a:srgbClr val="7A7C7D"/>
                </a:solidFill>
                <a:latin typeface="Consolas"/>
              </a:rPr>
              <a:t># = 648 - 20 = 628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subtract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BALL_SIZE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y = </a:t>
            </a:r>
            <a:r>
              <a:rPr sz="1800">
                <a:solidFill>
                  <a:srgbClr val="F67400"/>
                </a:solidFill>
                <a:latin typeface="Consolas"/>
              </a:rPr>
              <a:t>628</a:t>
            </a:r>
            <a:r>
              <a:rPr sz="1800">
                <a:solidFill>
                  <a:srgbClr val="CFCFC2"/>
                </a:solidFill>
                <a:latin typeface="Consolas"/>
              </a:rPr>
              <a:t>  →  ball top-left at </a:t>
            </a:r>
            <a:r>
              <a:rPr sz="1800">
                <a:solidFill>
                  <a:srgbClr val="F67400"/>
                </a:solidFill>
                <a:latin typeface="Consolas"/>
              </a:rPr>
              <a:t>628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        ball bottom-right at </a:t>
            </a:r>
            <a:r>
              <a:rPr sz="1800">
                <a:solidFill>
                  <a:srgbClr val="F67400"/>
                </a:solidFill>
                <a:latin typeface="Consolas"/>
              </a:rPr>
              <a:t>648</a:t>
            </a:r>
            <a:r>
              <a:rPr sz="1800">
                <a:solidFill>
                  <a:srgbClr val="CFCFC2"/>
                </a:solidFill>
                <a:latin typeface="Consolas"/>
              </a:rPr>
              <a:t>  ← just touching the wall ✓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y = </a:t>
            </a:r>
            <a:r>
              <a:rPr sz="1800">
                <a:solidFill>
                  <a:srgbClr val="F67400"/>
                </a:solidFill>
                <a:latin typeface="Consolas"/>
              </a:rPr>
              <a:t>648</a:t>
            </a:r>
            <a:r>
              <a:rPr sz="1800">
                <a:solidFill>
                  <a:srgbClr val="CFCFC2"/>
                </a:solidFill>
                <a:latin typeface="Consolas"/>
              </a:rPr>
              <a:t>  →  ball has already gone OFF the screen ✗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Math figures it out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Instead of guessing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628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we wrote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SCREEN_H - BALL_SIZE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change the screen size, or the ball size, the border updates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automatically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don't touch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is why game developers use math: one formula that works for any size, any speed, any screen.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You'll need this kind of thinking later this week.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Keep it in mind.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upper_border 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lower_border = SCREEN_H - BALL_SIZE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ball.position.y &lt; upper_border </a:t>
            </a:r>
            <a:r>
              <a:rPr sz="1800">
                <a:solidFill>
                  <a:srgbClr val="CFCFC2"/>
                </a:solidFill>
                <a:latin typeface="Consolas"/>
              </a:rPr>
              <a:t>or</a:t>
            </a:r>
            <a:r>
              <a:rPr sz="1800">
                <a:solidFill>
                  <a:srgbClr val="CFCFC2"/>
                </a:solidFill>
                <a:latin typeface="Consolas"/>
              </a:rPr>
              <a:t> ball.position.y &gt; lower_border: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ball_speed_y = -ball_speed_y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else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Named border variables +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if/else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bounces the ball off the top and bottom.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drifts off screen.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both walls in one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Negating speed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-ball_speed_y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flips its direction.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 pass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'otherwise do nothing'.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 — Wall bounce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upper_border 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lower_border = SCREEN_H - BALL_SIZE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A </a:t>
            </a:r>
            <a:r>
              <a:rPr sz="1400">
                <a:solidFill>
                  <a:srgbClr val="CFCFC2"/>
                </a:solidFill>
                <a:latin typeface="Consolas"/>
              </a:rPr>
              <a:t>or</a:t>
            </a:r>
            <a:r>
              <a:rPr sz="1400">
                <a:solidFill>
                  <a:srgbClr val="CFCFC2"/>
                </a:solidFill>
                <a:latin typeface="Consolas"/>
              </a:rPr>
              <a:t> B: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ball_speed_y = -ball_speed_y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else</a:t>
            </a:r>
            <a:r>
              <a:rPr sz="14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</a:t>
            </a:r>
            <a:r>
              <a:rPr sz="14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upper_border = </a:t>
            </a:r>
            <a:r>
              <a:rPr sz="14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lower_border = SCREEN_H - BALL_SIZE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ball.position.y &lt; upper_border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or ball.position.y &gt; lower_border: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flip ball_speed_y (negate it)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else: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bounces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ricochets off the top and bottom walls now. It still flies off the LEFT and RIGHT sides — TODO #8 fixes that.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— without an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Same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from chunk #6b. This time we use it WITHOUT an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If the check fails → nothing happens (no else, no other path).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object.position.x &gt; LIMIT: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"message"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 — if the ball went past the right edge, print a message.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This is a 'does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even work?' test before adding real scoring in TODO #8.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sends text to the Output panel at the bottom of Godot. Great for debugging.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#7 — Print 'point!'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object.position.x &gt; LIMIT: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</a:t>
            </a:r>
            <a:r>
              <a:rPr sz="1400">
                <a:solidFill>
                  <a:srgbClr val="7F8C8D"/>
                </a:solidFill>
                <a:latin typeface="Consolas"/>
              </a:rPr>
              <a:t>print</a:t>
            </a:r>
            <a:r>
              <a:rPr sz="1400">
                <a:solidFill>
                  <a:srgbClr val="CFCFC2"/>
                </a:solidFill>
                <a:latin typeface="Consolas"/>
              </a:rPr>
              <a:t>(</a:t>
            </a:r>
            <a:r>
              <a:rPr sz="1400">
                <a:solidFill>
                  <a:srgbClr val="F44F4F"/>
                </a:solidFill>
                <a:latin typeface="Consolas"/>
              </a:rPr>
              <a:t>"message"</a:t>
            </a:r>
            <a:r>
              <a:rPr sz="14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ball.position.x is past SCREEN_W: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print("point!")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See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after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print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after a name means it's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bundle of code someone already wrote.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a function that came with GDScript. Someone wrote it so we don't have to.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We'll learn to write our OWN functions on Day 2.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(below) is another pre-written function you'll use soon.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'point!' shows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Let the ball go past the right edge. Look at the Output panel —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point!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prints.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Comparison operators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&gt;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GREATER THAN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LESS THAN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Use them inside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score &gt;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44F4F"/>
                </a:solidFill>
                <a:latin typeface="Consolas"/>
              </a:rPr>
              <a:t>"winning"</a:t>
            </a:r>
            <a:r>
              <a:rPr sz="1800">
                <a:solidFill>
                  <a:srgbClr val="CFCFC2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rollercoaster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 MUST BE THIS TALL → 48 inches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You're 50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"Can you ride? What's the check?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your_height &gt; 48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true or false?"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let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compare two numbers.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constantly comparing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score &gt; high score?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health &lt; 20%?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enemy distance &lt; 100 pixels?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timer == 0?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"Is the ball past the right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&gt; SCREEN_W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left player scores. Past the left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&lt; 0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right player scores."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pic>
        <p:nvPicPr>
          <p:cNvPr id="8" name="Picture 7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492"/>
            <a:ext cx="6766377" cy="1637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Same area you put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test. We're upgrading it to real scoring.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object.position.x &gt; RIGHT_EDGE: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score_a +=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reset_ball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object.position.x &lt; LEFT_EDGE: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score_b +=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reset_ball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blocks — one for each edge. Ball exits right → left player scores. Ball exits left → right player scores.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TODO #7 just printed text. This upgrades it to real scoring with the counter you set up in TODO #1.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pre-written for you — it moves the ball back to centre.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one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#8 — Real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object.position.x &gt; RIGHT_EDGE: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score_a += </a:t>
            </a:r>
            <a:r>
              <a:rPr sz="14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</a:t>
            </a:r>
            <a:r>
              <a:rPr sz="1400">
                <a:solidFill>
                  <a:srgbClr val="8E44AD"/>
                </a:solidFill>
                <a:latin typeface="Consolas"/>
              </a:rPr>
              <a:t>reset_ball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object.position.x &lt; LEFT_EDGE: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score_b += </a:t>
            </a:r>
            <a:r>
              <a:rPr sz="14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</a:t>
            </a:r>
            <a:r>
              <a:rPr sz="1400">
                <a:solidFill>
                  <a:srgbClr val="8E44AD"/>
                </a:solidFill>
                <a:latin typeface="Consolas"/>
              </a:rPr>
              <a:t>reset_ball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 passed right edge (&gt; SCREEN_W):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left_score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reset_ball()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ball passed left edge (&lt; 0):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add 1 to right_score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call reset_ball()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scoreboard counts!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Score a point past either edge. The number at the top of the screen jumps up.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Break — 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ball bounces and scoring works. Pause and make this Pong YOURS: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how fast do you want it?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is it too slow? Too fast?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ball/paddle colour in the Inspector (click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Save (Ctrl+S) and run (F5) after each change.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Remember your silly variables from TODO #2?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Time to put them ON SCREEN. But there's one problem — the scoreboard only holds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text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, and your variables are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numbers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We need to convert them.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str()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turns a number into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99</a:t>
            </a:r>
            <a:r>
              <a:rPr sz="1800">
                <a:solidFill>
                  <a:srgbClr val="CFCFC2"/>
                </a:solidFill>
                <a:latin typeface="Consolas"/>
              </a:rPr>
              <a:t>)   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"99"   (the number 99 as text)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"99"  (whatever value the variable holds)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Joining text pieces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44F4F"/>
                </a:solidFill>
                <a:latin typeface="Consolas"/>
              </a:rPr>
              <a:t>"Speed: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  </a:t>
            </a:r>
            <a:r>
              <a:rPr sz="1800">
                <a:solidFill>
                  <a:srgbClr val="7A7C7D"/>
                </a:solidFill>
                <a:latin typeface="Consolas"/>
              </a:rPr>
              <a:t># → "Speed: 99"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44F4F"/>
                </a:solidFill>
                <a:latin typeface="Consolas"/>
              </a:rPr>
              <a:t>"★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(gyatt_factor) + </a:t>
            </a:r>
            <a:r>
              <a:rPr sz="1800">
                <a:solidFill>
                  <a:srgbClr val="F44F4F"/>
                </a:solidFill>
                <a:latin typeface="Consolas"/>
              </a:rPr>
              <a:t>" ★"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7A7C7D"/>
                </a:solidFill>
                <a:latin typeface="Consolas"/>
              </a:rPr>
              <a:t># → "★ 42 ★"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Appending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+=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800">
                <a:solidFill>
                  <a:srgbClr val="F44F4F"/>
                </a:solidFill>
                <a:latin typeface="Consolas"/>
              </a:rPr>
              <a:t>"  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reads: "stick this onto the end of whatever's already there"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800">
                <a:solidFill>
                  <a:srgbClr val="F44F4F"/>
                </a:solidFill>
                <a:latin typeface="Consolas"/>
              </a:rPr>
              <a:t>"  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(skibidi_speed) + </a:t>
            </a:r>
            <a:r>
              <a:rPr sz="1800">
                <a:solidFill>
                  <a:srgbClr val="F44F4F"/>
                </a:solidFill>
                <a:latin typeface="Consolas"/>
              </a:rPr>
              <a:t>" ★ "</a:t>
            </a:r>
            <a:r>
              <a:rPr sz="1800">
                <a:solidFill>
                  <a:srgbClr val="CFCFC2"/>
                </a:solidFill>
                <a:latin typeface="Consolas"/>
              </a:rPr>
              <a:t> + </a:t>
            </a:r>
            <a:r>
              <a:rPr sz="1800">
                <a:solidFill>
                  <a:srgbClr val="7F8C8D"/>
                </a:solidFill>
                <a:latin typeface="Consolas"/>
              </a:rPr>
              <a:t>str</a:t>
            </a:r>
            <a:r>
              <a:rPr sz="1800">
                <a:solidFill>
                  <a:srgbClr val="CFCFC2"/>
                </a:solidFill>
                <a:latin typeface="Consolas"/>
              </a:rPr>
              <a:t>(gyatt_factor)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line that appends your silly variables onto the scoreboard text.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Your variables from TODO #2 have been sitting there doing nothing. Now they show up live in the game.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converts a number to text.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joins text pieces.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to what's already on the scoreboard.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#9 — Scoreboard personalisation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(your_variable)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44F4F"/>
                </a:solidFill>
                <a:latin typeface="Consolas"/>
              </a:rPr>
              <a:t>"label: "</a:t>
            </a:r>
            <a:r>
              <a:rPr sz="1400">
                <a:solidFill>
                  <a:srgbClr val="CFCFC2"/>
                </a:solidFill>
                <a:latin typeface="Consolas"/>
              </a:rPr>
              <a:t> + </a:t>
            </a:r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(variable)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400">
                <a:solidFill>
                  <a:srgbClr val="F44F4F"/>
                </a:solidFill>
                <a:latin typeface="Consolas"/>
              </a:rPr>
              <a:t>" more text"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score_label.text += </a:t>
            </a:r>
            <a:r>
              <a:rPr sz="1400">
                <a:solidFill>
                  <a:srgbClr val="F44F4F"/>
                </a:solidFill>
                <a:latin typeface="Consolas"/>
              </a:rPr>
              <a:t>" ★ "</a:t>
            </a:r>
            <a:r>
              <a:rPr sz="1400">
                <a:solidFill>
                  <a:srgbClr val="CFCFC2"/>
                </a:solidFill>
                <a:latin typeface="Consolas"/>
              </a:rPr>
              <a:t> + </a:t>
            </a:r>
            <a:r>
              <a:rPr sz="1400">
                <a:solidFill>
                  <a:srgbClr val="7F8C8D"/>
                </a:solidFill>
                <a:latin typeface="Consolas"/>
              </a:rPr>
              <a:t>str</a:t>
            </a:r>
            <a:r>
              <a:rPr sz="1400">
                <a:solidFill>
                  <a:srgbClr val="CFCFC2"/>
                </a:solidFill>
                <a:latin typeface="Consolas"/>
              </a:rPr>
              <a:t>(x)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append first silly var to score_label.text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use str() to convert it, + to join with a label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append second silly var too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add stars, emojis, labels if you want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variables, live on the scoreboard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it. The scoreboard now shows your silly variables right next to the score. Have your neighbour read theirs out loud.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 — Personalization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More ways to make this Pong YOUR Pong. Pick any, in any order.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125</a:t>
            </a:r>
          </a:p>
        </p:txBody>
      </p:sp>
      <p:pic>
        <p:nvPicPr>
          <p:cNvPr id="8" name="Picture 7" descr="D1B1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7376"/>
            <a:ext cx="6766377" cy="3677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game, then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Inspector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 the right.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right there — click a swatch, pick any colour, then Save (Ctrl+S) and run (F5).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126</a:t>
            </a:r>
          </a:p>
        </p:txBody>
      </p:sp>
      <p:pic>
        <p:nvPicPr>
          <p:cNvPr id="8" name="Picture 7" descr="D1B1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7459"/>
            <a:ext cx="6766376" cy="34774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At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two lines define them: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ball_color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paddle_color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magic word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what makes a variable show up in the Inspector.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127</a:t>
            </a:r>
          </a:p>
        </p:txBody>
      </p:sp>
      <p:pic>
        <p:nvPicPr>
          <p:cNvPr id="8" name="Picture 7" descr="D1B3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93731"/>
            <a:ext cx="6766377" cy="42648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your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variables. Rename them to something even funnier. Then find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#9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 scoreboard) and update the name there too — they must match.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make Pong 2-player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player2.gd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(it's on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PaddleRight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node). Two TODOs inside: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FC-1 — comment out the AI (right paddle plays itself → should sit still)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FC-2 — add I/K key movement for a real second player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FC-3 (bonus) — random ball respawn angle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randf_range()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already did every piece this morning. Give it a whirl.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FC-1 + FC-2 — AI off, real player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FC-1 — comment out (Ctrl+K)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put # at start of each AI line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(KEY_X):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position.y -= speed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FDBC4B"/>
                </a:solidFill>
                <a:latin typeface="Consolas"/>
              </a:rPr>
              <a:t>if</a:t>
            </a:r>
            <a:r>
              <a:rPr sz="1400">
                <a:solidFill>
                  <a:srgbClr val="CFCFC2"/>
                </a:solidFill>
                <a:latin typeface="Consolas"/>
              </a:rPr>
              <a:t> Input.</a:t>
            </a:r>
            <a:r>
              <a:rPr sz="1400">
                <a:solidFill>
                  <a:srgbClr val="8E44AD"/>
                </a:solidFill>
                <a:latin typeface="Consolas"/>
              </a:rPr>
              <a:t>is_key_pressed</a:t>
            </a:r>
            <a:r>
              <a:rPr sz="1400">
                <a:solidFill>
                  <a:srgbClr val="CFCFC2"/>
                </a:solidFill>
                <a:latin typeface="Consolas"/>
              </a:rPr>
              <a:t>(KEY_Y):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  position.y +=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FC-1: comment out ALL 5 AI lines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(select + Ctrl+K, or add # manually)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paddle should now sit still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FC-2: add I/K key movement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I key pressed → move UP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K key pressed → move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FC-3 (Bonus) — Random ball respawn 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const</a:t>
            </a:r>
            <a:r>
              <a:rPr sz="1400">
                <a:solidFill>
                  <a:srgbClr val="CFCFC2"/>
                </a:solidFill>
                <a:latin typeface="Consolas"/>
              </a:rPr>
              <a:t> ANGLE_MIN := -</a:t>
            </a:r>
            <a:r>
              <a:rPr sz="1400">
                <a:solidFill>
                  <a:srgbClr val="F67400"/>
                </a:solidFill>
                <a:latin typeface="Consolas"/>
              </a:rPr>
              <a:t>45.0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const</a:t>
            </a:r>
            <a:r>
              <a:rPr sz="1400">
                <a:solidFill>
                  <a:srgbClr val="CFCFC2"/>
                </a:solidFill>
                <a:latin typeface="Consolas"/>
              </a:rPr>
              <a:t> ANGLE_MAX :=  </a:t>
            </a:r>
            <a:r>
              <a:rPr sz="1400">
                <a:solidFill>
                  <a:srgbClr val="F67400"/>
                </a:solidFill>
                <a:latin typeface="Consolas"/>
              </a:rPr>
              <a:t>45.0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angle = </a:t>
            </a:r>
            <a:r>
              <a:rPr sz="1400">
                <a:solidFill>
                  <a:srgbClr val="8E44AD"/>
                </a:solidFill>
                <a:latin typeface="Consolas"/>
              </a:rPr>
              <a:t>randf_range</a:t>
            </a:r>
            <a:r>
              <a:rPr sz="1400">
                <a:solidFill>
                  <a:srgbClr val="CFCFC2"/>
                </a:solidFill>
                <a:latin typeface="Consolas"/>
              </a:rPr>
              <a:t>(ANGLE_MIN, ANGLE_MAX)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ball_speed_x = </a:t>
            </a:r>
            <a:r>
              <a:rPr sz="1400">
                <a:solidFill>
                  <a:srgbClr val="7F8C8D"/>
                </a:solidFill>
                <a:latin typeface="Consolas"/>
              </a:rPr>
              <a:t>cos</a:t>
            </a:r>
            <a:r>
              <a:rPr sz="1400">
                <a:solidFill>
                  <a:srgbClr val="CFCFC2"/>
                </a:solidFill>
                <a:latin typeface="Consolas"/>
              </a:rPr>
              <a:t>(</a:t>
            </a:r>
            <a:r>
              <a:rPr sz="1400">
                <a:solidFill>
                  <a:srgbClr val="8E44AD"/>
                </a:solidFill>
                <a:latin typeface="Consolas"/>
              </a:rPr>
              <a:t>deg_to_rad</a:t>
            </a:r>
            <a:r>
              <a:rPr sz="1400">
                <a:solidFill>
                  <a:srgbClr val="CFCFC2"/>
                </a:solidFill>
                <a:latin typeface="Consolas"/>
              </a:rPr>
              <a:t>(angle)) * </a:t>
            </a:r>
            <a:r>
              <a:rPr sz="1400">
                <a:solidFill>
                  <a:srgbClr val="F67400"/>
                </a:solidFill>
                <a:latin typeface="Consolas"/>
              </a:rPr>
              <a:t>6.0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ball_speed_y = </a:t>
            </a:r>
            <a:r>
              <a:rPr sz="1400">
                <a:solidFill>
                  <a:srgbClr val="7F8C8D"/>
                </a:solidFill>
                <a:latin typeface="Consolas"/>
              </a:rPr>
              <a:t>sin</a:t>
            </a:r>
            <a:r>
              <a:rPr sz="1400">
                <a:solidFill>
                  <a:srgbClr val="CFCFC2"/>
                </a:solidFill>
                <a:latin typeface="Consolas"/>
              </a:rPr>
              <a:t>(</a:t>
            </a:r>
            <a:r>
              <a:rPr sz="1400">
                <a:solidFill>
                  <a:srgbClr val="8E44AD"/>
                </a:solidFill>
                <a:latin typeface="Consolas"/>
              </a:rPr>
              <a:t>deg_to_rad</a:t>
            </a:r>
            <a:r>
              <a:rPr sz="1400">
                <a:solidFill>
                  <a:srgbClr val="CFCFC2"/>
                </a:solidFill>
                <a:latin typeface="Consolas"/>
              </a:rPr>
              <a:t>(angle)) * </a:t>
            </a:r>
            <a:r>
              <a:rPr sz="1400">
                <a:solidFill>
                  <a:srgbClr val="F67400"/>
                </a:solidFill>
                <a:latin typeface="Consolas"/>
              </a:rPr>
              <a:t>6.0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in reset_ball(), after position reset: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define ANGLE_MIN and ANGLE_MAX constants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pick a random angle with randf_range()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convert to x speed using cos(deg_to_rad())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convert to y speed using sin(deg_to_rad())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Day 1 assets: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1 used zero imported art. Every visible thing on screen was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ColorRect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coloured box drawn by code. From Day 2 on, we bring in real art with Kenney.nl asset packs.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Pong into a real Windows program — a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you can run on any PC, no Godot needed. Show your family tonight.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133</a:t>
            </a:r>
          </a:p>
        </p:txBody>
      </p:sp>
      <p:pic>
        <p:nvPicPr>
          <p:cNvPr id="8" name="Picture 7" descr="D1B6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617"/>
            <a:ext cx="6766376" cy="4339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Export…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134</a:t>
            </a:r>
          </a:p>
        </p:txBody>
      </p:sp>
      <p:pic>
        <p:nvPicPr>
          <p:cNvPr id="8" name="Picture 7" descr="D1B6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2613"/>
            <a:ext cx="6766377" cy="4147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Export window opens. It's empty the first time —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top to add a target.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135</a:t>
            </a:r>
          </a:p>
        </p:txBody>
      </p:sp>
      <p:pic>
        <p:nvPicPr>
          <p:cNvPr id="8" name="Picture 7" descr="D1B6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663"/>
            <a:ext cx="6766377" cy="4031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From the list, pick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that's the kind of program Windows PCs run.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136</a:t>
            </a:r>
          </a:p>
        </p:txBody>
      </p:sp>
      <p:pic>
        <p:nvPicPr>
          <p:cNvPr id="8" name="Picture 7" descr="D1B6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6076"/>
            <a:ext cx="6766377" cy="2360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adds a Windows Desktop preset on the left. Leave the options as they are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Runnable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on, Architecture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x86_64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137</a:t>
            </a:r>
          </a:p>
        </p:txBody>
      </p:sp>
      <p:pic>
        <p:nvPicPr>
          <p:cNvPr id="8" name="Picture 7" descr="D1B6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53"/>
            <a:ext cx="6766377" cy="3291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first time on a new PC you may see a red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'No export template found'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message.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Manage Export Templates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fix it.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138</a:t>
            </a:r>
          </a:p>
        </p:txBody>
      </p:sp>
      <p:pic>
        <p:nvPicPr>
          <p:cNvPr id="8" name="Picture 7" descr="D1B6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843"/>
            <a:ext cx="6766377" cy="3534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Export Template Manager,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Download and Install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Let it finish, then close. (One-time setup per computer.)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139</a:t>
            </a:r>
          </a:p>
        </p:txBody>
      </p:sp>
      <p:pic>
        <p:nvPicPr>
          <p:cNvPr id="8" name="Picture 7" descr="D1B6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4883"/>
            <a:ext cx="6766377" cy="4682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type a name (e.g.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), pick your folder, and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Godot builds your game.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140</a:t>
            </a:r>
          </a:p>
        </p:txBody>
      </p:sp>
      <p:pic>
        <p:nvPicPr>
          <p:cNvPr id="8" name="Picture 7" descr="D1B6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839"/>
            <a:ext cx="6766377" cy="408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plus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data file into your folder. 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your Pong runs with no Godot needed. Keep the two files together.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It's really yours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Copy that folder to a USB stick or send it to a friend. It runs on any Windows PC. You built and shipped a real game on day one.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Pac-Man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1980. The next leap. We trade coloured rectangles for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and learn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bring a whole maze to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