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" y="50000"/>
            <a:ext cx="448731" cy="3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44000" y="100000"/>
            <a:ext cx="1100000" cy="250000"/>
          </a:xfrm>
          <a:prstGeom prst="rect">
            <a:avLst/>
          </a:prstGeom>
          <a:noFill/>
        </p:spPr>
        <p:txBody lIns="30000" rIns="80000" tIns="20000" bIns="20000"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" y="490000"/>
            <a:ext cx="8844000" cy="230000"/>
          </a:xfrm>
          <a:prstGeom prst="rect">
            <a:avLst/>
          </a:prstGeom>
          <a:noFill/>
        </p:spPr>
        <p:txBody lIns="60000" rIns="60000" tIns="2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Poppins"/>
              </a:rPr>
              <a:t>Final Challenge — all 4 holes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000" y="690000"/>
            <a:ext cx="4372000" cy="30054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000" y="690000"/>
            <a:ext cx="4372000" cy="300545"/>
          </a:xfrm>
          <a:prstGeom prst="rect">
            <a:avLst/>
          </a:prstGeom>
          <a:noFill/>
        </p:spPr>
        <p:txBody lIns="60000" rIns="60000" tIns="3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FC-1  endless_tick(delta) body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000" y="990545"/>
            <a:ext cx="4372000" cy="23614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000" y="990545"/>
            <a:ext cx="4372000" cy="236142"/>
          </a:xfrm>
          <a:prstGeom prst="rect">
            <a:avLst/>
          </a:prstGeom>
          <a:noFill/>
        </p:spPr>
        <p:txBody lIns="60000" rIns="60000" tIns="22000" bIns="10000">
          <a:bodyPr wrap="square">
            <a:spAutoFit/>
          </a:bodyPr>
          <a:lstStyle/>
          <a:p>
            <a:pPr algn="l"/>
            <a:r>
              <a:rPr sz="900">
                <a:solidFill>
                  <a:srgbClr val="8A8A8A"/>
                </a:solidFill>
                <a:latin typeface="Poppins"/>
              </a:rPr>
              <a:t>Syntax: </a:t>
            </a:r>
            <a:r>
              <a:rPr sz="900" b="1">
                <a:solidFill>
                  <a:srgbClr val="569CD6"/>
                </a:solidFill>
                <a:latin typeface="Consolas"/>
              </a:rPr>
              <a:t>for_in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000" y="1226687"/>
            <a:ext cx="4372000" cy="161006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000" y="1226687"/>
            <a:ext cx="4372000" cy="1610063"/>
          </a:xfrm>
          <a:prstGeom prst="rect">
            <a:avLst/>
          </a:prstGeom>
          <a:noFill/>
        </p:spPr>
        <p:txBody lIns="60000" rIns="60000" tIns="30000" bIns="20000"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for e in main.enemies: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endless_buff(e, delta)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for t in main.towers: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buff_tower(t, delta)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2000" y="690000"/>
            <a:ext cx="4372000" cy="30054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2000" y="690000"/>
            <a:ext cx="4372000" cy="300545"/>
          </a:xfrm>
          <a:prstGeom prst="rect">
            <a:avLst/>
          </a:prstGeom>
          <a:noFill/>
        </p:spPr>
        <p:txBody lIns="60000" rIns="60000" tIns="3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FC-2  buff_all(enemy_list, delta)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22000" y="990545"/>
            <a:ext cx="4372000" cy="23614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2000" y="990545"/>
            <a:ext cx="4372000" cy="236142"/>
          </a:xfrm>
          <a:prstGeom prst="rect">
            <a:avLst/>
          </a:prstGeom>
          <a:noFill/>
        </p:spPr>
        <p:txBody lIns="60000" rIns="60000" tIns="22000" bIns="10000">
          <a:bodyPr wrap="square">
            <a:spAutoFit/>
          </a:bodyPr>
          <a:lstStyle/>
          <a:p>
            <a:pPr algn="l"/>
            <a:r>
              <a:rPr sz="900">
                <a:solidFill>
                  <a:srgbClr val="8A8A8A"/>
                </a:solidFill>
                <a:latin typeface="Poppins"/>
              </a:rPr>
              <a:t>Syntax: </a:t>
            </a:r>
            <a:r>
              <a:rPr sz="900" b="1">
                <a:solidFill>
                  <a:srgbClr val="569CD6"/>
                </a:solidFill>
                <a:latin typeface="Consolas"/>
              </a:rPr>
              <a:t>for_in, func_param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22000" y="1226687"/>
            <a:ext cx="4372000" cy="161006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2000" y="1226687"/>
            <a:ext cx="4372000" cy="1610063"/>
          </a:xfrm>
          <a:prstGeom prst="rect">
            <a:avLst/>
          </a:prstGeom>
          <a:noFill/>
        </p:spPr>
        <p:txBody lIns="60000" rIns="60000" tIns="30000" bIns="20000"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for e in enemy_list: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endless_buff(e, delta)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000" y="2916750"/>
            <a:ext cx="4372000" cy="30054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000" y="2916750"/>
            <a:ext cx="4372000" cy="300545"/>
          </a:xfrm>
          <a:prstGeom prst="rect">
            <a:avLst/>
          </a:prstGeom>
          <a:noFill/>
        </p:spPr>
        <p:txBody lIns="60000" rIns="60000" tIns="3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FC-3  get_in_radius(pos, r) -&gt; Array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000" y="3217295"/>
            <a:ext cx="4372000" cy="23614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000" y="3217295"/>
            <a:ext cx="4372000" cy="236142"/>
          </a:xfrm>
          <a:prstGeom prst="rect">
            <a:avLst/>
          </a:prstGeom>
          <a:noFill/>
        </p:spPr>
        <p:txBody lIns="60000" rIns="60000" tIns="22000" bIns="10000">
          <a:bodyPr wrap="square">
            <a:spAutoFit/>
          </a:bodyPr>
          <a:lstStyle/>
          <a:p>
            <a:pPr algn="l"/>
            <a:r>
              <a:rPr sz="900">
                <a:solidFill>
                  <a:srgbClr val="8A8A8A"/>
                </a:solidFill>
                <a:latin typeface="Poppins"/>
              </a:rPr>
              <a:t>Syntax: </a:t>
            </a:r>
            <a:r>
              <a:rPr sz="900" b="1">
                <a:solidFill>
                  <a:srgbClr val="569CD6"/>
                </a:solidFill>
                <a:latin typeface="Consolas"/>
              </a:rPr>
              <a:t>list_init, for_in, list_append, return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000" y="3453437"/>
            <a:ext cx="4372000" cy="161006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000" y="3453437"/>
            <a:ext cx="4372000" cy="1610063"/>
          </a:xfrm>
          <a:prstGeom prst="rect">
            <a:avLst/>
          </a:prstGeom>
          <a:noFill/>
        </p:spPr>
        <p:txBody lIns="60000" rIns="60000" tIns="30000" bIns="20000"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var result: Array = []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for e in main.enemies: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if pos.distance_to(e.position) &lt;= r: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    result.append(e)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return result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22000" y="2916750"/>
            <a:ext cx="4372000" cy="30054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2000" y="2916750"/>
            <a:ext cx="4372000" cy="300545"/>
          </a:xfrm>
          <a:prstGeom prst="rect">
            <a:avLst/>
          </a:prstGeom>
          <a:noFill/>
        </p:spPr>
        <p:txBody lIns="60000" rIns="60000" tIns="3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FC-4  check_wave_end()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22000" y="3217295"/>
            <a:ext cx="4372000" cy="23614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2000" y="3217295"/>
            <a:ext cx="4372000" cy="236142"/>
          </a:xfrm>
          <a:prstGeom prst="rect">
            <a:avLst/>
          </a:prstGeom>
          <a:noFill/>
        </p:spPr>
        <p:txBody lIns="60000" rIns="60000" tIns="22000" bIns="10000">
          <a:bodyPr wrap="square">
            <a:spAutoFit/>
          </a:bodyPr>
          <a:lstStyle/>
          <a:p>
            <a:pPr algn="l"/>
            <a:r>
              <a:rPr sz="900">
                <a:solidFill>
                  <a:srgbClr val="8A8A8A"/>
                </a:solidFill>
                <a:latin typeface="Poppins"/>
              </a:rPr>
              <a:t>Syntax: </a:t>
            </a:r>
            <a:r>
              <a:rPr sz="900" b="1">
                <a:solidFill>
                  <a:srgbClr val="569CD6"/>
                </a:solidFill>
                <a:latin typeface="Consolas"/>
              </a:rPr>
              <a:t>if, list_size, plus_eq, func_call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22000" y="3453437"/>
            <a:ext cx="4372000" cy="161006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2000" y="3453437"/>
            <a:ext cx="4372000" cy="1610063"/>
          </a:xfrm>
          <a:prstGeom prst="rect">
            <a:avLst/>
          </a:prstGeom>
          <a:noFill/>
        </p:spPr>
        <p:txBody lIns="60000" rIns="60000" tIns="30000" bIns="20000"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if wave_in_progress and enemies empty: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wave_in_progress = false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wave_index +=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if end of WAVES: you_win()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else: start_next_wave()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