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&lt;exact title text&gt;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&lt;bullets, prose, or code block — verbatim&gt;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VR Creator - Day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Pong · 1972 · Atari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Why Pong mattered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1972, Atari. One of the first video games you could play in public.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Dead simple — two paddles, one ball. Anyone got it in seconds. That simplicity is why it spread.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Launched the whole arcade industry; 3 years later 'Home Pong' put a video game on the family TV for the first time.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Proved games could be a business. Pac-Man, Mario, your living-room console — all trace back 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5-day arc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1972 —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Pong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(today, highlighted)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1980 — Pac-Man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1990s — Tower / Base Defense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late 1990s — Fighter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2020s — Racing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 quick history of VR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dream is old — VR headsets go back to the 1960s, but they were huge, blurry, and wildly expensive.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2012: the Oculus Rift made VR cheap and good enough to be real. Now standalone headsets (Quest) need no PC at all.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VR = the screen wraps all the way around you. You don't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look at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 game — you're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inside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Today's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Variables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values that can change.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Conditions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if / else, and comparing numbers.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GDScript is Python with two small differences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54557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53A2C"/>
                </a:solidFill>
                <a:latin typeface="Poppins"/>
              </a:rP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1965960"/>
            <a:ext cx="54557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53A2C"/>
                </a:solidFill>
                <a:latin typeface="Poppins"/>
              </a:rPr>
              <a:t>GDScript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Pre-coding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"Open the project. Open the script. Run it. Read the errors."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</a:t>
            </a:r>
          </a:p>
        </p:txBody>
      </p:sp>
      <p:pic>
        <p:nvPicPr>
          <p:cNvPr id="8" name="Picture 7" descr="WalkA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91109"/>
            <a:ext cx="6766377" cy="48701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Launch Godot 4. The Project Manager window opens. Find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button at the top-right.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</a:t>
            </a:r>
          </a:p>
        </p:txBody>
      </p:sp>
      <p:pic>
        <p:nvPicPr>
          <p:cNvPr id="8" name="Picture 7" descr="Walk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5703"/>
            <a:ext cx="6766377" cy="48809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button at the top-right of the Project Manager.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</a:t>
            </a:r>
          </a:p>
        </p:txBody>
      </p:sp>
      <p:pic>
        <p:nvPicPr>
          <p:cNvPr id="8" name="Picture 7" descr="WalkA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48248"/>
            <a:ext cx="6766377" cy="47558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the file browser, open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Day1_Pong_Game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folder and click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project.godot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select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</a:t>
            </a:r>
          </a:p>
        </p:txBody>
      </p:sp>
      <p:pic>
        <p:nvPicPr>
          <p:cNvPr id="8" name="Picture 7" descr="WalkA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9461"/>
            <a:ext cx="6766377" cy="48734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asks to confirm.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 &amp; Edit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</a:t>
            </a:r>
          </a:p>
        </p:txBody>
      </p:sp>
      <p:pic>
        <p:nvPicPr>
          <p:cNvPr id="8" name="Picture 7" descr="Walk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imports the project (first time takes a few seconds) and the editor opens. You're 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</a:t>
            </a:r>
          </a:p>
        </p:txBody>
      </p:sp>
      <p:pic>
        <p:nvPicPr>
          <p:cNvPr id="8" name="Picture 7" descr="Walk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40" y="1143000"/>
            <a:ext cx="6414897" cy="5166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Look at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FileSystem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panel (bottom-left). Find the file named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15</a:t>
            </a:r>
          </a:p>
        </p:txBody>
      </p:sp>
      <p:pic>
        <p:nvPicPr>
          <p:cNvPr id="8" name="Picture 7" descr="Walk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Hover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then double-click to open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Lesson chunks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"Eight holes to fill. We'll fill them in order."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(just the word, very large, centred on slide)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What does </a:t>
            </a:r>
            <a:r>
              <a:rPr sz="5400" b="1" i="1">
                <a:solidFill>
                  <a:srgbClr val="1A1A1A"/>
                </a:solidFill>
                <a:latin typeface="Poppins"/>
              </a:rPr>
              <a:t>variable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mean?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"What does </a:t>
            </a:r>
            <a:r>
              <a:rPr sz="2400" b="0" i="1">
                <a:solidFill>
                  <a:srgbClr val="8A8A8A"/>
                </a:solidFill>
                <a:latin typeface="Poppins"/>
              </a:rPr>
              <a:t>vary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mean?"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vary = something that can change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 in variable → VALUE that can CHANGE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cookie jar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Consolas"/>
              </a:rPr>
              <a:t>CookiesInJar = 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 week later…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Consolas"/>
              </a:rPr>
              <a:t>CookiesInJar = 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 eat 3 cookies.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"What is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CookiesInJar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now?"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 variable is a VALUE that can CHANGE across time.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How does a video game use variables?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Pong's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How fast is the ball moving left/right?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ball_speed_x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How fast is the ball moving up/down?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ball_speed_y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How fast does the paddle move?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paddle_speed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frame, these numbers decide how fast everything goes.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27</a:t>
            </a:r>
          </a:p>
        </p:txBody>
      </p:sp>
      <p:pic>
        <p:nvPicPr>
          <p:cNvPr id="8" name="Picture 7" descr="D1C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27755"/>
            <a:ext cx="6766377" cy="49968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Right below the score, between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#@end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you'll add three variables of your own.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var ball_speed_x := </a:t>
            </a:r>
            <a:r>
              <a:rPr sz="1800">
                <a:solidFill>
                  <a:srgbClr val="F67400"/>
                </a:solidFill>
                <a:latin typeface="Consolas"/>
              </a:rPr>
              <a:t>6.0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var ball_speed_y := </a:t>
            </a:r>
            <a:r>
              <a:rPr sz="1800">
                <a:solidFill>
                  <a:srgbClr val="F67400"/>
                </a:solidFill>
                <a:latin typeface="Consolas"/>
              </a:rPr>
              <a:t>3.0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var paddle_speed := </a:t>
            </a:r>
            <a:r>
              <a:rPr sz="1800">
                <a:solidFill>
                  <a:srgbClr val="F67400"/>
                </a:solidFill>
                <a:latin typeface="Consolas"/>
              </a:rPr>
              <a:t>6.0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Three variables — left-right ball speed, up-down ball speed, and paddle speed.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these, the ball has no speed. It can't move. Every moving thing in Pong needs a number.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 name := value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makes a new variable.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:=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sets the starting value. Pick any numbers you like.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#1 — Create your game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 dirty="0">
                <a:solidFill>
                  <a:srgbClr val="CFCFC2"/>
                </a:solidFill>
                <a:latin typeface="Consolas"/>
              </a:rPr>
              <a:t>  var score := </a:t>
            </a:r>
            <a:r>
              <a:rPr sz="1400" dirty="0">
                <a:solidFill>
                  <a:srgbClr val="F67400"/>
                </a:solidFill>
                <a:latin typeface="Consolas"/>
              </a:rPr>
              <a:t>0</a:t>
            </a:r>
          </a:p>
          <a:p>
            <a:pPr algn="l"/>
            <a:r>
              <a:rPr sz="1400" dirty="0">
                <a:solidFill>
                  <a:srgbClr val="CFCFC2"/>
                </a:solidFill>
                <a:latin typeface="Consolas"/>
              </a:rPr>
              <a:t>  var lives := </a:t>
            </a:r>
            <a:r>
              <a:rPr sz="1400" dirty="0">
                <a:solidFill>
                  <a:srgbClr val="F67400"/>
                </a:solidFill>
                <a:latin typeface="Consolas"/>
              </a:rPr>
              <a:t>3</a:t>
            </a:r>
          </a:p>
          <a:p>
            <a:pPr algn="l"/>
            <a:r>
              <a:rPr sz="1400" dirty="0">
                <a:solidFill>
                  <a:srgbClr val="CFCFC2"/>
                </a:solidFill>
                <a:latin typeface="Consolas"/>
              </a:rPr>
              <a:t>  var speed := </a:t>
            </a:r>
            <a:r>
              <a:rPr sz="1400" dirty="0">
                <a:solidFill>
                  <a:srgbClr val="F67400"/>
                </a:solidFill>
                <a:latin typeface="Consolas"/>
              </a:rPr>
              <a:t>6.</a:t>
            </a:r>
            <a:r>
              <a:rPr lang="en-US" sz="1400" dirty="0">
                <a:solidFill>
                  <a:srgbClr val="F67400"/>
                </a:solidFill>
                <a:latin typeface="Consolas"/>
              </a:rPr>
              <a:t>0</a:t>
            </a:r>
            <a:endParaRPr sz="1400" dirty="0">
              <a:solidFill>
                <a:srgbClr val="F67400"/>
              </a:solidFill>
              <a:latin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ball left-right speed (pick a number)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ball up-down speed (pick a number)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paddle speed (pick a number)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30</a:t>
            </a:r>
          </a:p>
        </p:txBody>
      </p:sp>
      <p:pic>
        <p:nvPicPr>
          <p:cNvPr id="8" name="Picture 7" descr="Walk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Press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F5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key on your keyboard. (Or click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Play ▶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button in the top-right toolbar.)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31</a:t>
            </a:r>
          </a:p>
        </p:txBody>
      </p:sp>
      <p:pic>
        <p:nvPicPr>
          <p:cNvPr id="8" name="Picture 7" descr="Walk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A new window pops up, 1152 × 648 pixels. Dark background, two cyan paddles. The ball will be frozen at the centre until chunk #6b — that's normal.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32</a:t>
            </a:r>
          </a:p>
        </p:txBody>
      </p:sp>
      <p:pic>
        <p:nvPicPr>
          <p:cNvPr id="8" name="Picture 7" descr="Walk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48953"/>
            <a:ext cx="6766377" cy="27544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Close the game window, OR press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F8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 the editor to stop it.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33</a:t>
            </a:r>
          </a:p>
        </p:txBody>
      </p:sp>
      <p:pic>
        <p:nvPicPr>
          <p:cNvPr id="8" name="Picture 7" descr="Walk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05960"/>
            <a:ext cx="6766377" cy="46404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If your game window doesn't open after F5, look at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Output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panel at the bottom of the editor. That's where errors print.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Step D.2 — Three errors you WILL hit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Parse Error: Expected ':' after \"if\" condition.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you forgot the colon at the end of an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line.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Identifier \"ball_speedy\" not declared in the current scope.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typo in a variable name (probably missing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_x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Expected indented block.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the line after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 ...: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not indented (use Tab or 4 spaces).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Naming your variables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Code doesn't care what you call a variable.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"The name is for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YOU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."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Programmers go SILLY on 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foobar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bazinga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are decades-old programmer jokes — built right into real codebases.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Even Claude (the AI in your editor) types nonsense words like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fligerbigitibetting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when it's just thinking out loud.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Making code feel personal makes it more fun to read AND more fun to write.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Both work — pick your favourite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var score := </a:t>
            </a:r>
            <a:r>
              <a:rPr sz="1800">
                <a:solidFill>
                  <a:srgbClr val="F67400"/>
                </a:solidFill>
                <a:latin typeface="Consolas"/>
              </a:rPr>
              <a:t>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What's the funniest variable name you can think of?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Your code, your names.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Real game studios do this every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"Codebases are full of inside jokes, pet names, and references hidden in variable names. It's part of the culture."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42</a:t>
            </a:r>
          </a:p>
        </p:txBody>
      </p:sp>
      <p:pic>
        <p:nvPicPr>
          <p:cNvPr id="8" name="Picture 7" descr="D1C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64918"/>
            <a:ext cx="6766376" cy="172252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Right below your chunk #1a variables, you've got another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 waiting for two more — names of your choosing.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var skibidi_speed := </a:t>
            </a:r>
            <a:r>
              <a:rPr sz="1800">
                <a:solidFill>
                  <a:srgbClr val="F67400"/>
                </a:solidFill>
                <a:latin typeface="Consolas"/>
              </a:rPr>
              <a:t>99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var gyatt_factor := </a:t>
            </a:r>
            <a:r>
              <a:rPr sz="1800">
                <a:solidFill>
                  <a:srgbClr val="F67400"/>
                </a:solidFill>
                <a:latin typeface="Consolas"/>
              </a:rPr>
              <a:t>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Two variables — names are 100% your choice. Numbers too.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You'll display them on the scoreboard in TODO #9. Pick something that'll make your neighbour laugh.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Same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 name := value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as before. Name rules: lowercase, underscores, no spaces.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#2 — Your own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var skibidi_speed := </a:t>
            </a:r>
            <a:r>
              <a:rPr sz="1400">
                <a:solidFill>
                  <a:srgbClr val="F67400"/>
                </a:solidFill>
                <a:latin typeface="Consolas"/>
              </a:rPr>
              <a:t>99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var ohio_rizz := </a:t>
            </a:r>
            <a:r>
              <a:rPr sz="1400">
                <a:solidFill>
                  <a:srgbClr val="F67400"/>
                </a:solidFill>
                <a:latin typeface="Consolas"/>
              </a:rPr>
              <a:t>7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var gyatt_factor := </a:t>
            </a:r>
            <a:r>
              <a:rPr sz="1400">
                <a:solidFill>
                  <a:srgbClr val="F67400"/>
                </a:solidFill>
                <a:latin typeface="Consolas"/>
              </a:rPr>
              <a:t>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silly variable name #1 (your choice)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silly variable name #2 (your choice)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Boolean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 variable with only TWO possible values.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Those two values: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true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or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false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"No numbers. No text. Just yes or no."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Boolean = a YES/NO switch.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light switch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Consolas"/>
              </a:rPr>
              <a:t>light_on = true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Flip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Consolas"/>
              </a:rPr>
              <a:t>light_on = false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Is the light in this room on right now?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"True or false?"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 boolean is a true/false switch. Like a light switch.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Games are full of yes/no switches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the player alive?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is_alive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the game paused?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is_paused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the door locked?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door_locked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All booleans.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 is the ball moving yet?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"That's a boolean. We'll call it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ball_moving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."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55</a:t>
            </a:r>
          </a:p>
        </p:txBody>
      </p:sp>
      <p:pic>
        <p:nvPicPr>
          <p:cNvPr id="8" name="Picture 7" descr="D1C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47234"/>
            <a:ext cx="6766377" cy="375789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Just below your variables from #1b, there's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 for one boolean.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var ball_moving := </a:t>
            </a:r>
            <a:r>
              <a:rPr sz="1800">
                <a:solidFill>
                  <a:srgbClr val="27AEAE"/>
                </a:solidFill>
                <a:latin typeface="Consolas"/>
              </a:rPr>
              <a:t>false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One variable — a true/false switch called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ball_moving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 ball needs to freeze until Space is pressed. This flag is the on/off switch.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Same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 name := value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the value is just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true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false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instead of a number.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#3 — Make a boolean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var is_alive := </a:t>
            </a:r>
            <a:r>
              <a:rPr sz="1400">
                <a:solidFill>
                  <a:srgbClr val="27AEAE"/>
                </a:solidFill>
                <a:latin typeface="Consolas"/>
              </a:rPr>
              <a:t>true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var door_locked := </a:t>
            </a:r>
            <a:r>
              <a:rPr sz="1400">
                <a:solidFill>
                  <a:srgbClr val="27AEAE"/>
                </a:solidFill>
                <a:latin typeface="Consolas"/>
              </a:rPr>
              <a:t>false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var ball_moving := </a:t>
            </a:r>
            <a:r>
              <a:rPr sz="1400">
                <a:solidFill>
                  <a:srgbClr val="27AEAE"/>
                </a:solidFill>
                <a:latin typeface="Consolas"/>
              </a:rPr>
              <a:t>false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 true/false variable called ball_moving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start it as false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statement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An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runs a block of code ONLY WHEN something is true.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shape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[something is </a:t>
            </a:r>
            <a:r>
              <a:rPr sz="1800">
                <a:solidFill>
                  <a:srgbClr val="27AEAE"/>
                </a:solidFill>
                <a:latin typeface="Consolas"/>
              </a:rPr>
              <a:t>true</a:t>
            </a:r>
            <a:r>
              <a:rPr sz="1800">
                <a:solidFill>
                  <a:srgbClr val="CFCFC2"/>
                </a:solidFill>
                <a:latin typeface="Consolas"/>
              </a:rPr>
              <a:t>]: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do this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and this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is indentation?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Notice how some lines are shifted to the right?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That shift is called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indentation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In GDScript (and Python), it's not decorative — it tells the computer which lines belong to which rule.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Think of it as an invisible box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score &gt; </a:t>
            </a:r>
            <a:r>
              <a:rPr sz="1800">
                <a:solidFill>
                  <a:srgbClr val="F67400"/>
                </a:solidFill>
                <a:latin typeface="Consolas"/>
              </a:rPr>
              <a:t>5</a:t>
            </a:r>
            <a:r>
              <a:rPr sz="1800">
                <a:solidFill>
                  <a:srgbClr val="CFCFC2"/>
                </a:solidFill>
                <a:latin typeface="Consolas"/>
              </a:rPr>
              <a:t>:         ← OPENS the box (blue/highlighted)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┌─────────────────────────────────────────┐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│ 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44F4F"/>
                </a:solidFill>
                <a:latin typeface="Consolas"/>
              </a:rPr>
              <a:t>"winning"</a:t>
            </a:r>
            <a:r>
              <a:rPr sz="1800">
                <a:solidFill>
                  <a:srgbClr val="CFCFC2"/>
                </a:solidFill>
                <a:latin typeface="Consolas"/>
              </a:rPr>
              <a:t>)   ← LINE </a:t>
            </a:r>
            <a:r>
              <a:rPr sz="1800">
                <a:solidFill>
                  <a:srgbClr val="F67400"/>
                </a:solidFill>
                <a:latin typeface="Consolas"/>
              </a:rPr>
              <a:t>1</a:t>
            </a:r>
            <a:r>
              <a:rPr sz="1800">
                <a:solidFill>
                  <a:srgbClr val="CFCFC2"/>
                </a:solidFill>
                <a:latin typeface="Consolas"/>
              </a:rPr>
              <a:t> (inside) │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│   </a:t>
            </a:r>
            <a:r>
              <a:rPr sz="1800">
                <a:solidFill>
                  <a:srgbClr val="8E44AD"/>
                </a:solidFill>
                <a:latin typeface="Consolas"/>
              </a:rPr>
              <a:t>do_something</a:t>
            </a:r>
            <a:r>
              <a:rPr sz="1800">
                <a:solidFill>
                  <a:srgbClr val="CFCFC2"/>
                </a:solidFill>
                <a:latin typeface="Consolas"/>
              </a:rPr>
              <a:t>()     ← LINE </a:t>
            </a:r>
            <a:r>
              <a:rPr sz="1800">
                <a:solidFill>
                  <a:srgbClr val="F67400"/>
                </a:solidFill>
                <a:latin typeface="Consolas"/>
              </a:rPr>
              <a:t>2</a:t>
            </a:r>
            <a:r>
              <a:rPr sz="1800">
                <a:solidFill>
                  <a:srgbClr val="CFCFC2"/>
                </a:solidFill>
                <a:latin typeface="Consolas"/>
              </a:rPr>
              <a:t> (inside) │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└─────────────────────────────────────────┘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44F4F"/>
                </a:solidFill>
                <a:latin typeface="Consolas"/>
              </a:rPr>
              <a:t>"done"</a:t>
            </a:r>
            <a:r>
              <a:rPr sz="1800">
                <a:solidFill>
                  <a:srgbClr val="CFCFC2"/>
                </a:solidFill>
                <a:latin typeface="Consolas"/>
              </a:rPr>
              <a:t>)           ← LINE </a:t>
            </a:r>
            <a:r>
              <a:rPr sz="1800">
                <a:solidFill>
                  <a:srgbClr val="F67400"/>
                </a:solidFill>
                <a:latin typeface="Consolas"/>
              </a:rPr>
              <a:t>3</a:t>
            </a:r>
            <a:r>
              <a:rPr sz="1800">
                <a:solidFill>
                  <a:srgbClr val="CFCFC2"/>
                </a:solidFill>
                <a:latin typeface="Consolas"/>
              </a:rPr>
              <a:t> (ALWAYS runs, outside the box)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Condition is TRUE → box opens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Same diagram as S065b, but with annotations: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Condition is FALSE → box stays closed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Same diagram, different annotations: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happens without indentation?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score &gt; </a:t>
            </a:r>
            <a:r>
              <a:rPr sz="1800">
                <a:solidFill>
                  <a:srgbClr val="F67400"/>
                </a:solidFill>
                <a:latin typeface="Consolas"/>
              </a:rPr>
              <a:t>5</a:t>
            </a:r>
            <a:r>
              <a:rPr sz="1800">
                <a:solidFill>
                  <a:srgbClr val="CFCFC2"/>
                </a:solidFill>
                <a:latin typeface="Consolas"/>
              </a:rPr>
              <a:t>:    ← the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44F4F"/>
                </a:solidFill>
                <a:latin typeface="Consolas"/>
              </a:rPr>
              <a:t>"winning"</a:t>
            </a:r>
            <a:r>
              <a:rPr sz="1800">
                <a:solidFill>
                  <a:srgbClr val="CFCFC2"/>
                </a:solidFill>
                <a:latin typeface="Consolas"/>
              </a:rPr>
              <a:t>) ← NOT indented → NOT inside the box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44F4F"/>
                </a:solidFill>
                <a:latin typeface="Consolas"/>
              </a:rPr>
              <a:t>"done"</a:t>
            </a:r>
            <a:r>
              <a:rPr sz="1800">
                <a:solidFill>
                  <a:srgbClr val="CFCFC2"/>
                </a:solidFill>
                <a:latin typeface="Consolas"/>
              </a:rPr>
              <a:t>)    ← NOT indented → also not inside the box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box rule applies to EVERYTHING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opens a box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func ...: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opens a box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... in ...: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opens a box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else: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opens a box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Anything followed by a colon `:` opens a box. What's indented under it is inside.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Quiz: Which lines run when the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is TRUE?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health &gt; </a:t>
            </a:r>
            <a:r>
              <a:rPr sz="1800">
                <a:solidFill>
                  <a:srgbClr val="F67400"/>
                </a:solidFill>
                <a:latin typeface="Consolas"/>
              </a:rPr>
              <a:t>0</a:t>
            </a:r>
            <a:r>
              <a:rPr sz="1800">
                <a:solidFill>
                  <a:srgbClr val="CFCFC2"/>
                </a:solidFill>
                <a:latin typeface="Consolas"/>
              </a:rPr>
              <a:t>:       ← condition = TRUE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line </a:t>
            </a:r>
            <a:r>
              <a:rPr sz="1800">
                <a:solidFill>
                  <a:srgbClr val="F67400"/>
                </a:solidFill>
                <a:latin typeface="Consolas"/>
              </a:rPr>
              <a:t>1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line </a:t>
            </a:r>
            <a:r>
              <a:rPr sz="1800">
                <a:solidFill>
                  <a:srgbClr val="F67400"/>
                </a:solidFill>
                <a:latin typeface="Consolas"/>
              </a:rPr>
              <a:t>2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line </a:t>
            </a:r>
            <a:r>
              <a:rPr sz="1800">
                <a:solidFill>
                  <a:srgbClr val="F67400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Quiz: Which line ALWAYS runs?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is_paused: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line </a:t>
            </a:r>
            <a:r>
              <a:rPr sz="1800">
                <a:solidFill>
                  <a:srgbClr val="F67400"/>
                </a:solidFill>
                <a:latin typeface="Consolas"/>
              </a:rPr>
              <a:t>1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line </a:t>
            </a:r>
            <a:r>
              <a:rPr sz="1800">
                <a:solidFill>
                  <a:srgbClr val="F67400"/>
                </a:solidFill>
                <a:latin typeface="Consolas"/>
              </a:rPr>
              <a:t>2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line </a:t>
            </a:r>
            <a:r>
              <a:rPr sz="1800">
                <a:solidFill>
                  <a:srgbClr val="F67400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Quiz: Nested boxes — what runs?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has_key: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line </a:t>
            </a:r>
            <a:r>
              <a:rPr sz="1800">
                <a:solidFill>
                  <a:srgbClr val="F67400"/>
                </a:solidFill>
                <a:latin typeface="Consolas"/>
              </a:rPr>
              <a:t>1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door_locked: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line </a:t>
            </a:r>
            <a:r>
              <a:rPr sz="1800">
                <a:solidFill>
                  <a:srgbClr val="F67400"/>
                </a:solidFill>
                <a:latin typeface="Consolas"/>
              </a:rPr>
              <a:t>2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line </a:t>
            </a:r>
            <a:r>
              <a:rPr sz="1800">
                <a:solidFill>
                  <a:srgbClr val="F67400"/>
                </a:solidFill>
                <a:latin typeface="Consolas"/>
              </a:rPr>
              <a:t>3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line </a:t>
            </a:r>
            <a:r>
              <a:rPr sz="1800">
                <a:solidFill>
                  <a:srgbClr val="F67400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IF you're hungry → eat.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Real life is full of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if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rules.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IF you finish your veggies → you get dessert.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"What if you DIDN'T finish?"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is a rule that only fires when its condition is true.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"Otherwise: nothing."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Every game runs on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checks. Every. Single. Frame.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button pressed → jump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enemy near → attack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health = 0 → game over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"IF the player has NOT pressed Space yet → freeze the ball. Use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return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to skip the rest of the frame."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75</a:t>
            </a:r>
          </a:p>
        </p:txBody>
      </p:sp>
      <p:pic>
        <p:nvPicPr>
          <p:cNvPr id="8" name="Picture 7" descr="D1C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19279"/>
            <a:ext cx="6766377" cy="201380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Inside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_process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function, near the top.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Input.</a:t>
            </a:r>
            <a:r>
              <a:rPr sz="1800">
                <a:solidFill>
                  <a:srgbClr val="8E44AD"/>
                </a:solidFill>
                <a:latin typeface="Consolas"/>
              </a:rPr>
              <a:t>is_key_pressed</a:t>
            </a:r>
            <a:r>
              <a:rPr sz="1800">
                <a:solidFill>
                  <a:srgbClr val="CFCFC2"/>
                </a:solidFill>
                <a:latin typeface="Consolas"/>
              </a:rPr>
              <a:t>(KEY_SPACE):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ball_moving = </a:t>
            </a:r>
            <a:r>
              <a:rPr sz="1800">
                <a:solidFill>
                  <a:srgbClr val="27AEAE"/>
                </a:solidFill>
                <a:latin typeface="Consolas"/>
              </a:rPr>
              <a:t>true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ball_moving == </a:t>
            </a:r>
            <a:r>
              <a:rPr sz="1800">
                <a:solidFill>
                  <a:srgbClr val="27AEAE"/>
                </a:solidFill>
                <a:latin typeface="Consolas"/>
              </a:rPr>
              <a:t>false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DBC4B"/>
                </a:solidFill>
                <a:latin typeface="Consolas"/>
              </a:rPr>
              <a:t>return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Two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checks — one listens for Space, one freezes the ball.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 ball should wait. Without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return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it starts moving the moment the game opens.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Input.is_key_pressed(KEY_SPACE)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asks 'is Space held right now?'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return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stops the rest of the function.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#4 — Space key + ball freeze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Input.</a:t>
            </a:r>
            <a:r>
              <a:rPr sz="1400">
                <a:solidFill>
                  <a:srgbClr val="8E44AD"/>
                </a:solidFill>
                <a:latin typeface="Consolas"/>
              </a:rPr>
              <a:t>is_key_pressed</a:t>
            </a:r>
            <a:r>
              <a:rPr sz="1400">
                <a:solidFill>
                  <a:srgbClr val="CFCFC2"/>
                </a:solidFill>
                <a:latin typeface="Consolas"/>
              </a:rPr>
              <a:t>(KEY_SPACE):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  variable = </a:t>
            </a:r>
            <a:r>
              <a:rPr sz="1400">
                <a:solidFill>
                  <a:srgbClr val="27AEAE"/>
                </a:solidFill>
                <a:latin typeface="Consolas"/>
              </a:rPr>
              <a:t>true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variable == </a:t>
            </a:r>
            <a:r>
              <a:rPr sz="1400">
                <a:solidFill>
                  <a:srgbClr val="27AEAE"/>
                </a:solidFill>
                <a:latin typeface="Consolas"/>
              </a:rPr>
              <a:t>false</a:t>
            </a:r>
            <a:r>
              <a:rPr sz="14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  </a:t>
            </a:r>
            <a:r>
              <a:rPr sz="1400">
                <a:solidFill>
                  <a:srgbClr val="FDBC4B"/>
                </a:solidFill>
                <a:latin typeface="Consolas"/>
              </a:rPr>
              <a:t>return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Space is pressed: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set ball_moving to true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ball_moving is false: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return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It works! The ball waits for Space.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F5. The ball sits frozen at the centre until you tap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Space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 Then it moves.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Input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is an object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Input.</a:t>
            </a:r>
            <a:r>
              <a:rPr sz="1800">
                <a:solidFill>
                  <a:srgbClr val="8E44AD"/>
                </a:solidFill>
                <a:latin typeface="Consolas"/>
              </a:rPr>
              <a:t>is_key_pressed</a:t>
            </a:r>
            <a:r>
              <a:rPr sz="1800">
                <a:solidFill>
                  <a:srgbClr val="CFCFC2"/>
                </a:solidFill>
                <a:latin typeface="Consolas"/>
              </a:rPr>
              <a:t>(KEY_SPACE)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↑       ↑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object   verb (ask Input to check a key)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There is no ONE right answer in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For any problem in programming, there are thousands — sometimes MILLIONS — of valid solutions.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examples on the left side of TODO slides are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one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way. Your way is just as valid if it works.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What matters: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does it run? does it do what you wanted?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If yes — it's correct.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Updating a 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We already know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var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makes a variable. Now we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UPDATE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one — read the current value, do some math, put the new value back.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ball.position.x += ball_speed_x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ball.position.y += ball_speed_y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Two lines — move the ball left-right, and up-down, every frame.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this, the ball just sits there. This is the only reason anything moves.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+=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reads the current value, adds the speed, and puts the result back. Long form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x = x + speed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also works.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#5 — Move the ball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x = x + amount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x += amount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ball.position.x += ball_speed_x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add ball_speed_x to ball.position.x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add ball_speed_y to ball.position.y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ball moves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F5, then Space. The ball drifts off the right side of the screen. That's expected — TODO #6 catches it.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/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else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else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is the OTHERWISE branch.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"When the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if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is NOT true → run the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else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block instead."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 / else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= two paths. ONE always runs.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Fork in the road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Sign reads: IF it's daytime → go left. ELSE → go right.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IF it's raining → umbrella.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"ELSE → ?"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One of the two paths ALWAYS runs.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Two-outcome checks are everywhere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you have the key → open the door, else → it stays locked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HP &gt; 0 → take damage, else → game over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input pressed → move, else → idle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"IF the ball hit the top OR bottom wall → flip its vertical speed. ELSE → let it keep going."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are the borders?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var upper_border = </a:t>
            </a:r>
            <a:r>
              <a:rPr sz="1800">
                <a:solidFill>
                  <a:srgbClr val="F67400"/>
                </a:solidFill>
                <a:latin typeface="Consolas"/>
              </a:rPr>
              <a:t>0</a:t>
            </a:r>
            <a:r>
              <a:rPr sz="1800">
                <a:solidFill>
                  <a:srgbClr val="CFCFC2"/>
                </a:solidFill>
                <a:latin typeface="Consolas"/>
              </a:rPr>
              <a:t>     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 top of screen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var lower_border = SCREEN_H - BALL_SIZE  </a:t>
            </a:r>
            <a:r>
              <a:rPr sz="1800">
                <a:solidFill>
                  <a:srgbClr val="7A7C7D"/>
                </a:solidFill>
                <a:latin typeface="Consolas"/>
              </a:rPr>
              <a:t># = 648 - 20 = 628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Why subtract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BALL_SIZE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y = </a:t>
            </a:r>
            <a:r>
              <a:rPr sz="1800">
                <a:solidFill>
                  <a:srgbClr val="F67400"/>
                </a:solidFill>
                <a:latin typeface="Consolas"/>
              </a:rPr>
              <a:t>628</a:t>
            </a:r>
            <a:r>
              <a:rPr sz="1800">
                <a:solidFill>
                  <a:srgbClr val="CFCFC2"/>
                </a:solidFill>
                <a:latin typeface="Consolas"/>
              </a:rPr>
              <a:t>  →  ball top-left at </a:t>
            </a:r>
            <a:r>
              <a:rPr sz="1800">
                <a:solidFill>
                  <a:srgbClr val="F67400"/>
                </a:solidFill>
                <a:latin typeface="Consolas"/>
              </a:rPr>
              <a:t>628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    ball bottom-right at </a:t>
            </a:r>
            <a:r>
              <a:rPr sz="1800">
                <a:solidFill>
                  <a:srgbClr val="F67400"/>
                </a:solidFill>
                <a:latin typeface="Consolas"/>
              </a:rPr>
              <a:t>648</a:t>
            </a:r>
            <a:r>
              <a:rPr sz="1800">
                <a:solidFill>
                  <a:srgbClr val="CFCFC2"/>
                </a:solidFill>
                <a:latin typeface="Consolas"/>
              </a:rPr>
              <a:t>  ← just touching the wall ✓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y = </a:t>
            </a:r>
            <a:r>
              <a:rPr sz="1800">
                <a:solidFill>
                  <a:srgbClr val="F67400"/>
                </a:solidFill>
                <a:latin typeface="Consolas"/>
              </a:rPr>
              <a:t>648</a:t>
            </a:r>
            <a:r>
              <a:rPr sz="1800">
                <a:solidFill>
                  <a:srgbClr val="CFCFC2"/>
                </a:solidFill>
                <a:latin typeface="Consolas"/>
              </a:rPr>
              <a:t>  →  ball has already gone OFF the screen ✗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Math figures it out for you.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Instead of guessing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628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we wrote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SCREEN_H - BALL_SIZE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you change the screen size, or the ball size, the border updates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automatically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you don't touch it.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This is why game developers use math: one formula that works for any size, any speed, any screen.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You'll need this kind of thinking later this week.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Keep it in mind.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var upper_border = </a:t>
            </a:r>
            <a:r>
              <a:rPr sz="1800">
                <a:solidFill>
                  <a:srgbClr val="F67400"/>
                </a:solidFill>
                <a:latin typeface="Consolas"/>
              </a:rPr>
              <a:t>0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var lower_border = SCREEN_H - BALL_SIZE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ball.position.y &lt; upper_border or ball.position.y &gt; lower_border: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ball_speed_y = -ball_speed_y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else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DBC4B"/>
                </a:solidFill>
                <a:latin typeface="Consolas"/>
              </a:rPr>
              <a:t>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Named border variables + an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if/else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that bounces the ball off the top and bottom.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this, the ball drifts off screen.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checks both walls in one line.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Negating speed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-ball_speed_y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 flips its direction.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else: pass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means 'otherwise do nothing'.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#6 — Wall bounce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var upper_border = </a:t>
            </a:r>
            <a:r>
              <a:rPr sz="1400">
                <a:solidFill>
                  <a:srgbClr val="F67400"/>
                </a:solidFill>
                <a:latin typeface="Consolas"/>
              </a:rPr>
              <a:t>0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var lower_border = SCREEN_H - BALL_SIZE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A or B: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  ball_speed_y = -ball_speed_y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FDBC4B"/>
                </a:solidFill>
                <a:latin typeface="Consolas"/>
              </a:rPr>
              <a:t>else</a:t>
            </a:r>
            <a:r>
              <a:rPr sz="14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  </a:t>
            </a:r>
            <a:r>
              <a:rPr sz="1400">
                <a:solidFill>
                  <a:srgbClr val="FDBC4B"/>
                </a:solidFill>
                <a:latin typeface="Consolas"/>
              </a:rPr>
              <a:t>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var upper_border = </a:t>
            </a:r>
            <a:r>
              <a:rPr sz="1400">
                <a:solidFill>
                  <a:srgbClr val="F67400"/>
                </a:solidFill>
                <a:latin typeface="Consolas"/>
              </a:rPr>
              <a:t>0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var lower_border = SCREEN_H - BALL_SIZE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ball.position.y &lt; upper_border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or ball.position.y &gt; lower_border: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flip ball_speed_y (negate it)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else: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ball bounces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F5, then Space. The ball ricochets off the top and bottom walls now. It still flies off the LEFT and RIGHT sides — TODO #8 fixes that.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— without an else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Same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if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from chunk #6b. This time we use it WITHOUT an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else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 If the check fails → nothing happens (no else, no other path).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ball.position.x &gt; SCREEN_W: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44F4F"/>
                </a:solidFill>
                <a:latin typeface="Consolas"/>
              </a:rPr>
              <a:t>"point!"</a:t>
            </a:r>
            <a:r>
              <a:rPr sz="1800">
                <a:solidFill>
                  <a:srgbClr val="CFCFC2"/>
                </a:solidFill>
                <a:latin typeface="Consolas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check — if the ball went past the right edge, print a message.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This is a 'does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even work?' test before adding real scoring in TODO #8.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print()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sends text to the Output panel at the bottom of Godot. Great for debugging.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#7 — Print 'point!'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ball.position.x &gt; SCREEN_W: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  </a:t>
            </a:r>
            <a:r>
              <a:rPr sz="1400">
                <a:solidFill>
                  <a:srgbClr val="7F8C8D"/>
                </a:solidFill>
                <a:latin typeface="Consolas"/>
              </a:rPr>
              <a:t>print</a:t>
            </a:r>
            <a:r>
              <a:rPr sz="1400">
                <a:solidFill>
                  <a:srgbClr val="CFCFC2"/>
                </a:solidFill>
                <a:latin typeface="Consolas"/>
              </a:rPr>
              <a:t>(</a:t>
            </a:r>
            <a:r>
              <a:rPr sz="1400">
                <a:solidFill>
                  <a:srgbClr val="F44F4F"/>
                </a:solidFill>
                <a:latin typeface="Consolas"/>
              </a:rPr>
              <a:t>"your message here"</a:t>
            </a:r>
            <a:r>
              <a:rPr sz="1400">
                <a:solidFill>
                  <a:srgbClr val="CFCFC2"/>
                </a:solidFill>
                <a:latin typeface="Consolas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ball.position.x is past SCREEN_W: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print("point!")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See the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()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after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print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'point!' shows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F5. Let the ball go past the right edge. Look at the Output panel —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point!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prints.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Comparison operators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&gt;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and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&lt;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&gt;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means GREATER THAN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&lt;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means LESS THAN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Use them inside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if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score &gt; </a:t>
            </a:r>
            <a:r>
              <a:rPr sz="1800">
                <a:solidFill>
                  <a:srgbClr val="F67400"/>
                </a:solidFill>
                <a:latin typeface="Consolas"/>
              </a:rPr>
              <a:t>5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44F4F"/>
                </a:solidFill>
                <a:latin typeface="Consolas"/>
              </a:rPr>
              <a:t>"winning"</a:t>
            </a:r>
            <a:r>
              <a:rPr sz="1800">
                <a:solidFill>
                  <a:srgbClr val="CFCFC2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rollercoaster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YOU MUST BE THIS TALL → 48 inches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You're 50 inches tall.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"Can you ride? What's the check?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your_height &gt; 48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— true or false?"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&gt;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and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&lt;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let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compare two numbers.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Games are constantly comparing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score &gt; high score?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health &lt; 20%?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enemy distance &lt; 100 pixels?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timer == 0?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"Is the ball past the right edge? (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ball.x &gt; SCREEN_W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) → left player scores. Past the left edge? (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ball.x &lt; 0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) → right player scores."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112</a:t>
            </a:r>
          </a:p>
        </p:txBody>
      </p:sp>
      <p:pic>
        <p:nvPicPr>
          <p:cNvPr id="8" name="Picture 7" descr="D1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07492"/>
            <a:ext cx="6766377" cy="163737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Same area you put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print(\"point!\")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test. We're upgrading it to real scoring.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ball.position.x &gt; SCREEN_W: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left_score += </a:t>
            </a:r>
            <a:r>
              <a:rPr sz="1800">
                <a:solidFill>
                  <a:srgbClr val="F67400"/>
                </a:solidFill>
                <a:latin typeface="Consolas"/>
              </a:rPr>
              <a:t>1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8E44AD"/>
                </a:solidFill>
                <a:latin typeface="Consolas"/>
              </a:rPr>
              <a:t>reset_ball</a:t>
            </a:r>
            <a:r>
              <a:rPr sz="1800">
                <a:solidFill>
                  <a:srgbClr val="CFCFC2"/>
                </a:solidFill>
                <a:latin typeface="Consolas"/>
              </a:rPr>
              <a:t>()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ball.position.x &lt; </a:t>
            </a:r>
            <a:r>
              <a:rPr sz="1800">
                <a:solidFill>
                  <a:srgbClr val="F67400"/>
                </a:solidFill>
                <a:latin typeface="Consolas"/>
              </a:rPr>
              <a:t>0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right_score += </a:t>
            </a:r>
            <a:r>
              <a:rPr sz="1800">
                <a:solidFill>
                  <a:srgbClr val="F67400"/>
                </a:solidFill>
                <a:latin typeface="Consolas"/>
              </a:rPr>
              <a:t>1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8E44AD"/>
                </a:solidFill>
                <a:latin typeface="Consolas"/>
              </a:rPr>
              <a:t>reset_ball</a:t>
            </a:r>
            <a:r>
              <a:rPr sz="1800">
                <a:solidFill>
                  <a:srgbClr val="CFCFC2"/>
                </a:solidFill>
                <a:latin typeface="Consolas"/>
              </a:rPr>
              <a:t>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Two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blocks — one for each edge. Ball exits right → left player scores. Ball exits left → right player scores.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TODO #7 just printed text. This upgrades it to real scoring with the counter you set up in TODO #1.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reset_ball()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pre-written for you — it moves the ball back to centre.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+= 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adds one 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#8 — Real scoring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left_score += </a:t>
            </a:r>
            <a:r>
              <a:rPr sz="1400">
                <a:solidFill>
                  <a:srgbClr val="F67400"/>
                </a:solidFill>
                <a:latin typeface="Consolas"/>
              </a:rPr>
              <a:t>1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8E44AD"/>
                </a:solidFill>
                <a:latin typeface="Consolas"/>
              </a:rPr>
              <a:t>reset_ball</a:t>
            </a:r>
            <a:r>
              <a:rPr sz="1400">
                <a:solidFill>
                  <a:srgbClr val="CFCFC2"/>
                </a:solidFill>
                <a:latin typeface="Consolas"/>
              </a:rPr>
              <a:t>()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ball.position.x &gt; SCREEN_W: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  ...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ball.position.x &lt; </a:t>
            </a:r>
            <a:r>
              <a:rPr sz="1400">
                <a:solidFill>
                  <a:srgbClr val="F67400"/>
                </a:solidFill>
                <a:latin typeface="Consolas"/>
              </a:rPr>
              <a:t>0</a:t>
            </a:r>
            <a:r>
              <a:rPr sz="14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 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ball passed right edge (&gt; SCREEN_W):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add 1 to left_score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call reset_ball()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ball passed left edge (&lt; 0):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add 1 to right_score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call reset_ball()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scoreboard counts!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F5, then Space. Score a point past either edge. The number at the top of the screen jumps up.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Personalization Break — Make it yours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ball bounces and scoring works. Pause and make this Pong YOURS: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• Change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ball_speed_x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ball_speed_y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how fast do you want it?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• Change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paddle_speed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is it too slow? Too fast?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• Change ball/paddle colour in the Inspector (click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node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 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Save (Ctrl+S) and run (F5) after each change.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Remember your silly variables from TODO #2?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Time to put them ON SCREEN. But there's one problem — the scoreboard only holds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text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, and your variables are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numbers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 We need to convert them.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str()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turns a number into 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F8C8D"/>
                </a:solidFill>
                <a:latin typeface="Consolas"/>
              </a:rPr>
              <a:t>str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67400"/>
                </a:solidFill>
                <a:latin typeface="Consolas"/>
              </a:rPr>
              <a:t>99</a:t>
            </a:r>
            <a:r>
              <a:rPr sz="1800">
                <a:solidFill>
                  <a:srgbClr val="CFCFC2"/>
                </a:solidFill>
                <a:latin typeface="Consolas"/>
              </a:rPr>
              <a:t>)      </a:t>
            </a:r>
            <a:r>
              <a:rPr sz="1800">
                <a:solidFill>
                  <a:srgbClr val="7A7C7D"/>
                </a:solidFill>
                <a:latin typeface="Consolas"/>
              </a:rPr>
              <a:t># → "99"   (the number 99 as text)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F8C8D"/>
                </a:solidFill>
                <a:latin typeface="Consolas"/>
              </a:rPr>
              <a:t>str</a:t>
            </a:r>
            <a:r>
              <a:rPr sz="1800">
                <a:solidFill>
                  <a:srgbClr val="CFCFC2"/>
                </a:solidFill>
                <a:latin typeface="Consolas"/>
              </a:rPr>
              <a:t>(skibidi_speed)   </a:t>
            </a:r>
            <a:r>
              <a:rPr sz="1800">
                <a:solidFill>
                  <a:srgbClr val="7A7C7D"/>
                </a:solidFill>
                <a:latin typeface="Consolas"/>
              </a:rPr>
              <a:t># → "99"  (whatever value the variable holds)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Joining text pieces with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44F4F"/>
                </a:solidFill>
                <a:latin typeface="Consolas"/>
              </a:rPr>
              <a:t>"Speed: "</a:t>
            </a:r>
            <a:r>
              <a:rPr sz="1800">
                <a:solidFill>
                  <a:srgbClr val="CFCFC2"/>
                </a:solidFill>
                <a:latin typeface="Consolas"/>
              </a:rPr>
              <a:t> + </a:t>
            </a:r>
            <a:r>
              <a:rPr sz="1800">
                <a:solidFill>
                  <a:srgbClr val="7F8C8D"/>
                </a:solidFill>
                <a:latin typeface="Consolas"/>
              </a:rPr>
              <a:t>str</a:t>
            </a:r>
            <a:r>
              <a:rPr sz="1800">
                <a:solidFill>
                  <a:srgbClr val="CFCFC2"/>
                </a:solidFill>
                <a:latin typeface="Consolas"/>
              </a:rPr>
              <a:t>(skibidi_speed)   </a:t>
            </a:r>
            <a:r>
              <a:rPr sz="1800">
                <a:solidFill>
                  <a:srgbClr val="7A7C7D"/>
                </a:solidFill>
                <a:latin typeface="Consolas"/>
              </a:rPr>
              <a:t># → "Speed: 99"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44F4F"/>
                </a:solidFill>
                <a:latin typeface="Consolas"/>
              </a:rPr>
              <a:t>"★ "</a:t>
            </a:r>
            <a:r>
              <a:rPr sz="1800">
                <a:solidFill>
                  <a:srgbClr val="CFCFC2"/>
                </a:solidFill>
                <a:latin typeface="Consolas"/>
              </a:rPr>
              <a:t> + </a:t>
            </a:r>
            <a:r>
              <a:rPr sz="1800">
                <a:solidFill>
                  <a:srgbClr val="7F8C8D"/>
                </a:solidFill>
                <a:latin typeface="Consolas"/>
              </a:rPr>
              <a:t>str</a:t>
            </a:r>
            <a:r>
              <a:rPr sz="1800">
                <a:solidFill>
                  <a:srgbClr val="CFCFC2"/>
                </a:solidFill>
                <a:latin typeface="Consolas"/>
              </a:rPr>
              <a:t>(gyatt_factor) + </a:t>
            </a:r>
            <a:r>
              <a:rPr sz="1800">
                <a:solidFill>
                  <a:srgbClr val="F44F4F"/>
                </a:solidFill>
                <a:latin typeface="Consolas"/>
              </a:rPr>
              <a:t>" ★"</a:t>
            </a:r>
            <a:r>
              <a:rPr sz="1800">
                <a:solidFill>
                  <a:srgbClr val="CFCFC2"/>
                </a:solidFill>
                <a:latin typeface="Consolas"/>
              </a:rPr>
              <a:t> </a:t>
            </a:r>
            <a:r>
              <a:rPr sz="1800">
                <a:solidFill>
                  <a:srgbClr val="7A7C7D"/>
                </a:solidFill>
                <a:latin typeface="Consolas"/>
              </a:rPr>
              <a:t># → "★ 42 ★"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Appending with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+=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score_label.text += </a:t>
            </a:r>
            <a:r>
              <a:rPr sz="1800">
                <a:solidFill>
                  <a:srgbClr val="F44F4F"/>
                </a:solidFill>
                <a:latin typeface="Consolas"/>
              </a:rPr>
              <a:t>"   ★ "</a:t>
            </a:r>
            <a:r>
              <a:rPr sz="1800">
                <a:solidFill>
                  <a:srgbClr val="CFCFC2"/>
                </a:solidFill>
                <a:latin typeface="Consolas"/>
              </a:rPr>
              <a:t> + </a:t>
            </a:r>
            <a:r>
              <a:rPr sz="1800">
                <a:solidFill>
                  <a:srgbClr val="7F8C8D"/>
                </a:solidFill>
                <a:latin typeface="Consolas"/>
              </a:rPr>
              <a:t>str</a:t>
            </a:r>
            <a:r>
              <a:rPr sz="1800">
                <a:solidFill>
                  <a:srgbClr val="CFCFC2"/>
                </a:solidFill>
                <a:latin typeface="Consolas"/>
              </a:rPr>
              <a:t>(skibidi_speed)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reads: "stick this onto the end of whatever's already there"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score_label.text += </a:t>
            </a:r>
            <a:r>
              <a:rPr sz="1800">
                <a:solidFill>
                  <a:srgbClr val="F44F4F"/>
                </a:solidFill>
                <a:latin typeface="Consolas"/>
              </a:rPr>
              <a:t>"   ★ "</a:t>
            </a:r>
            <a:r>
              <a:rPr sz="1800">
                <a:solidFill>
                  <a:srgbClr val="CFCFC2"/>
                </a:solidFill>
                <a:latin typeface="Consolas"/>
              </a:rPr>
              <a:t> + </a:t>
            </a:r>
            <a:r>
              <a:rPr sz="1800">
                <a:solidFill>
                  <a:srgbClr val="7F8C8D"/>
                </a:solidFill>
                <a:latin typeface="Consolas"/>
              </a:rPr>
              <a:t>str</a:t>
            </a:r>
            <a:r>
              <a:rPr sz="1800">
                <a:solidFill>
                  <a:srgbClr val="CFCFC2"/>
                </a:solidFill>
                <a:latin typeface="Consolas"/>
              </a:rPr>
              <a:t>(skibidi_speed) + </a:t>
            </a:r>
            <a:r>
              <a:rPr sz="1800">
                <a:solidFill>
                  <a:srgbClr val="F44F4F"/>
                </a:solidFill>
                <a:latin typeface="Consolas"/>
              </a:rPr>
              <a:t>" ★ "</a:t>
            </a:r>
            <a:r>
              <a:rPr sz="1800">
                <a:solidFill>
                  <a:srgbClr val="CFCFC2"/>
                </a:solidFill>
                <a:latin typeface="Consolas"/>
              </a:rPr>
              <a:t> + </a:t>
            </a:r>
            <a:r>
              <a:rPr sz="1800">
                <a:solidFill>
                  <a:srgbClr val="7F8C8D"/>
                </a:solidFill>
                <a:latin typeface="Consolas"/>
              </a:rPr>
              <a:t>str</a:t>
            </a:r>
            <a:r>
              <a:rPr sz="1800">
                <a:solidFill>
                  <a:srgbClr val="CFCFC2"/>
                </a:solidFill>
                <a:latin typeface="Consolas"/>
              </a:rPr>
              <a:t>(gyatt_factor)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One line that appends your silly variables onto the scoreboard text.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Your variables from TODO #2 have been sitting there doing nothing. Now they show up live in the game.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str()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converts a number to text.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+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joins text pieces.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+=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adds to what's already on the scoreboard.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#9 — Scoreboard personalisation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F8C8D"/>
                </a:solidFill>
                <a:latin typeface="Consolas"/>
              </a:rPr>
              <a:t>str</a:t>
            </a:r>
            <a:r>
              <a:rPr sz="1400">
                <a:solidFill>
                  <a:srgbClr val="CFCFC2"/>
                </a:solidFill>
                <a:latin typeface="Consolas"/>
              </a:rPr>
              <a:t>(your_variable)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F44F4F"/>
                </a:solidFill>
                <a:latin typeface="Consolas"/>
              </a:rPr>
              <a:t>"label: "</a:t>
            </a:r>
            <a:r>
              <a:rPr sz="1400">
                <a:solidFill>
                  <a:srgbClr val="CFCFC2"/>
                </a:solidFill>
                <a:latin typeface="Consolas"/>
              </a:rPr>
              <a:t> + </a:t>
            </a:r>
            <a:r>
              <a:rPr sz="1400">
                <a:solidFill>
                  <a:srgbClr val="7F8C8D"/>
                </a:solidFill>
                <a:latin typeface="Consolas"/>
              </a:rPr>
              <a:t>str</a:t>
            </a:r>
            <a:r>
              <a:rPr sz="1400">
                <a:solidFill>
                  <a:srgbClr val="CFCFC2"/>
                </a:solidFill>
                <a:latin typeface="Consolas"/>
              </a:rPr>
              <a:t>(variable)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score_label.text += </a:t>
            </a:r>
            <a:r>
              <a:rPr sz="1400">
                <a:solidFill>
                  <a:srgbClr val="F44F4F"/>
                </a:solidFill>
                <a:latin typeface="Consolas"/>
              </a:rPr>
              <a:t>" more text"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score_label.text += </a:t>
            </a:r>
            <a:r>
              <a:rPr sz="1400">
                <a:solidFill>
                  <a:srgbClr val="F44F4F"/>
                </a:solidFill>
                <a:latin typeface="Consolas"/>
              </a:rPr>
              <a:t>" ★ "</a:t>
            </a:r>
            <a:r>
              <a:rPr sz="1400">
                <a:solidFill>
                  <a:srgbClr val="CFCFC2"/>
                </a:solidFill>
                <a:latin typeface="Consolas"/>
              </a:rPr>
              <a:t> + </a:t>
            </a:r>
            <a:r>
              <a:rPr sz="1400">
                <a:solidFill>
                  <a:srgbClr val="7F8C8D"/>
                </a:solidFill>
                <a:latin typeface="Consolas"/>
              </a:rPr>
              <a:t>str</a:t>
            </a:r>
            <a:r>
              <a:rPr sz="1400">
                <a:solidFill>
                  <a:srgbClr val="CFCFC2"/>
                </a:solidFill>
                <a:latin typeface="Consolas"/>
              </a:rPr>
              <a:t>(x)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append first silly var to score_label.text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use str() to convert it, + to join with a label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append second silly var too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add stars, emojis, labels if you want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Your variables, live on the scoreboard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Run it. The scoreboard now shows your silly variables right next to the score. Have your neighbour read theirs out loud.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Make it yours — Personalization Sessions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More ways to make this Pong YOUR Pong. Pick any, in any order.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125</a:t>
            </a:r>
          </a:p>
        </p:txBody>
      </p:sp>
      <p:pic>
        <p:nvPicPr>
          <p:cNvPr id="8" name="Picture 7" descr="D1B1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87376"/>
            <a:ext cx="6766377" cy="3677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Run the game, then look at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Inspector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 the right.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 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 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are right there — click a swatch, pick any colour, then Save (Ctrl+S) and run (F5).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126</a:t>
            </a:r>
          </a:p>
        </p:txBody>
      </p:sp>
      <p:pic>
        <p:nvPicPr>
          <p:cNvPr id="8" name="Picture 7" descr="D1B1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87459"/>
            <a:ext cx="6766376" cy="34774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At the top of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two lines define them: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@export var ball_color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@export var paddle_color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The magic word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@export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what makes a variable show up in the Inspector.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127</a:t>
            </a:r>
          </a:p>
        </p:txBody>
      </p:sp>
      <p:pic>
        <p:nvPicPr>
          <p:cNvPr id="8" name="Picture 7" descr="D1B3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93731"/>
            <a:ext cx="6766377" cy="426489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find your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TODO #2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variables. Rename them to something even funnier. Then find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TODO #9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(the scoreboard) and update the name there too — they must match.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Final Challenge — make Pong 2-player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Open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player2.gd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(it's on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PaddleRight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node). Two TODOs inside: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FC-1 — comment out the AI (right paddle plays itself → should sit still)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FC-2 — add I/K key movement for a real second player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FC-3 (bonus) — random ball respawn angle with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randf_range()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already did every piece this morning. Give it a whirl.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FC-1 + FC-2 — AI off, real player 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FC-1 — comment out (Ctrl+K)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put # at start of each AI line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Input.</a:t>
            </a:r>
            <a:r>
              <a:rPr sz="1400">
                <a:solidFill>
                  <a:srgbClr val="8E44AD"/>
                </a:solidFill>
                <a:latin typeface="Consolas"/>
              </a:rPr>
              <a:t>is_key_pressed</a:t>
            </a:r>
            <a:r>
              <a:rPr sz="1400">
                <a:solidFill>
                  <a:srgbClr val="CFCFC2"/>
                </a:solidFill>
                <a:latin typeface="Consolas"/>
              </a:rPr>
              <a:t>(KEY_I):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  position.y -= paddle_speed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Input.</a:t>
            </a:r>
            <a:r>
              <a:rPr sz="1400">
                <a:solidFill>
                  <a:srgbClr val="8E44AD"/>
                </a:solidFill>
                <a:latin typeface="Consolas"/>
              </a:rPr>
              <a:t>is_key_pressed</a:t>
            </a:r>
            <a:r>
              <a:rPr sz="1400">
                <a:solidFill>
                  <a:srgbClr val="CFCFC2"/>
                </a:solidFill>
                <a:latin typeface="Consolas"/>
              </a:rPr>
              <a:t>(KEY_K):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  position.y += paddle_speed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FC-1: comment out ALL 5 AI lines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(select + Ctrl+K, or add # manually)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paddle should now sit still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FC-2: add I/K key movement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I key pressed → move UP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K key pressed → move 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FC-3 (Bonus) — Random ball respawn angle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const ANGLE_MIN := -</a:t>
            </a:r>
            <a:r>
              <a:rPr sz="1400">
                <a:solidFill>
                  <a:srgbClr val="F67400"/>
                </a:solidFill>
                <a:latin typeface="Consolas"/>
              </a:rPr>
              <a:t>45.0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const ANGLE_MAX :=  </a:t>
            </a:r>
            <a:r>
              <a:rPr sz="1400">
                <a:solidFill>
                  <a:srgbClr val="F67400"/>
                </a:solidFill>
                <a:latin typeface="Consolas"/>
              </a:rPr>
              <a:t>45.0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var angle = </a:t>
            </a:r>
            <a:r>
              <a:rPr sz="1400">
                <a:solidFill>
                  <a:srgbClr val="8E44AD"/>
                </a:solidFill>
                <a:latin typeface="Consolas"/>
              </a:rPr>
              <a:t>randf_range</a:t>
            </a:r>
            <a:r>
              <a:rPr sz="1400">
                <a:solidFill>
                  <a:srgbClr val="CFCFC2"/>
                </a:solidFill>
                <a:latin typeface="Consolas"/>
              </a:rPr>
              <a:t>(ANGLE_MIN, ANGLE_MAX)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ball_speed_x = </a:t>
            </a:r>
            <a:r>
              <a:rPr sz="1400">
                <a:solidFill>
                  <a:srgbClr val="7F8C8D"/>
                </a:solidFill>
                <a:latin typeface="Consolas"/>
              </a:rPr>
              <a:t>cos</a:t>
            </a:r>
            <a:r>
              <a:rPr sz="1400">
                <a:solidFill>
                  <a:srgbClr val="CFCFC2"/>
                </a:solidFill>
                <a:latin typeface="Consolas"/>
              </a:rPr>
              <a:t>(</a:t>
            </a:r>
            <a:r>
              <a:rPr sz="1400">
                <a:solidFill>
                  <a:srgbClr val="8E44AD"/>
                </a:solidFill>
                <a:latin typeface="Consolas"/>
              </a:rPr>
              <a:t>deg_to_rad</a:t>
            </a:r>
            <a:r>
              <a:rPr sz="1400">
                <a:solidFill>
                  <a:srgbClr val="CFCFC2"/>
                </a:solidFill>
                <a:latin typeface="Consolas"/>
              </a:rPr>
              <a:t>(angle)) * </a:t>
            </a:r>
            <a:r>
              <a:rPr sz="1400">
                <a:solidFill>
                  <a:srgbClr val="F67400"/>
                </a:solidFill>
                <a:latin typeface="Consolas"/>
              </a:rPr>
              <a:t>6.0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ball_speed_y = </a:t>
            </a:r>
            <a:r>
              <a:rPr sz="1400">
                <a:solidFill>
                  <a:srgbClr val="7F8C8D"/>
                </a:solidFill>
                <a:latin typeface="Consolas"/>
              </a:rPr>
              <a:t>sin</a:t>
            </a:r>
            <a:r>
              <a:rPr sz="1400">
                <a:solidFill>
                  <a:srgbClr val="CFCFC2"/>
                </a:solidFill>
                <a:latin typeface="Consolas"/>
              </a:rPr>
              <a:t>(</a:t>
            </a:r>
            <a:r>
              <a:rPr sz="1400">
                <a:solidFill>
                  <a:srgbClr val="8E44AD"/>
                </a:solidFill>
                <a:latin typeface="Consolas"/>
              </a:rPr>
              <a:t>deg_to_rad</a:t>
            </a:r>
            <a:r>
              <a:rPr sz="1400">
                <a:solidFill>
                  <a:srgbClr val="CFCFC2"/>
                </a:solidFill>
                <a:latin typeface="Consolas"/>
              </a:rPr>
              <a:t>(angle)) * </a:t>
            </a:r>
            <a:r>
              <a:rPr sz="1400">
                <a:solidFill>
                  <a:srgbClr val="F67400"/>
                </a:solidFill>
                <a:latin typeface="Consolas"/>
              </a:rPr>
              <a:t>6.0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in reset_ball(), after position reset: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define ANGLE_MIN and ANGLE_MAX constants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pick a random angle with randf_range()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convert to x speed using cos(deg_to_rad())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convert to y speed using sin(deg_to_rad())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Day 1 assets: none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Day 1 used zero imported art. Every visible thing on screen was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ColorRect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 coloured box drawn by code. From Day 2 on, we bring in real art with Kenney.nl asset packs.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Take it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Turn your Pong into a real Windows program — a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.exe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you can run on any PC, no Godot needed. Show your family tonight.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133</a:t>
            </a:r>
          </a:p>
        </p:txBody>
      </p:sp>
      <p:pic>
        <p:nvPicPr>
          <p:cNvPr id="8" name="Picture 7" descr="D1B6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6617"/>
            <a:ext cx="6766376" cy="433912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the top menu bar,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Project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then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Export…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134</a:t>
            </a:r>
          </a:p>
        </p:txBody>
      </p:sp>
      <p:pic>
        <p:nvPicPr>
          <p:cNvPr id="8" name="Picture 7" descr="D1B6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52613"/>
            <a:ext cx="6766377" cy="41471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The Export window opens. It's empty the first time —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Add…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at the top to add a target.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135</a:t>
            </a:r>
          </a:p>
        </p:txBody>
      </p:sp>
      <p:pic>
        <p:nvPicPr>
          <p:cNvPr id="8" name="Picture 7" descr="D1B6S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10663"/>
            <a:ext cx="6766377" cy="40310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From the list, pick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Windows Desktop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that's the kind of program Windows PCs run.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136</a:t>
            </a:r>
          </a:p>
        </p:txBody>
      </p:sp>
      <p:pic>
        <p:nvPicPr>
          <p:cNvPr id="8" name="Picture 7" descr="D1B6S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46076"/>
            <a:ext cx="6766377" cy="23602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adds a Windows Desktop preset on the left. Leave the options as they are —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Runnable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on, Architecture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x86_64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137</a:t>
            </a:r>
          </a:p>
        </p:txBody>
      </p:sp>
      <p:pic>
        <p:nvPicPr>
          <p:cNvPr id="8" name="Picture 7" descr="D1B6S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80553"/>
            <a:ext cx="6766377" cy="32912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The first time on a new PC you may see a red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'No export template found'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message.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Manage Export Templates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fix it.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138</a:t>
            </a:r>
          </a:p>
        </p:txBody>
      </p:sp>
      <p:pic>
        <p:nvPicPr>
          <p:cNvPr id="8" name="Picture 7" descr="D1B6S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58843"/>
            <a:ext cx="6766377" cy="35346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the Export Template Manager,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Download and Install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Let it finish, then close. (One-time setup per computer.)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139</a:t>
            </a:r>
          </a:p>
        </p:txBody>
      </p:sp>
      <p:pic>
        <p:nvPicPr>
          <p:cNvPr id="8" name="Picture 7" descr="D1B6S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84883"/>
            <a:ext cx="6766377" cy="468259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Export Project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type a name (e.g.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Day 1 - Pong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), pick your folder, and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Save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Godot builds your game.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140</a:t>
            </a:r>
          </a:p>
        </p:txBody>
      </p:sp>
      <p:pic>
        <p:nvPicPr>
          <p:cNvPr id="8" name="Picture 7" descr="D1B6S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82839"/>
            <a:ext cx="6766377" cy="40866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writes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Day 1 - Pong.exe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plus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.pck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data file into your folder. Double-click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.exe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your Pong runs with no Godot needed. Keep the two files together.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It's really yours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Copy that folder to a USB stick or send it to a friend. It runs on any Windows PC. You built and shipped a real game on day one.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Tomorrow: Pac-Man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1980. The next leap. We trade coloured rectangles for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tiles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and learn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loops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functions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bring a whole maze to life.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6235</Words>
  <Application>Microsoft Macintosh PowerPoint</Application>
  <PresentationFormat>Widescreen</PresentationFormat>
  <Paragraphs>1049</Paragraphs>
  <Slides>142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142</vt:i4>
      </vt:variant>
    </vt:vector>
  </HeadingPairs>
  <TitlesOfParts>
    <vt:vector size="147" baseType="lpstr">
      <vt:lpstr>Arial</vt:lpstr>
      <vt:lpstr>Calibri</vt:lpstr>
      <vt:lpstr>Consolas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Westley Yarlott</cp:lastModifiedBy>
  <cp:revision>1</cp:revision>
  <dcterms:created xsi:type="dcterms:W3CDTF">2013-01-27T09:14:16Z</dcterms:created>
  <dcterms:modified xsi:type="dcterms:W3CDTF">2026-06-21T01:13:51Z</dcterms:modified>
  <cp:category/>
</cp:coreProperties>
</file>