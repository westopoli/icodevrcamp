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1" r:id="rId66"/>
    <p:sldId id="322" r:id="rId67"/>
    <p:sldId id="323" r:id="rId68"/>
    <p:sldId id="324" r:id="rId69"/>
    <p:sldId id="325" r:id="rId70"/>
    <p:sldId id="326" r:id="rId71"/>
    <p:sldId id="327" r:id="rId72"/>
    <p:sldId id="328" r:id="rId73"/>
    <p:sldId id="329" r:id="rId74"/>
    <p:sldId id="331" r:id="rId75"/>
    <p:sldId id="332" r:id="rId76"/>
    <p:sldId id="333" r:id="rId77"/>
    <p:sldId id="334" r:id="rId78"/>
    <p:sldId id="335" r:id="rId79"/>
    <p:sldId id="336" r:id="rId80"/>
    <p:sldId id="337" r:id="rId81"/>
    <p:sldId id="338" r:id="rId82"/>
    <p:sldId id="339" r:id="rId83"/>
    <p:sldId id="340" r:id="rId84"/>
    <p:sldId id="342" r:id="rId85"/>
    <p:sldId id="343" r:id="rId86"/>
    <p:sldId id="344" r:id="rId87"/>
    <p:sldId id="345" r:id="rId88"/>
    <p:sldId id="346" r:id="rId89"/>
    <p:sldId id="348" r:id="rId90"/>
    <p:sldId id="349" r:id="rId91"/>
    <p:sldId id="350" r:id="rId92"/>
    <p:sldId id="351" r:id="rId93"/>
    <p:sldId id="352" r:id="rId94"/>
    <p:sldId id="353" r:id="rId9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51" d="100"/>
          <a:sy n="151" d="100"/>
        </p:scale>
        <p:origin x="654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VR Creator - Day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43000"/>
            <a:ext cx="6766377" cy="5166360"/>
          </a:xfrm>
          <a:prstGeom prst="rect">
            <a:avLst/>
          </a:prstGeom>
          <a:solidFill>
            <a:srgbClr val="EEEEEE"/>
          </a:solidFill>
          <a:ln w="25400">
            <a:solidFill>
              <a:srgbClr val="E53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8A8A8A"/>
                </a:solidFill>
                <a:latin typeface="Poppins"/>
              </a:rPr>
              <a:t>[ MISSING: D2Pacman2.png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Dots to chomp. Ghosts to dodge. A tunnel that wraps. Every visible thing on screen is a tile painted on a grid — and the code you'll write moves the player and spawns the ghosts.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Why Pac-Man changed everything (1980)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Pre-1980 arcades = almost all space shooters (Space Invaders, Asteroids). Pac-Man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invented the maze chase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First game with a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character that had personality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Pac-Man + 4 named ghosts (Blinky, Pinky, Inky, Clyde), each its own AI brain.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First game with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cutscenes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(the intermissions between levels).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First arcade game marketed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beyond boys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broke the "arcade = boys only" mold.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First giant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merchandising wave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lunchboxes, a cartoon, a hit song ("Pac-Man Fever").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Bottom line: no Pac-Man → maybe no Mario, no Sonic, no character mascots at all.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Yesterday → Today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Day 1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Variables + Conditions. You named things and made choices.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Day 2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Loops + Functions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You repeat things and package code into reusable recipes.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Same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var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, same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if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Two new tools on top.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The 5-day arc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Day 1 ✓ Pong — Vars + Conditions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Day 2 ← Pac-Man — Loops + Functions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Day 3 Tower Defense — Lists + Objects (preview)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Day 4 Fighter — Objects deep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Day 5 VR Escape Room — Showcase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Today's concepts: Loops + Functions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Loops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make the same code run again and again (spawn 3 ghosts, move every ghost, scan 868 tiles).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Functions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give a block of code a name, call it whenever you need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199" y="777240"/>
            <a:ext cx="112772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dirty="0" err="1">
                <a:solidFill>
                  <a:srgbClr val="1A1A1A"/>
                </a:solidFill>
                <a:latin typeface="Poppins"/>
              </a:rPr>
              <a:t>GDScript</a:t>
            </a:r>
            <a:r>
              <a:rPr sz="3600" b="1" i="0" dirty="0">
                <a:solidFill>
                  <a:srgbClr val="1A1A1A"/>
                </a:solidFill>
                <a:latin typeface="Poppins"/>
              </a:rPr>
              <a:t> is Python — except one word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65960"/>
            <a:ext cx="5455767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E53A2C"/>
                </a:solidFill>
                <a:latin typeface="Poppins"/>
              </a:rPr>
              <a:t>Code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81150" y="1325880"/>
            <a:ext cx="5589117" cy="553212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l"/>
            <a:r>
              <a:rPr sz="1800" dirty="0">
                <a:solidFill>
                  <a:srgbClr val="E6E6E6"/>
                </a:solidFill>
                <a:latin typeface="Consolas"/>
              </a:rPr>
              <a:t>  Python:   </a:t>
            </a:r>
            <a:r>
              <a:rPr sz="1800" dirty="0">
                <a:solidFill>
                  <a:srgbClr val="569CD6"/>
                </a:solidFill>
                <a:latin typeface="Consolas"/>
              </a:rPr>
              <a:t>for</a:t>
            </a:r>
            <a:r>
              <a:rPr sz="1800" dirty="0">
                <a:solidFill>
                  <a:srgbClr val="E6E6E6"/>
                </a:solidFill>
                <a:latin typeface="Consolas"/>
              </a:rPr>
              <a:t> </a:t>
            </a:r>
            <a:r>
              <a:rPr sz="1800" dirty="0" err="1">
                <a:solidFill>
                  <a:srgbClr val="E6E6E6"/>
                </a:solidFill>
                <a:latin typeface="Consolas"/>
              </a:rPr>
              <a:t>i</a:t>
            </a:r>
            <a:r>
              <a:rPr sz="1800" dirty="0">
                <a:solidFill>
                  <a:srgbClr val="E6E6E6"/>
                </a:solidFill>
                <a:latin typeface="Consolas"/>
              </a:rPr>
              <a:t> in </a:t>
            </a:r>
            <a:r>
              <a:rPr sz="1800" dirty="0">
                <a:solidFill>
                  <a:srgbClr val="DCDCAA"/>
                </a:solidFill>
                <a:latin typeface="Consolas"/>
              </a:rPr>
              <a:t>range</a:t>
            </a:r>
            <a:r>
              <a:rPr sz="1800" dirty="0">
                <a:solidFill>
                  <a:srgbClr val="E6E6E6"/>
                </a:solidFill>
                <a:latin typeface="Consolas"/>
              </a:rPr>
              <a:t>(</a:t>
            </a:r>
            <a:r>
              <a:rPr sz="1800" dirty="0">
                <a:solidFill>
                  <a:srgbClr val="B5CEA8"/>
                </a:solidFill>
                <a:latin typeface="Consolas"/>
              </a:rPr>
              <a:t>5</a:t>
            </a:r>
            <a:r>
              <a:rPr sz="1800" dirty="0">
                <a:solidFill>
                  <a:srgbClr val="E6E6E6"/>
                </a:solidFill>
                <a:latin typeface="Consolas"/>
              </a:rPr>
              <a:t>):         </a:t>
            </a:r>
            <a:r>
              <a:rPr sz="1800" dirty="0" err="1">
                <a:solidFill>
                  <a:srgbClr val="E6E6E6"/>
                </a:solidFill>
                <a:latin typeface="Consolas"/>
              </a:rPr>
              <a:t>GDScript</a:t>
            </a:r>
            <a:r>
              <a:rPr sz="1800" dirty="0">
                <a:solidFill>
                  <a:srgbClr val="E6E6E6"/>
                </a:solidFill>
                <a:latin typeface="Consolas"/>
              </a:rPr>
              <a:t>:   </a:t>
            </a:r>
            <a:r>
              <a:rPr sz="1800" dirty="0">
                <a:solidFill>
                  <a:srgbClr val="569CD6"/>
                </a:solidFill>
                <a:latin typeface="Consolas"/>
              </a:rPr>
              <a:t>for</a:t>
            </a:r>
            <a:r>
              <a:rPr sz="1800" dirty="0">
                <a:solidFill>
                  <a:srgbClr val="E6E6E6"/>
                </a:solidFill>
                <a:latin typeface="Consolas"/>
              </a:rPr>
              <a:t> </a:t>
            </a:r>
            <a:r>
              <a:rPr sz="1800" dirty="0" err="1">
                <a:solidFill>
                  <a:srgbClr val="E6E6E6"/>
                </a:solidFill>
                <a:latin typeface="Consolas"/>
              </a:rPr>
              <a:t>i</a:t>
            </a:r>
            <a:r>
              <a:rPr sz="1800" dirty="0">
                <a:solidFill>
                  <a:srgbClr val="E6E6E6"/>
                </a:solidFill>
                <a:latin typeface="Consolas"/>
              </a:rPr>
              <a:t> in </a:t>
            </a:r>
            <a:r>
              <a:rPr sz="1800" dirty="0">
                <a:solidFill>
                  <a:srgbClr val="DCDCAA"/>
                </a:solidFill>
                <a:latin typeface="Consolas"/>
              </a:rPr>
              <a:t>range</a:t>
            </a:r>
            <a:r>
              <a:rPr sz="1800" dirty="0">
                <a:solidFill>
                  <a:srgbClr val="E6E6E6"/>
                </a:solidFill>
                <a:latin typeface="Consolas"/>
              </a:rPr>
              <a:t>(</a:t>
            </a:r>
            <a:r>
              <a:rPr sz="1800" dirty="0">
                <a:solidFill>
                  <a:srgbClr val="B5CEA8"/>
                </a:solidFill>
                <a:latin typeface="Consolas"/>
              </a:rPr>
              <a:t>5</a:t>
            </a:r>
            <a:r>
              <a:rPr sz="1800" dirty="0">
                <a:solidFill>
                  <a:srgbClr val="E6E6E6"/>
                </a:solidFill>
                <a:latin typeface="Consolas"/>
              </a:rPr>
              <a:t>):</a:t>
            </a:r>
          </a:p>
          <a:p>
            <a:pPr algn="l"/>
            <a:r>
              <a:rPr sz="1800" dirty="0">
                <a:solidFill>
                  <a:srgbClr val="E6E6E6"/>
                </a:solidFill>
                <a:latin typeface="Consolas"/>
              </a:rPr>
              <a:t>                </a:t>
            </a:r>
            <a:r>
              <a:rPr sz="1800" dirty="0">
                <a:solidFill>
                  <a:srgbClr val="DCDCAA"/>
                </a:solidFill>
                <a:latin typeface="Consolas"/>
              </a:rPr>
              <a:t>print</a:t>
            </a:r>
            <a:r>
              <a:rPr sz="1800" dirty="0">
                <a:solidFill>
                  <a:srgbClr val="E6E6E6"/>
                </a:solidFill>
                <a:latin typeface="Consolas"/>
              </a:rPr>
              <a:t>(</a:t>
            </a:r>
            <a:r>
              <a:rPr sz="1800" dirty="0" err="1">
                <a:solidFill>
                  <a:srgbClr val="E6E6E6"/>
                </a:solidFill>
                <a:latin typeface="Consolas"/>
              </a:rPr>
              <a:t>i</a:t>
            </a:r>
            <a:r>
              <a:rPr sz="1800" dirty="0">
                <a:solidFill>
                  <a:srgbClr val="E6E6E6"/>
                </a:solidFill>
                <a:latin typeface="Consolas"/>
              </a:rPr>
              <a:t>)                               </a:t>
            </a:r>
            <a:r>
              <a:rPr sz="1800" dirty="0">
                <a:solidFill>
                  <a:srgbClr val="DCDCAA"/>
                </a:solidFill>
                <a:latin typeface="Consolas"/>
              </a:rPr>
              <a:t>print</a:t>
            </a:r>
            <a:r>
              <a:rPr sz="1800" dirty="0">
                <a:solidFill>
                  <a:srgbClr val="E6E6E6"/>
                </a:solidFill>
                <a:latin typeface="Consolas"/>
              </a:rPr>
              <a:t>(</a:t>
            </a:r>
            <a:r>
              <a:rPr sz="1800" dirty="0" err="1">
                <a:solidFill>
                  <a:srgbClr val="E6E6E6"/>
                </a:solidFill>
                <a:latin typeface="Consolas"/>
              </a:rPr>
              <a:t>i</a:t>
            </a:r>
            <a:r>
              <a:rPr sz="1800" dirty="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 dirty="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800" dirty="0">
                <a:solidFill>
                  <a:srgbClr val="E6E6E6"/>
                </a:solidFill>
                <a:latin typeface="Consolas"/>
              </a:rPr>
              <a:t>  Python:   </a:t>
            </a:r>
            <a:r>
              <a:rPr sz="1800" dirty="0">
                <a:solidFill>
                  <a:srgbClr val="569CD6"/>
                </a:solidFill>
                <a:latin typeface="Consolas"/>
              </a:rPr>
              <a:t>for</a:t>
            </a:r>
            <a:r>
              <a:rPr sz="1800" dirty="0">
                <a:solidFill>
                  <a:srgbClr val="E6E6E6"/>
                </a:solidFill>
                <a:latin typeface="Consolas"/>
              </a:rPr>
              <a:t> item in stuff:         </a:t>
            </a:r>
            <a:r>
              <a:rPr sz="1800" dirty="0" err="1">
                <a:solidFill>
                  <a:srgbClr val="E6E6E6"/>
                </a:solidFill>
                <a:latin typeface="Consolas"/>
              </a:rPr>
              <a:t>GDScript</a:t>
            </a:r>
            <a:r>
              <a:rPr sz="1800" dirty="0">
                <a:solidFill>
                  <a:srgbClr val="E6E6E6"/>
                </a:solidFill>
                <a:latin typeface="Consolas"/>
              </a:rPr>
              <a:t>:   </a:t>
            </a:r>
            <a:r>
              <a:rPr sz="1800" dirty="0">
                <a:solidFill>
                  <a:srgbClr val="569CD6"/>
                </a:solidFill>
                <a:latin typeface="Consolas"/>
              </a:rPr>
              <a:t>for</a:t>
            </a:r>
            <a:r>
              <a:rPr sz="1800" dirty="0">
                <a:solidFill>
                  <a:srgbClr val="E6E6E6"/>
                </a:solidFill>
                <a:latin typeface="Consolas"/>
              </a:rPr>
              <a:t> item in stuff:</a:t>
            </a:r>
          </a:p>
          <a:p>
            <a:pPr algn="l"/>
            <a:r>
              <a:rPr sz="1800" dirty="0">
                <a:solidFill>
                  <a:srgbClr val="E6E6E6"/>
                </a:solidFill>
                <a:latin typeface="Consolas"/>
              </a:rPr>
              <a:t>                </a:t>
            </a:r>
            <a:r>
              <a:rPr sz="1800" dirty="0">
                <a:solidFill>
                  <a:srgbClr val="DCDCAA"/>
                </a:solidFill>
                <a:latin typeface="Consolas"/>
              </a:rPr>
              <a:t>print</a:t>
            </a:r>
            <a:r>
              <a:rPr sz="1800" dirty="0">
                <a:solidFill>
                  <a:srgbClr val="E6E6E6"/>
                </a:solidFill>
                <a:latin typeface="Consolas"/>
              </a:rPr>
              <a:t>(item)                            </a:t>
            </a:r>
            <a:r>
              <a:rPr sz="1800" dirty="0">
                <a:solidFill>
                  <a:srgbClr val="DCDCAA"/>
                </a:solidFill>
                <a:latin typeface="Consolas"/>
              </a:rPr>
              <a:t>print</a:t>
            </a:r>
            <a:r>
              <a:rPr sz="1800" dirty="0">
                <a:solidFill>
                  <a:srgbClr val="E6E6E6"/>
                </a:solidFill>
                <a:latin typeface="Consolas"/>
              </a:rPr>
              <a:t>(item)</a:t>
            </a:r>
          </a:p>
          <a:p>
            <a:pPr algn="l"/>
            <a:r>
              <a:rPr sz="1800" dirty="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800" dirty="0">
                <a:solidFill>
                  <a:srgbClr val="E6E6E6"/>
                </a:solidFill>
                <a:latin typeface="Consolas"/>
              </a:rPr>
              <a:t>  Python:   </a:t>
            </a:r>
            <a:r>
              <a:rPr sz="1800" dirty="0">
                <a:solidFill>
                  <a:srgbClr val="569CD6"/>
                </a:solidFill>
                <a:latin typeface="Consolas"/>
              </a:rPr>
              <a:t>while</a:t>
            </a:r>
            <a:r>
              <a:rPr sz="1800" dirty="0">
                <a:solidFill>
                  <a:srgbClr val="E6E6E6"/>
                </a:solidFill>
                <a:latin typeface="Consolas"/>
              </a:rPr>
              <a:t> lives &gt; </a:t>
            </a:r>
            <a:r>
              <a:rPr sz="1800" dirty="0">
                <a:solidFill>
                  <a:srgbClr val="B5CEA8"/>
                </a:solidFill>
                <a:latin typeface="Consolas"/>
              </a:rPr>
              <a:t>0</a:t>
            </a:r>
            <a:r>
              <a:rPr sz="1800" dirty="0">
                <a:solidFill>
                  <a:srgbClr val="E6E6E6"/>
                </a:solidFill>
                <a:latin typeface="Consolas"/>
              </a:rPr>
              <a:t>:           </a:t>
            </a:r>
            <a:r>
              <a:rPr sz="1800" dirty="0" err="1">
                <a:solidFill>
                  <a:srgbClr val="E6E6E6"/>
                </a:solidFill>
                <a:latin typeface="Consolas"/>
              </a:rPr>
              <a:t>GDScript</a:t>
            </a:r>
            <a:r>
              <a:rPr sz="1800" dirty="0">
                <a:solidFill>
                  <a:srgbClr val="E6E6E6"/>
                </a:solidFill>
                <a:latin typeface="Consolas"/>
              </a:rPr>
              <a:t>:   </a:t>
            </a:r>
            <a:r>
              <a:rPr sz="1800" dirty="0">
                <a:solidFill>
                  <a:srgbClr val="569CD6"/>
                </a:solidFill>
                <a:latin typeface="Consolas"/>
              </a:rPr>
              <a:t>while</a:t>
            </a:r>
            <a:r>
              <a:rPr sz="1800" dirty="0">
                <a:solidFill>
                  <a:srgbClr val="E6E6E6"/>
                </a:solidFill>
                <a:latin typeface="Consolas"/>
              </a:rPr>
              <a:t> lives &gt; </a:t>
            </a:r>
            <a:r>
              <a:rPr sz="1800" dirty="0">
                <a:solidFill>
                  <a:srgbClr val="B5CEA8"/>
                </a:solidFill>
                <a:latin typeface="Consolas"/>
              </a:rPr>
              <a:t>0</a:t>
            </a:r>
            <a:r>
              <a:rPr sz="1800" dirty="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 dirty="0">
                <a:solidFill>
                  <a:srgbClr val="E6E6E6"/>
                </a:solidFill>
                <a:latin typeface="Consolas"/>
              </a:rPr>
              <a:t>                </a:t>
            </a:r>
            <a:r>
              <a:rPr sz="1800" dirty="0" err="1">
                <a:solidFill>
                  <a:srgbClr val="E6E6E6"/>
                </a:solidFill>
                <a:latin typeface="Consolas"/>
              </a:rPr>
              <a:t>keep_playing</a:t>
            </a:r>
            <a:r>
              <a:rPr sz="1800" dirty="0">
                <a:solidFill>
                  <a:srgbClr val="E6E6E6"/>
                </a:solidFill>
                <a:latin typeface="Consolas"/>
              </a:rPr>
              <a:t>()                         </a:t>
            </a:r>
            <a:r>
              <a:rPr sz="1800" dirty="0" err="1">
                <a:solidFill>
                  <a:srgbClr val="E6E6E6"/>
                </a:solidFill>
                <a:latin typeface="Consolas"/>
              </a:rPr>
              <a:t>keep_playing</a:t>
            </a:r>
            <a:r>
              <a:rPr sz="1800" dirty="0">
                <a:solidFill>
                  <a:srgbClr val="E6E6E6"/>
                </a:solidFill>
                <a:latin typeface="Consolas"/>
              </a:rPr>
              <a:t>()</a:t>
            </a:r>
          </a:p>
          <a:p>
            <a:pPr algn="l"/>
            <a:r>
              <a:rPr sz="1800" dirty="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800" dirty="0">
                <a:solidFill>
                  <a:srgbClr val="E6E6E6"/>
                </a:solidFill>
                <a:latin typeface="Consolas"/>
              </a:rPr>
              <a:t>  Python:   def add(a, b):             </a:t>
            </a:r>
            <a:r>
              <a:rPr sz="1800" dirty="0" err="1">
                <a:solidFill>
                  <a:srgbClr val="E6E6E6"/>
                </a:solidFill>
                <a:latin typeface="Consolas"/>
              </a:rPr>
              <a:t>GDScript</a:t>
            </a:r>
            <a:r>
              <a:rPr sz="1800" dirty="0">
                <a:solidFill>
                  <a:srgbClr val="E6E6E6"/>
                </a:solidFill>
                <a:latin typeface="Consolas"/>
              </a:rPr>
              <a:t>:   </a:t>
            </a:r>
            <a:r>
              <a:rPr sz="1800" dirty="0" err="1">
                <a:solidFill>
                  <a:srgbClr val="569CD6"/>
                </a:solidFill>
                <a:latin typeface="Consolas"/>
              </a:rPr>
              <a:t>func</a:t>
            </a:r>
            <a:r>
              <a:rPr sz="1800" dirty="0">
                <a:solidFill>
                  <a:srgbClr val="E6E6E6"/>
                </a:solidFill>
                <a:latin typeface="Consolas"/>
              </a:rPr>
              <a:t> add(a, b):</a:t>
            </a:r>
          </a:p>
          <a:p>
            <a:pPr algn="l"/>
            <a:r>
              <a:rPr sz="1800" dirty="0">
                <a:solidFill>
                  <a:srgbClr val="E6E6E6"/>
                </a:solidFill>
                <a:latin typeface="Consolas"/>
              </a:rPr>
              <a:t>                </a:t>
            </a:r>
            <a:r>
              <a:rPr sz="1800" dirty="0">
                <a:solidFill>
                  <a:srgbClr val="569CD6"/>
                </a:solidFill>
                <a:latin typeface="Consolas"/>
              </a:rPr>
              <a:t>return</a:t>
            </a:r>
            <a:r>
              <a:rPr sz="1800" dirty="0">
                <a:solidFill>
                  <a:srgbClr val="E6E6E6"/>
                </a:solidFill>
                <a:latin typeface="Consolas"/>
              </a:rPr>
              <a:t> a + b                           </a:t>
            </a:r>
            <a:r>
              <a:rPr sz="1800" dirty="0">
                <a:solidFill>
                  <a:srgbClr val="569CD6"/>
                </a:solidFill>
                <a:latin typeface="Consolas"/>
              </a:rPr>
              <a:t>return</a:t>
            </a:r>
            <a:r>
              <a:rPr sz="1800" dirty="0">
                <a:solidFill>
                  <a:srgbClr val="E6E6E6"/>
                </a:solidFill>
                <a:latin typeface="Consolas"/>
              </a:rPr>
              <a:t> a + b</a:t>
            </a:r>
          </a:p>
          <a:p>
            <a:pPr algn="l"/>
            <a:r>
              <a:rPr sz="1800" dirty="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Pre-coding setup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Open the Day 2 Maze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Open the Day 2 Maze project the same way you did yesterday.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Walk A — Hint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Godot Launcher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Import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button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Navigate to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Day2_Maze_Game/project.godot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Click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Import &amp; Edit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Open main.gd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Open </a:t>
            </a:r>
            <a:r>
              <a:rPr sz="2400" b="0" i="0">
                <a:solidFill>
                  <a:srgbClr val="8A8A8A"/>
                </a:solidFill>
                <a:latin typeface="Consolas"/>
              </a:rPr>
              <a:t>main.gd</a:t>
            </a:r>
            <a:r>
              <a:rPr sz="2400" b="0" i="0">
                <a:solidFill>
                  <a:srgbClr val="8A8A8A"/>
                </a:solidFill>
                <a:latin typeface="Poppins"/>
              </a:rPr>
              <a:t> and switch to the Script editor — same way as yesterday.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Walk B — Hint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FileSystem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panel (bottom-left) → find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main.gd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Double-click → Script editor opens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New today: TileSet and TileMapLayer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TileSet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= the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palette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A resource file that chops the Kenney atlas PNG into named 16×16 tiles.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TileMapLayer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= a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node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in the scene that paints tiles from the TileSet onto a 2D grid.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Think: TileSet = the box of crayons. TileMapLayer = the coloring page.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Two layers share one TileSet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Walls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layer — collision tiles that block movement.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Dots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layer — the pellets to chomp.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Both layers use the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same TileSet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palette. Two painted canvases, one box of crayons.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Your chunk #6 call: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wall_layer.get_cell_source_id(cell)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returns tile ID or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-1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if empty.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43000"/>
            <a:ext cx="6766377" cy="5166360"/>
          </a:xfrm>
          <a:prstGeom prst="rect">
            <a:avLst/>
          </a:prstGeom>
          <a:solidFill>
            <a:srgbClr val="EEEEEE"/>
          </a:solidFill>
          <a:ln w="25400">
            <a:solidFill>
              <a:srgbClr val="E53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8A8A8A"/>
                </a:solidFill>
                <a:latin typeface="Poppins"/>
              </a:rPr>
              <a:t>[ MISSING: D2TileSet1.png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In the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Scene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panel (top-left), find the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Walls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node and click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43000"/>
            <a:ext cx="6766377" cy="5166360"/>
          </a:xfrm>
          <a:prstGeom prst="rect">
            <a:avLst/>
          </a:prstGeom>
          <a:solidFill>
            <a:srgbClr val="EEEEEE"/>
          </a:solidFill>
          <a:ln w="25400">
            <a:solidFill>
              <a:srgbClr val="E53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8A8A8A"/>
                </a:solidFill>
                <a:latin typeface="Poppins"/>
              </a:rPr>
              <a:t>[ MISSING: D2TileSet2.png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In the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Inspector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(right panel), find the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Tile Set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property. Click the resource name →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Edit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Step T.3 — TileSet panel at the bottom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TileSet panel appears at the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bottom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of the editor.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Left side =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Sources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one source: the Kenney atlas (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tilemap_packed.png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Step T.4 — Click the source row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Click the source row in the Sources list.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The atlas appears on the right,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chopped into 16×16 tiles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Each tile has an ID — that's what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get_cell_source_id()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returns.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onsolas"/>
              </a:rPr>
              <a:t>get_cell_source_id(cell)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 — your one TileSet call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929" y="1965960"/>
            <a:ext cx="9021836" cy="452628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6A9955"/>
                </a:solidFill>
                <a:latin typeface="Consolas"/>
              </a:rPr>
              <a:t># Returns the tile's source ID, or -1 if no tile is painted there.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id = wall_layer.get_cell_source_id(cell)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if</a:t>
            </a:r>
            <a:r>
              <a:rPr sz="1800">
                <a:solidFill>
                  <a:srgbClr val="E6E6E6"/>
                </a:solidFill>
                <a:latin typeface="Consolas"/>
              </a:rPr>
              <a:t> id == -</a:t>
            </a:r>
            <a:r>
              <a:rPr sz="1800">
                <a:solidFill>
                  <a:srgbClr val="B5CEA8"/>
                </a:solidFill>
                <a:latin typeface="Consolas"/>
              </a:rPr>
              <a:t>1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DCDCAA"/>
                </a:solidFill>
                <a:latin typeface="Consolas"/>
              </a:rPr>
              <a:t>print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CE9178"/>
                </a:solidFill>
                <a:latin typeface="Consolas"/>
              </a:rPr>
              <a:t>"open floor"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Step T.6 — Back to the 2D 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Click the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2D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button at the top of the editor.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You've seen the full TileSet pipeline. Now you know what the grid is made of.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Lesson chunks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Loop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What does 'loop' mean?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Roller coaster loop — the track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comes back around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A rope tied in a loop —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no beginning, no end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In code: a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loop = code that repeats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A loop runs the same code again and again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You write the action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once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The loop runs it as many times as you say.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No copy-paste. No 50 lines of the same thing.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onsolas"/>
              </a:rPr>
              <a:t>for i in range(3):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 — the shape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929" y="1965960"/>
            <a:ext cx="9021836" cy="452628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for</a:t>
            </a:r>
            <a:r>
              <a:rPr sz="1800">
                <a:solidFill>
                  <a:srgbClr val="E6E6E6"/>
                </a:solidFill>
                <a:latin typeface="Consolas"/>
              </a:rPr>
              <a:t> i in </a:t>
            </a:r>
            <a:r>
              <a:rPr sz="1800">
                <a:solidFill>
                  <a:srgbClr val="DCDCAA"/>
                </a:solidFill>
                <a:latin typeface="Consolas"/>
              </a:rPr>
              <a:t>range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B5CEA8"/>
                </a:solidFill>
                <a:latin typeface="Consolas"/>
              </a:rPr>
              <a:t>3</a:t>
            </a:r>
            <a:r>
              <a:rPr sz="1800">
                <a:solidFill>
                  <a:srgbClr val="E6E6E6"/>
                </a:solidFill>
                <a:latin typeface="Consolas"/>
              </a:rPr>
              <a:t>):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DCDCAA"/>
                </a:solidFill>
                <a:latin typeface="Consolas"/>
              </a:rPr>
              <a:t>print</a:t>
            </a:r>
            <a:r>
              <a:rPr sz="1800">
                <a:solidFill>
                  <a:srgbClr val="E6E6E6"/>
                </a:solidFill>
                <a:latin typeface="Consolas"/>
              </a:rPr>
              <a:t>(i)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6A9955"/>
                </a:solidFill>
                <a:latin typeface="Consolas"/>
              </a:rPr>
              <a:t># prints: 0  1  2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14 stairs to your bedroom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Every night: step, step, step —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14 times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Same motion. Known count.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for i in range(14):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    climb_one_stair()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You know exactly how many stairs. The loop counts for you.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How many times does </a:t>
            </a:r>
            <a:r>
              <a:rPr sz="5400" b="1" i="0">
                <a:solidFill>
                  <a:srgbClr val="1A1A1A"/>
                </a:solidFill>
                <a:latin typeface="Consolas"/>
              </a:rPr>
              <a:t>range(5)</a:t>
            </a:r>
            <a:r>
              <a:rPr sz="5400" b="1" i="0">
                <a:solidFill>
                  <a:srgbClr val="1A1A1A"/>
                </a:solidFill>
                <a:latin typeface="Poppins"/>
              </a:rPr>
              <a:t> run?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onsolas"/>
              </a:rPr>
              <a:t>range(N)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 = N runs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range(3)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runs 3 times (i = 0, 1, 2).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range(10)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runs 10 times.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range(0)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runs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zero times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no stairs to climb.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Rule: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`range(N)` gives you N stairs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Games loop all the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Spawn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50 trees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in a forest level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for i in range(50):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Deal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4 cards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at game start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for i in range(4):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Create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12 enemies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in the first wave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for i in range(12):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Write the action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once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The loop handles the rest.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In our game: spawn 3 ghosts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At startup, 3 ghosts need to appear in the pen.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Without a loop: write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spawn_ghost_at(...)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three times. Copy-paste.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With a loop: write it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once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for i in range(3):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handles 3.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43000"/>
            <a:ext cx="6766377" cy="5166360"/>
          </a:xfrm>
          <a:prstGeom prst="rect">
            <a:avLst/>
          </a:prstGeom>
          <a:solidFill>
            <a:srgbClr val="EEEEEE"/>
          </a:solidFill>
          <a:ln w="25400">
            <a:solidFill>
              <a:srgbClr val="E53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8A8A8A"/>
                </a:solidFill>
                <a:latin typeface="Poppins"/>
              </a:rPr>
              <a:t>[ MISSING: D2C1.png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At the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# TODO #1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marker inside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_ready()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This runs once when the game starts.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7D7CCEB-E490-57BA-120C-592AFC034E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49" y="2784510"/>
            <a:ext cx="7065837" cy="188842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37160" rIns="274320" bIns="137160" rtlCol="0" anchor="ctr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Spawn three ghosts in the pen — but write the spawn call only once.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5501487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for</a:t>
            </a:r>
            <a:r>
              <a:rPr sz="1800">
                <a:solidFill>
                  <a:srgbClr val="E6E6E6"/>
                </a:solidFill>
                <a:latin typeface="Consolas"/>
              </a:rPr>
              <a:t> i in </a:t>
            </a:r>
            <a:r>
              <a:rPr sz="1800">
                <a:solidFill>
                  <a:srgbClr val="DCDCAA"/>
                </a:solidFill>
                <a:latin typeface="Consolas"/>
              </a:rPr>
              <a:t>range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B5CEA8"/>
                </a:solidFill>
                <a:latin typeface="Consolas"/>
              </a:rPr>
              <a:t>3</a:t>
            </a:r>
            <a:r>
              <a:rPr sz="1800">
                <a:solidFill>
                  <a:srgbClr val="E6E6E6"/>
                </a:solidFill>
                <a:latin typeface="Consolas"/>
              </a:rPr>
              <a:t>):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DCDCAA"/>
                </a:solidFill>
                <a:latin typeface="Consolas"/>
              </a:rPr>
              <a:t>print</a:t>
            </a:r>
            <a:r>
              <a:rPr sz="1800">
                <a:solidFill>
                  <a:srgbClr val="E6E6E6"/>
                </a:solidFill>
                <a:latin typeface="Consolas"/>
              </a:rPr>
              <a:t>(i)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Where in your code (Godot):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007" y="2971800"/>
            <a:ext cx="5501487" cy="3520440"/>
          </a:xfrm>
          <a:prstGeom prst="rect">
            <a:avLst/>
          </a:prstGeom>
          <a:solidFill>
            <a:srgbClr val="EEEEEE"/>
          </a:solidFill>
          <a:ln w="25400">
            <a:solidFill>
              <a:srgbClr val="E53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8A8A8A"/>
                </a:solidFill>
                <a:latin typeface="Poppins"/>
              </a:rPr>
              <a:t>[ MISSING: D2C1.png 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43880" y="3985132"/>
            <a:ext cx="3851041" cy="880110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13A1AA1C-52F6-C67D-E77F-018B3665F1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3050" y="3467466"/>
            <a:ext cx="7998002" cy="2137551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Run your game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Press the same key you used yesterday to start the project.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Walk C — Hint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Press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F5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"Set Main Scene?" dialog →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Select Current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game window opens.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Press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F8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to stop.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Game didn't open? Find the error.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Walk D — Hint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Look at the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Output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panel at the bottom of the editor.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Find the error line → click the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blue line number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editor jumps to it.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Fix the typo →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Ctrl+S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F5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again.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Same </a:t>
            </a:r>
            <a:r>
              <a:rPr sz="3600" b="1" i="0">
                <a:solidFill>
                  <a:srgbClr val="1A1A1A"/>
                </a:solidFill>
                <a:latin typeface="Consolas"/>
              </a:rPr>
              <a:t>for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. New shape.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Last chunk: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for i in range(3)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you wrote a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number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after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range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Known count.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This chunk: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for ghost in ghosts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you write the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name of a list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you already have.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The loop visits every item in the list, one by one.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37160" rIns="274320" bIns="137160" rtlCol="0" anchor="ctr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Each frame, walk through all the ghosts and move each 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5501487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for</a:t>
            </a:r>
            <a:r>
              <a:rPr sz="1800">
                <a:solidFill>
                  <a:srgbClr val="E6E6E6"/>
                </a:solidFill>
                <a:latin typeface="Consolas"/>
              </a:rPr>
              <a:t> colour in [</a:t>
            </a:r>
            <a:r>
              <a:rPr sz="1800">
                <a:solidFill>
                  <a:srgbClr val="CE9178"/>
                </a:solidFill>
                <a:latin typeface="Consolas"/>
              </a:rPr>
              <a:t>"red"</a:t>
            </a:r>
            <a:r>
              <a:rPr sz="1800">
                <a:solidFill>
                  <a:srgbClr val="E6E6E6"/>
                </a:solidFill>
                <a:latin typeface="Consolas"/>
              </a:rPr>
              <a:t>, </a:t>
            </a:r>
            <a:r>
              <a:rPr sz="1800">
                <a:solidFill>
                  <a:srgbClr val="CE9178"/>
                </a:solidFill>
                <a:latin typeface="Consolas"/>
              </a:rPr>
              <a:t>"green"</a:t>
            </a:r>
            <a:r>
              <a:rPr sz="1800">
                <a:solidFill>
                  <a:srgbClr val="E6E6E6"/>
                </a:solidFill>
                <a:latin typeface="Consolas"/>
              </a:rPr>
              <a:t>, </a:t>
            </a:r>
            <a:r>
              <a:rPr sz="1800">
                <a:solidFill>
                  <a:srgbClr val="CE9178"/>
                </a:solidFill>
                <a:latin typeface="Consolas"/>
              </a:rPr>
              <a:t>"blue"</a:t>
            </a:r>
            <a:r>
              <a:rPr sz="1800">
                <a:solidFill>
                  <a:srgbClr val="E6E6E6"/>
                </a:solidFill>
                <a:latin typeface="Consolas"/>
              </a:rPr>
              <a:t>]: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DCDCAA"/>
                </a:solidFill>
                <a:latin typeface="Consolas"/>
              </a:rPr>
              <a:t>print</a:t>
            </a:r>
            <a:r>
              <a:rPr sz="1800">
                <a:solidFill>
                  <a:srgbClr val="E6E6E6"/>
                </a:solidFill>
                <a:latin typeface="Consolas"/>
              </a:rPr>
              <a:t>(colour)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Where in your code (Godot):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007" y="2971800"/>
            <a:ext cx="5501487" cy="3520440"/>
          </a:xfrm>
          <a:prstGeom prst="rect">
            <a:avLst/>
          </a:prstGeom>
          <a:solidFill>
            <a:srgbClr val="EEEEEE"/>
          </a:solidFill>
          <a:ln w="25400">
            <a:solidFill>
              <a:srgbClr val="E53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8A8A8A"/>
                </a:solidFill>
                <a:latin typeface="Poppins"/>
              </a:rPr>
              <a:t>[ MISSING: D2C2.png 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58230" y="4291965"/>
            <a:ext cx="3851041" cy="880110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E30906FB-DB00-BD10-1BE6-7F5E2BD1F5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847" y="3335903"/>
            <a:ext cx="5767921" cy="2700795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39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43000"/>
            <a:ext cx="6766377" cy="5166360"/>
          </a:xfrm>
          <a:prstGeom prst="rect">
            <a:avLst/>
          </a:prstGeom>
          <a:solidFill>
            <a:srgbClr val="EEEEEE"/>
          </a:solidFill>
          <a:ln w="25400">
            <a:solidFill>
              <a:srgbClr val="E53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8A8A8A"/>
                </a:solidFill>
                <a:latin typeface="Poppins"/>
              </a:rPr>
              <a:t>[ MISSING: unspecified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Run the game. After 2 seconds, ghosts start moving.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Loops have a cousin: </a:t>
            </a:r>
            <a:r>
              <a:rPr sz="5400" b="1" i="0">
                <a:solidFill>
                  <a:srgbClr val="1A1A1A"/>
                </a:solidFill>
                <a:latin typeface="Consolas"/>
              </a:rPr>
              <a:t>while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while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while = as long 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While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it's raining, stay inside.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While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there's food on the plate, keep eating.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In code: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while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runs the block again and again —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as long as the condition is true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onsolas"/>
              </a:rPr>
              <a:t>while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 — the shape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929" y="1965960"/>
            <a:ext cx="9021836" cy="452628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n := </a:t>
            </a:r>
            <a:r>
              <a:rPr sz="1800">
                <a:solidFill>
                  <a:srgbClr val="B5CEA8"/>
                </a:solidFill>
                <a:latin typeface="Consolas"/>
              </a:rPr>
              <a:t>0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while</a:t>
            </a:r>
            <a:r>
              <a:rPr sz="1800">
                <a:solidFill>
                  <a:srgbClr val="E6E6E6"/>
                </a:solidFill>
                <a:latin typeface="Consolas"/>
              </a:rPr>
              <a:t> n &lt; </a:t>
            </a:r>
            <a:r>
              <a:rPr sz="1800">
                <a:solidFill>
                  <a:srgbClr val="B5CEA8"/>
                </a:solidFill>
                <a:latin typeface="Consolas"/>
              </a:rPr>
              <a:t>5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DCDCAA"/>
                </a:solidFill>
                <a:latin typeface="Consolas"/>
              </a:rPr>
              <a:t>print</a:t>
            </a:r>
            <a:r>
              <a:rPr sz="1800">
                <a:solidFill>
                  <a:srgbClr val="E6E6E6"/>
                </a:solidFill>
                <a:latin typeface="Consolas"/>
              </a:rPr>
              <a:t>(n)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n += </a:t>
            </a:r>
            <a:r>
              <a:rPr sz="1800">
                <a:solidFill>
                  <a:srgbClr val="B5CEA8"/>
                </a:solidFill>
                <a:latin typeface="Consolas"/>
              </a:rPr>
              <a:t>1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6A9955"/>
                </a:solidFill>
                <a:latin typeface="Consolas"/>
              </a:rPr>
              <a:t># prints: 0  1  2  3  4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onsolas"/>
              </a:rPr>
              <a:t>for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 vs </a:t>
            </a:r>
            <a:r>
              <a:rPr sz="3600" b="1" i="0">
                <a:solidFill>
                  <a:srgbClr val="1A1A1A"/>
                </a:solidFill>
                <a:latin typeface="Consolas"/>
              </a:rPr>
              <a:t>while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 — same stairs, different light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`for`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you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KNOW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the count. (14 stairs to your bedroom — you've climbed them 1000 times.)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`while`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you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DON'T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know the count. (Stairs in the dark — step up, stop when your foot finds no stair.)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Same repeated motion. Different stopping rule.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Stairs in the dark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Power's out. You're climbing stairs. You can't see the top.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Step. Step. Step. Each time: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is there another stair?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Yes → keep going. No → stop.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You don't know the count in advance. You stop when the condition is false.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How many times does this run?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929" y="1965960"/>
            <a:ext cx="9021836" cy="452628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n := </a:t>
            </a:r>
            <a:r>
              <a:rPr sz="1800">
                <a:solidFill>
                  <a:srgbClr val="B5CEA8"/>
                </a:solidFill>
                <a:latin typeface="Consolas"/>
              </a:rPr>
              <a:t>3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while</a:t>
            </a:r>
            <a:r>
              <a:rPr sz="1800">
                <a:solidFill>
                  <a:srgbClr val="E6E6E6"/>
                </a:solidFill>
                <a:latin typeface="Consolas"/>
              </a:rPr>
              <a:t> n &gt; </a:t>
            </a:r>
            <a:r>
              <a:rPr sz="1800">
                <a:solidFill>
                  <a:srgbClr val="B5CEA8"/>
                </a:solidFill>
                <a:latin typeface="Consolas"/>
              </a:rPr>
              <a:t>0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DCDCAA"/>
                </a:solidFill>
                <a:latin typeface="Consolas"/>
              </a:rPr>
              <a:t>print</a:t>
            </a:r>
            <a:r>
              <a:rPr sz="1800">
                <a:solidFill>
                  <a:srgbClr val="E6E6E6"/>
                </a:solidFill>
                <a:latin typeface="Consolas"/>
              </a:rPr>
              <a:t>(n)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n -= </a:t>
            </a:r>
            <a:r>
              <a:rPr sz="1800">
                <a:solidFill>
                  <a:srgbClr val="B5CEA8"/>
                </a:solidFill>
                <a:latin typeface="Consolas"/>
              </a:rPr>
              <a:t>1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onsolas"/>
              </a:rPr>
              <a:t>while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 = keep going until the condition is false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while n &lt; 5: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stop when n reaches 5.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while lives &gt; 0: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stop when lives hit 0.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while has_more_dots():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stop when no dots remain.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onsolas"/>
              </a:rPr>
              <a:t>while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 in games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Scan a grid for coins: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while x &lt; map_width: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Fall until you hit the floor: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while not on_ground: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Keep playing until lives run out: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while lives &gt; 0: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Anything where you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don't know the count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in advance.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In our game: count every dot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The maze is 28 × 31 =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868 tiles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At startup, count how many tiles have a dot — that's the win target.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Scan every column (x) → every row (y) → count the dots.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Neither loop knows the tile count in advance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while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43000"/>
            <a:ext cx="6766377" cy="5166360"/>
          </a:xfrm>
          <a:prstGeom prst="rect">
            <a:avLst/>
          </a:prstGeom>
          <a:solidFill>
            <a:srgbClr val="EEEEEE"/>
          </a:solidFill>
          <a:ln w="25400">
            <a:solidFill>
              <a:srgbClr val="E53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8A8A8A"/>
                </a:solidFill>
                <a:latin typeface="Poppins"/>
              </a:rPr>
              <a:t>[ MISSING: D2C3a.png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7897" y="4890441"/>
            <a:ext cx="3671753" cy="101566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 dirty="0">
                <a:solidFill>
                  <a:srgbClr val="1A1A1A"/>
                </a:solidFill>
                <a:latin typeface="Poppins"/>
              </a:rPr>
              <a:t>One line in </a:t>
            </a:r>
            <a:r>
              <a:rPr sz="2000" b="0" i="0" dirty="0">
                <a:solidFill>
                  <a:srgbClr val="1A1A1A"/>
                </a:solidFill>
                <a:latin typeface="Consolas"/>
              </a:rPr>
              <a:t>_ready()</a:t>
            </a:r>
            <a:r>
              <a:rPr sz="2000" b="0" i="0" dirty="0">
                <a:solidFill>
                  <a:srgbClr val="1A1A1A"/>
                </a:solidFill>
                <a:latin typeface="Poppins"/>
              </a:rPr>
              <a:t>: call </a:t>
            </a:r>
            <a:r>
              <a:rPr sz="2000" b="0" i="0" dirty="0" err="1">
                <a:solidFill>
                  <a:srgbClr val="1A1A1A"/>
                </a:solidFill>
                <a:latin typeface="Consolas"/>
              </a:rPr>
              <a:t>count_dots</a:t>
            </a:r>
            <a:r>
              <a:rPr sz="2000" b="0" i="0" dirty="0">
                <a:solidFill>
                  <a:srgbClr val="1A1A1A"/>
                </a:solidFill>
                <a:latin typeface="Consolas"/>
              </a:rPr>
              <a:t>()</a:t>
            </a:r>
            <a:r>
              <a:rPr sz="2000" b="0" i="0" dirty="0">
                <a:solidFill>
                  <a:srgbClr val="1A1A1A"/>
                </a:solidFill>
                <a:latin typeface="Poppins"/>
              </a:rPr>
              <a:t> and store the result.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DF0C8EE-3D6F-87E1-0DD8-3F6C379B62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99" y="1253489"/>
            <a:ext cx="9997136" cy="3253245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43000"/>
            <a:ext cx="6766377" cy="5166360"/>
          </a:xfrm>
          <a:prstGeom prst="rect">
            <a:avLst/>
          </a:prstGeom>
          <a:solidFill>
            <a:srgbClr val="EEEEEE"/>
          </a:solidFill>
          <a:ln w="25400">
            <a:solidFill>
              <a:srgbClr val="E53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8A8A8A"/>
                </a:solidFill>
                <a:latin typeface="Poppins"/>
              </a:rPr>
              <a:t>[ MISSING: D2C3b.png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The whole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count_dots()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function body. You'll write the nested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while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loops inside.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128A562-A1BF-5908-9F38-042871D7DE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675" y="1280160"/>
            <a:ext cx="7146062" cy="48133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37160" rIns="274320" bIns="137160" rtlCol="0" anchor="ctr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Get the dot total from </a:t>
            </a:r>
            <a:r>
              <a:rPr sz="2000" b="1" i="0">
                <a:solidFill>
                  <a:srgbClr val="1A1A1A"/>
                </a:solidFill>
                <a:latin typeface="Consolas"/>
              </a:rPr>
              <a:t>count_dots()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 and store it in </a:t>
            </a:r>
            <a:r>
              <a:rPr sz="2000" b="1" i="0">
                <a:solidFill>
                  <a:srgbClr val="1A1A1A"/>
                </a:solidFill>
                <a:latin typeface="Consolas"/>
              </a:rPr>
              <a:t>dots_remaining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5501487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dots_remaining = count_dots()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Where in your code (Godot):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007" y="2971800"/>
            <a:ext cx="5501487" cy="3520440"/>
          </a:xfrm>
          <a:prstGeom prst="rect">
            <a:avLst/>
          </a:prstGeom>
          <a:solidFill>
            <a:srgbClr val="EEEEEE"/>
          </a:solidFill>
          <a:ln w="25400">
            <a:solidFill>
              <a:srgbClr val="E53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8A8A8A"/>
                </a:solidFill>
                <a:latin typeface="Poppins"/>
              </a:rPr>
              <a:t>[ MISSING: D2C3a.png 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58230" y="4291965"/>
            <a:ext cx="3851041" cy="880110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1AF1821-5E9F-03C2-6F4E-C17F2CED15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2549" y="3597976"/>
            <a:ext cx="6688785" cy="2176649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37160" rIns="274320" bIns="137160" rtlCol="0" anchor="ctr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Scan the whole maze with a </a:t>
            </a:r>
            <a:r>
              <a:rPr sz="2000" b="1" i="0">
                <a:solidFill>
                  <a:srgbClr val="1A1A1A"/>
                </a:solidFill>
                <a:latin typeface="Consolas"/>
              </a:rPr>
              <a:t>while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 loop. Count the dots. Return the count.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5501487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n := </a:t>
            </a:r>
            <a:r>
              <a:rPr sz="1800">
                <a:solidFill>
                  <a:srgbClr val="B5CEA8"/>
                </a:solidFill>
                <a:latin typeface="Consolas"/>
              </a:rPr>
              <a:t>0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while</a:t>
            </a:r>
            <a:r>
              <a:rPr sz="1800">
                <a:solidFill>
                  <a:srgbClr val="E6E6E6"/>
                </a:solidFill>
                <a:latin typeface="Consolas"/>
              </a:rPr>
              <a:t> n &lt; </a:t>
            </a:r>
            <a:r>
              <a:rPr sz="1800">
                <a:solidFill>
                  <a:srgbClr val="B5CEA8"/>
                </a:solidFill>
                <a:latin typeface="Consolas"/>
              </a:rPr>
              <a:t>5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DCDCAA"/>
                </a:solidFill>
                <a:latin typeface="Consolas"/>
              </a:rPr>
              <a:t>print</a:t>
            </a:r>
            <a:r>
              <a:rPr sz="1800">
                <a:solidFill>
                  <a:srgbClr val="E6E6E6"/>
                </a:solidFill>
                <a:latin typeface="Consolas"/>
              </a:rPr>
              <a:t>(n)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n += </a:t>
            </a:r>
            <a:r>
              <a:rPr sz="1800">
                <a:solidFill>
                  <a:srgbClr val="B5CEA8"/>
                </a:solidFill>
                <a:latin typeface="Consolas"/>
              </a:rPr>
              <a:t>1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Where in your code (Godot):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007" y="2971800"/>
            <a:ext cx="5501487" cy="3520440"/>
          </a:xfrm>
          <a:prstGeom prst="rect">
            <a:avLst/>
          </a:prstGeom>
          <a:solidFill>
            <a:srgbClr val="EEEEEE"/>
          </a:solidFill>
          <a:ln w="25400">
            <a:solidFill>
              <a:srgbClr val="E53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8A8A8A"/>
                </a:solidFill>
                <a:latin typeface="Poppins"/>
              </a:rPr>
              <a:t>[ MISSING: D2C3b.png 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58230" y="4291965"/>
            <a:ext cx="3851041" cy="880110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8C08443-6C09-0DED-3ACF-E03FF6976E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6549" y="3129878"/>
            <a:ext cx="4757237" cy="3204284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Function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What's the function of…?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A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remote control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change the channel. That's its function.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A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calculator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do math. That's its function.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A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door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let you through (or keep you out). That's its function.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Function =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the thing it DOES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Function = a name for a block of 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func say_hi():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defines the function named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say_hi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say_hi()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</a:t>
            </a:r>
            <a:r>
              <a:rPr sz="2000" b="0" i="1">
                <a:solidFill>
                  <a:srgbClr val="1A1A1A"/>
                </a:solidFill>
                <a:latin typeface="Poppins"/>
              </a:rPr>
              <a:t>calls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it — runs the block.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Define the recipe once. Call it any number of times.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onsolas"/>
              </a:rPr>
              <a:t>func say_hi():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 — the shape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929" y="1965960"/>
            <a:ext cx="9021836" cy="452628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func</a:t>
            </a:r>
            <a:r>
              <a:rPr sz="1800">
                <a:solidFill>
                  <a:srgbClr val="E6E6E6"/>
                </a:solidFill>
                <a:latin typeface="Consolas"/>
              </a:rPr>
              <a:t> say_hi():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DCDCAA"/>
                </a:solidFill>
                <a:latin typeface="Consolas"/>
              </a:rPr>
              <a:t>print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CE9178"/>
                </a:solidFill>
                <a:latin typeface="Consolas"/>
              </a:rPr>
              <a:t>"hi!"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say_hi()   </a:t>
            </a:r>
            <a:r>
              <a:rPr sz="1800">
                <a:solidFill>
                  <a:srgbClr val="6A9955"/>
                </a:solidFill>
                <a:latin typeface="Consolas"/>
              </a:rPr>
              <a:t># → "hi!"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say_hi()   </a:t>
            </a:r>
            <a:r>
              <a:rPr sz="1800">
                <a:solidFill>
                  <a:srgbClr val="6A9955"/>
                </a:solidFill>
                <a:latin typeface="Consolas"/>
              </a:rPr>
              <a:t># → "hi!"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The pizza order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You walk into a pizza shop. You say: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"Margherita."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The kitchen makes dough → adds tomato → adds cheese → bakes → cuts → boxes.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You didn't say any of that. You just said the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name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The recipe ran.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How many times does </a:t>
            </a:r>
            <a:r>
              <a:rPr sz="5400" b="1" i="0">
                <a:solidFill>
                  <a:srgbClr val="1A1A1A"/>
                </a:solidFill>
                <a:latin typeface="Consolas"/>
              </a:rPr>
              <a:t>say_hi()</a:t>
            </a:r>
            <a:r>
              <a:rPr sz="5400" b="1" i="0">
                <a:solidFill>
                  <a:srgbClr val="1A1A1A"/>
                </a:solidFill>
                <a:latin typeface="Poppins"/>
              </a:rPr>
              <a:t> print if you call it 3 times?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Define once. Call anywhere.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Without functions: copy-paste the same 5 lines every time you need them.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With functions: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write once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, call by name from anywhere in the file.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Change the recipe once → every call gets the update automatically.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Functions are everywhere in games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jump()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called whenever player presses space.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die()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called when health hits 0.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spawn_enemy()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called at the start of each wave.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Define once. Call from many places. No copy-paste.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In our game: </a:t>
            </a:r>
            <a:r>
              <a:rPr sz="3600" b="1" i="0">
                <a:solidFill>
                  <a:srgbClr val="1A1A1A"/>
                </a:solidFill>
                <a:latin typeface="Consolas"/>
              </a:rPr>
              <a:t>reset_player()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When a ghost catches the player, we need to: send them home, clear movement, wipe direction.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That's 5 lines. We wrap them in a function called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reset_player()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The game calls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reset_player()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every time a ghost catches the player.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43000"/>
            <a:ext cx="6766377" cy="5166360"/>
          </a:xfrm>
          <a:prstGeom prst="rect">
            <a:avLst/>
          </a:prstGeom>
          <a:solidFill>
            <a:srgbClr val="EEEEEE"/>
          </a:solidFill>
          <a:ln w="25400">
            <a:solidFill>
              <a:srgbClr val="E53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8A8A8A"/>
                </a:solidFill>
                <a:latin typeface="Poppins"/>
              </a:rPr>
              <a:t>[ MISSING: D2C4.png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The function body is at main.gd:153-160. You'll write the contents.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3F2F9C6-8B47-92A3-BD99-06985C9099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535" y="1857177"/>
            <a:ext cx="7225202" cy="3738005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37160" rIns="274320" bIns="137160" rtlCol="0" anchor="ctr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Send the player back to the starting tile.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5501487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func</a:t>
            </a:r>
            <a:r>
              <a:rPr sz="1800">
                <a:solidFill>
                  <a:srgbClr val="E6E6E6"/>
                </a:solidFill>
                <a:latin typeface="Consolas"/>
              </a:rPr>
              <a:t> say_hi():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DCDCAA"/>
                </a:solidFill>
                <a:latin typeface="Consolas"/>
              </a:rPr>
              <a:t>print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CE9178"/>
                </a:solidFill>
                <a:latin typeface="Consolas"/>
              </a:rPr>
              <a:t>"hi!"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Where in your code (Godot):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007" y="2971800"/>
            <a:ext cx="5501487" cy="3520440"/>
          </a:xfrm>
          <a:prstGeom prst="rect">
            <a:avLst/>
          </a:prstGeom>
          <a:solidFill>
            <a:srgbClr val="EEEEEE"/>
          </a:solidFill>
          <a:ln w="25400">
            <a:solidFill>
              <a:srgbClr val="E53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8A8A8A"/>
                </a:solidFill>
                <a:latin typeface="Poppins"/>
              </a:rPr>
              <a:t>[ MISSING: D2C4.png 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58230" y="4291965"/>
            <a:ext cx="3851041" cy="880110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A33E766E-9F83-6744-AFDE-9ED7D5BF68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0078" y="3009761"/>
            <a:ext cx="6598737" cy="3413899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Functions can take INPUTS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Last chunk: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func reset_player()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no inputs. Same thing every time.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This chunk: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func move_player(direction)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something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between the parentheses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That thing is called a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parameter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an input you hand to the function.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Parameter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A parameter is info you hand to the function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func add_points(amount):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amount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is the parameter.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Call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add_points(10)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amount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is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10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inside the function.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Call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add_points(50)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amount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is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50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Same function. Different input each time.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onsolas"/>
              </a:rPr>
              <a:t>func add_points(amount):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 — the shape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929" y="1965960"/>
            <a:ext cx="9021836" cy="452628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func</a:t>
            </a:r>
            <a:r>
              <a:rPr sz="1800">
                <a:solidFill>
                  <a:srgbClr val="E6E6E6"/>
                </a:solidFill>
                <a:latin typeface="Consolas"/>
              </a:rPr>
              <a:t> add_points(amount):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score += amount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add_points(</a:t>
            </a:r>
            <a:r>
              <a:rPr sz="1800">
                <a:solidFill>
                  <a:srgbClr val="B5CEA8"/>
                </a:solidFill>
                <a:latin typeface="Consolas"/>
              </a:rPr>
              <a:t>10</a:t>
            </a:r>
            <a:r>
              <a:rPr sz="1800">
                <a:solidFill>
                  <a:srgbClr val="E6E6E6"/>
                </a:solidFill>
                <a:latin typeface="Consolas"/>
              </a:rPr>
              <a:t>)   </a:t>
            </a:r>
            <a:r>
              <a:rPr sz="1800">
                <a:solidFill>
                  <a:srgbClr val="6A9955"/>
                </a:solidFill>
                <a:latin typeface="Consolas"/>
              </a:rPr>
              <a:t># score goes up 10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add_points(</a:t>
            </a:r>
            <a:r>
              <a:rPr sz="1800">
                <a:solidFill>
                  <a:srgbClr val="B5CEA8"/>
                </a:solidFill>
                <a:latin typeface="Consolas"/>
              </a:rPr>
              <a:t>50</a:t>
            </a:r>
            <a:r>
              <a:rPr sz="1800">
                <a:solidFill>
                  <a:srgbClr val="E6E6E6"/>
                </a:solidFill>
                <a:latin typeface="Consolas"/>
              </a:rPr>
              <a:t>)   </a:t>
            </a:r>
            <a:r>
              <a:rPr sz="1800">
                <a:solidFill>
                  <a:srgbClr val="6A9955"/>
                </a:solidFill>
                <a:latin typeface="Consolas"/>
              </a:rPr>
              <a:t># score goes up 50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Margherita — large or small?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You say: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"Margherita large."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Kitchen runs the same recipe. Big ball of dough.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You say: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"Margherita small."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Same recipe. Small ball of dough.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size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is the parameter. One recipe, different inputs.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One function. Different inputs each time.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move_player(Vector2i.UP)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moves up.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move_player(Vector2i.DOWN)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moves down.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Same function, called 4 times a second with whatever key is pressed.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In our game: </a:t>
            </a:r>
            <a:r>
              <a:rPr sz="3600" b="1" i="0">
                <a:solidFill>
                  <a:srgbClr val="1A1A1A"/>
                </a:solidFill>
                <a:latin typeface="Consolas"/>
              </a:rPr>
              <a:t>move_player(direction)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direction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is the parameter — a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Vector2i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for up, down, left, or right.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Arrow key pressed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direction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is set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move_player(direction)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is called.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The function moves the player one tile in that direction (if no wall is in the way).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505" y="1143000"/>
            <a:ext cx="6766377" cy="5166360"/>
          </a:xfrm>
          <a:prstGeom prst="rect">
            <a:avLst/>
          </a:prstGeom>
          <a:solidFill>
            <a:srgbClr val="EEEEEE"/>
          </a:solidFill>
          <a:ln w="25400">
            <a:solidFill>
              <a:srgbClr val="E53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8A8A8A"/>
                </a:solidFill>
                <a:latin typeface="Poppins"/>
              </a:rPr>
              <a:t>[ MISSING: D2C5.png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7897" y="2910572"/>
            <a:ext cx="4236598" cy="1631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 dirty="0">
                <a:solidFill>
                  <a:srgbClr val="1A1A1A"/>
                </a:solidFill>
                <a:latin typeface="Poppins"/>
              </a:rPr>
              <a:t>Inside </a:t>
            </a:r>
            <a:r>
              <a:rPr sz="2000" b="0" i="0" dirty="0" err="1">
                <a:solidFill>
                  <a:srgbClr val="1A1A1A"/>
                </a:solidFill>
                <a:latin typeface="Consolas"/>
              </a:rPr>
              <a:t>move_player</a:t>
            </a:r>
            <a:r>
              <a:rPr sz="2000" b="0" i="0" dirty="0">
                <a:solidFill>
                  <a:srgbClr val="1A1A1A"/>
                </a:solidFill>
                <a:latin typeface="Consolas"/>
              </a:rPr>
              <a:t>(direction)</a:t>
            </a:r>
            <a:endParaRPr lang="en-US" sz="2000" dirty="0">
              <a:solidFill>
                <a:srgbClr val="1A1A1A"/>
              </a:solidFill>
              <a:latin typeface="Poppins"/>
            </a:endParaRPr>
          </a:p>
          <a:p>
            <a:pPr algn="l"/>
            <a:endParaRPr lang="en-US" sz="2000" b="0" i="0" dirty="0">
              <a:solidFill>
                <a:srgbClr val="1A1A1A"/>
              </a:solidFill>
              <a:latin typeface="Poppins"/>
            </a:endParaRPr>
          </a:p>
          <a:p>
            <a:pPr algn="l"/>
            <a:r>
              <a:rPr sz="2000" b="0" i="0" dirty="0">
                <a:solidFill>
                  <a:srgbClr val="1A1A1A"/>
                </a:solidFill>
                <a:latin typeface="Poppins"/>
              </a:rPr>
              <a:t>The </a:t>
            </a:r>
            <a:r>
              <a:rPr sz="2000" b="0" i="0" dirty="0">
                <a:solidFill>
                  <a:srgbClr val="1A1A1A"/>
                </a:solidFill>
                <a:latin typeface="Consolas"/>
              </a:rPr>
              <a:t>direction: Vector2i</a:t>
            </a:r>
            <a:r>
              <a:rPr sz="2000" b="0" i="0" dirty="0">
                <a:solidFill>
                  <a:srgbClr val="1A1A1A"/>
                </a:solidFill>
                <a:latin typeface="Poppins"/>
              </a:rPr>
              <a:t> in the signature is today's lesson — that's the parameter.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13E4F77-ADAA-B8FC-5154-3F7AF80316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969" y="2289810"/>
            <a:ext cx="7161063" cy="2739390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37160" rIns="274320" bIns="137160" rtlCol="0" anchor="ctr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Move the player one tile in the direction they pressed — but only if a wall isn't in the way.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5501487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func</a:t>
            </a:r>
            <a:r>
              <a:rPr sz="1800">
                <a:solidFill>
                  <a:srgbClr val="E6E6E6"/>
                </a:solidFill>
                <a:latin typeface="Consolas"/>
              </a:rPr>
              <a:t> add_points(amount):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score += amount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Where in your code (Godot):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007" y="2971800"/>
            <a:ext cx="5501487" cy="3520440"/>
          </a:xfrm>
          <a:prstGeom prst="rect">
            <a:avLst/>
          </a:prstGeom>
          <a:solidFill>
            <a:srgbClr val="EEEEEE"/>
          </a:solidFill>
          <a:ln w="25400">
            <a:solidFill>
              <a:srgbClr val="E53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8A8A8A"/>
                </a:solidFill>
                <a:latin typeface="Poppins"/>
              </a:rPr>
              <a:t>[ MISSING: D2C5.png 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58230" y="4291965"/>
            <a:ext cx="3851041" cy="880110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3AF9F7E-3FB7-F02E-3738-E1053B704C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7457" y="3585062"/>
            <a:ext cx="5501488" cy="2104537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Functions can HAND BACK an answer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So far: functions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do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something.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reset_player()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moves the player.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move_player(dir)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slides them.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New idea: a function can also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return a value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hand an answer back to the caller.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That answer has a name: the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return value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return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onsolas"/>
              </a:rPr>
              <a:t>return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 hands a value back to the caller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return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= "here's your answer."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The caller gets the value and can use it.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var y = double(5)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double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returns 10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y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is 10.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onsolas"/>
              </a:rPr>
              <a:t>func double(n) -&gt; int: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 — the shape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929" y="1965960"/>
            <a:ext cx="9021836" cy="452628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func</a:t>
            </a:r>
            <a:r>
              <a:rPr sz="1800">
                <a:solidFill>
                  <a:srgbClr val="E6E6E6"/>
                </a:solidFill>
                <a:latin typeface="Consolas"/>
              </a:rPr>
              <a:t> double(n) -&gt; </a:t>
            </a:r>
            <a:r>
              <a:rPr sz="1800">
                <a:solidFill>
                  <a:srgbClr val="DCDCAA"/>
                </a:solidFill>
                <a:latin typeface="Consolas"/>
              </a:rPr>
              <a:t>int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569CD6"/>
                </a:solidFill>
                <a:latin typeface="Consolas"/>
              </a:rPr>
              <a:t>return</a:t>
            </a:r>
            <a:r>
              <a:rPr sz="1800">
                <a:solidFill>
                  <a:srgbClr val="E6E6E6"/>
                </a:solidFill>
                <a:latin typeface="Consolas"/>
              </a:rPr>
              <a:t> n * </a:t>
            </a:r>
            <a:r>
              <a:rPr sz="1800">
                <a:solidFill>
                  <a:srgbClr val="B5CEA8"/>
                </a:solidFill>
                <a:latin typeface="Consolas"/>
              </a:rPr>
              <a:t>2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y = double(</a:t>
            </a:r>
            <a:r>
              <a:rPr sz="1800">
                <a:solidFill>
                  <a:srgbClr val="B5CEA8"/>
                </a:solidFill>
                <a:latin typeface="Consolas"/>
              </a:rPr>
              <a:t>5</a:t>
            </a:r>
            <a:r>
              <a:rPr sz="1800">
                <a:solidFill>
                  <a:srgbClr val="E6E6E6"/>
                </a:solidFill>
                <a:latin typeface="Consolas"/>
              </a:rPr>
              <a:t>)   </a:t>
            </a:r>
            <a:r>
              <a:rPr sz="1800">
                <a:solidFill>
                  <a:srgbClr val="6A9955"/>
                </a:solidFill>
                <a:latin typeface="Consolas"/>
              </a:rPr>
              <a:t># y = 10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z = double(</a:t>
            </a:r>
            <a:r>
              <a:rPr sz="1800">
                <a:solidFill>
                  <a:srgbClr val="B5CEA8"/>
                </a:solidFill>
                <a:latin typeface="Consolas"/>
              </a:rPr>
              <a:t>3</a:t>
            </a:r>
            <a:r>
              <a:rPr sz="1800">
                <a:solidFill>
                  <a:srgbClr val="E6E6E6"/>
                </a:solidFill>
                <a:latin typeface="Consolas"/>
              </a:rPr>
              <a:t>)   </a:t>
            </a:r>
            <a:r>
              <a:rPr sz="1800">
                <a:solidFill>
                  <a:srgbClr val="6A9955"/>
                </a:solidFill>
                <a:latin typeface="Consolas"/>
              </a:rPr>
              <a:t># z = 6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Remember booleans from Day 1?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A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boolean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is a true/false value — the light switch.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true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= on.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false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= off.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Today: our function hands back a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boolean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"yes this is a wall" or "no it isn't."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The kitchen hands the pizza BACK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Old version: you say "margherita", kitchen makes it. No pizza in your hands.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New version: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var dinner = margherita("large")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kitchen makes it AND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hands it to you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dinner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IS the pizza. That's the return value.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onsolas"/>
              </a:rPr>
              <a:t>-&gt; bool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 = this function answers yes or no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hit_wall(cell) -&gt; bool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"is there a wall at this cell?"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is_alive() -&gt; bool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"is the player still alive?"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in_range(target) -&gt; bool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"is the enemy close enough to shoot?"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Every yes/no check in a game is a bool-returning function.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In our game: </a:t>
            </a:r>
            <a:r>
              <a:rPr sz="3600" b="1" i="0">
                <a:solidFill>
                  <a:srgbClr val="1A1A1A"/>
                </a:solidFill>
                <a:latin typeface="Consolas"/>
              </a:rPr>
              <a:t>hit_wall(cell)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move_player(direction)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needs to know: "is the next tile a wall?"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It calls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hit_wall(next_cell)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gets back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true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or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false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If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true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don't move. If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false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move.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One question. One yes/no answer.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43000"/>
            <a:ext cx="6766377" cy="5166360"/>
          </a:xfrm>
          <a:prstGeom prst="rect">
            <a:avLst/>
          </a:prstGeom>
          <a:solidFill>
            <a:srgbClr val="EEEEEE"/>
          </a:solidFill>
          <a:ln w="25400">
            <a:solidFill>
              <a:srgbClr val="E53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8A8A8A"/>
                </a:solidFill>
                <a:latin typeface="Poppins"/>
              </a:rPr>
              <a:t>[ MISSING: D2C6.png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Inside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hit_wall(cell)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at main.gd:201-204. Off-grid + tunnel guards are pre-given. You write only the in-grid wall query.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1BE6361-B3EF-951E-08F0-A4B4B8C5C3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537" y="1143000"/>
            <a:ext cx="6354062" cy="5353797"/>
          </a:xfrm>
          <a:prstGeom prst="rect">
            <a:avLst/>
          </a:prstGeom>
        </p:spPr>
      </p:pic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37160" rIns="274320" bIns="137160" rtlCol="0" anchor="ctr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Given a cell, hand back </a:t>
            </a:r>
            <a:r>
              <a:rPr sz="2000" b="1" i="0">
                <a:solidFill>
                  <a:srgbClr val="1A1A1A"/>
                </a:solidFill>
                <a:latin typeface="Consolas"/>
              </a:rPr>
              <a:t>true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 if it's blocked, </a:t>
            </a:r>
            <a:r>
              <a:rPr sz="2000" b="1" i="0">
                <a:solidFill>
                  <a:srgbClr val="1A1A1A"/>
                </a:solidFill>
                <a:latin typeface="Consolas"/>
              </a:rPr>
              <a:t>false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 if it's open. </a:t>
            </a:r>
            <a:r>
              <a:rPr sz="2000" b="1" i="1">
                <a:solidFill>
                  <a:srgbClr val="1A1A1A"/>
                </a:solidFill>
                <a:latin typeface="Poppins"/>
              </a:rPr>
              <a:t>(off-grid + tunnel pre-given)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5501487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func</a:t>
            </a:r>
            <a:r>
              <a:rPr sz="1800">
                <a:solidFill>
                  <a:srgbClr val="E6E6E6"/>
                </a:solidFill>
                <a:latin typeface="Consolas"/>
              </a:rPr>
              <a:t> is_even(n) -&gt; </a:t>
            </a:r>
            <a:r>
              <a:rPr sz="1800">
                <a:solidFill>
                  <a:srgbClr val="DCDCAA"/>
                </a:solidFill>
                <a:latin typeface="Consolas"/>
              </a:rPr>
              <a:t>bool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569CD6"/>
                </a:solidFill>
                <a:latin typeface="Consolas"/>
              </a:rPr>
              <a:t>return</a:t>
            </a:r>
            <a:r>
              <a:rPr sz="1800">
                <a:solidFill>
                  <a:srgbClr val="E6E6E6"/>
                </a:solidFill>
                <a:latin typeface="Consolas"/>
              </a:rPr>
              <a:t> n % </a:t>
            </a:r>
            <a:r>
              <a:rPr sz="1800">
                <a:solidFill>
                  <a:srgbClr val="B5CEA8"/>
                </a:solidFill>
                <a:latin typeface="Consolas"/>
              </a:rPr>
              <a:t>2</a:t>
            </a:r>
            <a:r>
              <a:rPr sz="1800">
                <a:solidFill>
                  <a:srgbClr val="E6E6E6"/>
                </a:solidFill>
                <a:latin typeface="Consolas"/>
              </a:rPr>
              <a:t> == </a:t>
            </a:r>
            <a:r>
              <a:rPr sz="1800">
                <a:solidFill>
                  <a:srgbClr val="B5CEA8"/>
                </a:solidFill>
                <a:latin typeface="Consolas"/>
              </a:rPr>
              <a:t>0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Where in your code (Godot):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007" y="2971800"/>
            <a:ext cx="5501487" cy="3520440"/>
          </a:xfrm>
          <a:prstGeom prst="rect">
            <a:avLst/>
          </a:prstGeom>
          <a:solidFill>
            <a:srgbClr val="EEEEEE"/>
          </a:solidFill>
          <a:ln w="25400">
            <a:solidFill>
              <a:srgbClr val="E53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8A8A8A"/>
                </a:solidFill>
                <a:latin typeface="Poppins"/>
              </a:rPr>
              <a:t>[ MISSING: D2C6.png 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58230" y="4291965"/>
            <a:ext cx="3851041" cy="880110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6F5B8930-501B-31C2-5DC7-FDFABA9953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7269" y="2875542"/>
            <a:ext cx="4555436" cy="3838313"/>
          </a:xfrm>
          <a:prstGeom prst="rect">
            <a:avLst/>
          </a:prstGeom>
        </p:spPr>
      </p:pic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Final Challenge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You already know how to do this.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Each TODO in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ghost_personalities.gd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mirrors a chunk you wrote this morning. If you get stuck, scroll up to that chunk in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main.gd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and copy the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shape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(not the words).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FC-1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← Chunk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#1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(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for i in range(N)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FC-2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← Chunk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#2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(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for item in list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FC-3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← Chunk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#3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(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while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loop + count + return)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FC-4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← Chunk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#4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(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func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no params)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FC-5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← Chunk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#5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(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func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with a parameter)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FC-6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← Chunk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#6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(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func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returning a bool)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89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43000"/>
            <a:ext cx="6766377" cy="5166360"/>
          </a:xfrm>
          <a:prstGeom prst="rect">
            <a:avLst/>
          </a:prstGeom>
          <a:solidFill>
            <a:srgbClr val="EEEEEE"/>
          </a:solidFill>
          <a:ln w="25400">
            <a:solidFill>
              <a:srgbClr val="E53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8A8A8A"/>
                </a:solidFill>
                <a:latin typeface="Poppins"/>
              </a:rPr>
              <a:t>[ MISSING: D2FC3.png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Replace 3 identical ghosts with 4 authentic Pac-Man personalities — Blinky, Pinky, Inky, Clyde. Each one targets the player differently.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39D885B-E8F5-0ED4-EE89-FF9C9EBDCD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214" y="1716405"/>
            <a:ext cx="7242347" cy="3882390"/>
          </a:xfrm>
          <a:prstGeom prst="rect">
            <a:avLst/>
          </a:prstGeom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90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The 4 personalities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929" y="1965960"/>
            <a:ext cx="9021836" cy="452628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| Ghost | Colour | What it does | |---|---|---| | **Blinky** | Red | Heads straight </a:t>
            </a:r>
            <a:r>
              <a:rPr sz="1800">
                <a:solidFill>
                  <a:srgbClr val="569CD6"/>
                </a:solidFill>
                <a:latin typeface="Consolas"/>
              </a:rPr>
              <a:t>for</a:t>
            </a:r>
            <a:r>
              <a:rPr sz="1800">
                <a:solidFill>
                  <a:srgbClr val="E6E6E6"/>
                </a:solidFill>
                <a:latin typeface="Consolas"/>
              </a:rPr>
              <a:t> the player. Most aggressive. | | **Pinky** | Pink | Aims </a:t>
            </a:r>
            <a:r>
              <a:rPr sz="1800">
                <a:solidFill>
                  <a:srgbClr val="B5CEA8"/>
                </a:solidFill>
                <a:latin typeface="Consolas"/>
              </a:rPr>
              <a:t>4</a:t>
            </a:r>
            <a:r>
              <a:rPr sz="1800">
                <a:solidFill>
                  <a:srgbClr val="E6E6E6"/>
                </a:solidFill>
                <a:latin typeface="Consolas"/>
              </a:rPr>
              <a:t> tiles ahead of the player to ambush. | | **Inky** | Cyan | Uses Blinky</a:t>
            </a:r>
            <a:r>
              <a:rPr sz="1800">
                <a:solidFill>
                  <a:srgbClr val="CE9178"/>
                </a:solidFill>
                <a:latin typeface="Consolas"/>
              </a:rPr>
              <a:t>'s position to flank from the opposite side. | | **Clyde** | Orange | Chases when far. Scatters to the corner when close. |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91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43000"/>
            <a:ext cx="6766377" cy="5166360"/>
          </a:xfrm>
          <a:prstGeom prst="rect">
            <a:avLst/>
          </a:prstGeom>
          <a:solidFill>
            <a:srgbClr val="EEEEEE"/>
          </a:solidFill>
          <a:ln w="25400">
            <a:solidFill>
              <a:srgbClr val="E53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8A8A8A"/>
                </a:solidFill>
                <a:latin typeface="Poppins"/>
              </a:rPr>
              <a:t>[ MISSING: D2FC1.png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202" y="54864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Open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final_challenge.gd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Find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const FC_ENABLED := false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near the top.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FDD659F-13D8-38F3-C069-430710AC0B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214" y="1716405"/>
            <a:ext cx="7242347" cy="388239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D161DA51-E13C-E3D3-A970-241ABFC1F719}"/>
              </a:ext>
            </a:extLst>
          </p:cNvPr>
          <p:cNvSpPr txBox="1"/>
          <p:nvPr/>
        </p:nvSpPr>
        <p:spPr>
          <a:xfrm>
            <a:off x="7498202" y="202819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 dirty="0">
                <a:solidFill>
                  <a:srgbClr val="1A1A1A"/>
                </a:solidFill>
                <a:latin typeface="Poppins"/>
              </a:rPr>
              <a:t>Edit the line to </a:t>
            </a:r>
            <a:r>
              <a:rPr sz="2000" b="0" i="0" dirty="0">
                <a:solidFill>
                  <a:srgbClr val="1A1A1A"/>
                </a:solidFill>
                <a:latin typeface="Consolas"/>
              </a:rPr>
              <a:t>const FC_ENABLED := true</a:t>
            </a:r>
            <a:r>
              <a:rPr sz="2000" b="0" i="0" dirty="0">
                <a:solidFill>
                  <a:srgbClr val="1A1A1A"/>
                </a:solidFill>
                <a:latin typeface="Poppins"/>
              </a:rPr>
              <a:t>. Save with </a:t>
            </a:r>
            <a:r>
              <a:rPr sz="2000" b="0" i="0" dirty="0" err="1">
                <a:solidFill>
                  <a:srgbClr val="1A1A1A"/>
                </a:solidFill>
                <a:latin typeface="Poppins"/>
              </a:rPr>
              <a:t>Ctrl+S</a:t>
            </a:r>
            <a:r>
              <a:rPr sz="2000" b="0" i="0" dirty="0">
                <a:solidFill>
                  <a:srgbClr val="1A1A1A"/>
                </a:solidFill>
                <a:latin typeface="Poppins"/>
              </a:rPr>
              <a:t>. The personality mode is now live.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93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37160" rIns="274320" bIns="137160" rtlCol="0" anchor="ctr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Spawn one ghost per personality — use </a:t>
            </a:r>
            <a:r>
              <a:rPr sz="2000" b="1" i="0">
                <a:solidFill>
                  <a:srgbClr val="1A1A1A"/>
                </a:solidFill>
                <a:latin typeface="Consolas"/>
              </a:rPr>
              <a:t>range(PERSONALITY_COUNT)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 and call </a:t>
            </a:r>
            <a:r>
              <a:rPr sz="2000" b="1" i="0">
                <a:solidFill>
                  <a:srgbClr val="1A1A1A"/>
                </a:solidFill>
                <a:latin typeface="Consolas"/>
              </a:rPr>
              <a:t>spawn_one_personality(i)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 each time.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5501487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for</a:t>
            </a:r>
            <a:r>
              <a:rPr sz="1800">
                <a:solidFill>
                  <a:srgbClr val="E6E6E6"/>
                </a:solidFill>
                <a:latin typeface="Consolas"/>
              </a:rPr>
              <a:t> i in </a:t>
            </a:r>
            <a:r>
              <a:rPr sz="1800">
                <a:solidFill>
                  <a:srgbClr val="DCDCAA"/>
                </a:solidFill>
                <a:latin typeface="Consolas"/>
              </a:rPr>
              <a:t>range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B5CEA8"/>
                </a:solidFill>
                <a:latin typeface="Consolas"/>
              </a:rPr>
              <a:t>3</a:t>
            </a:r>
            <a:r>
              <a:rPr sz="1800">
                <a:solidFill>
                  <a:srgbClr val="E6E6E6"/>
                </a:solidFill>
                <a:latin typeface="Consolas"/>
              </a:rPr>
              <a:t>):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DCDCAA"/>
                </a:solidFill>
                <a:latin typeface="Consolas"/>
              </a:rPr>
              <a:t>print</a:t>
            </a:r>
            <a:r>
              <a:rPr sz="1800">
                <a:solidFill>
                  <a:srgbClr val="E6E6E6"/>
                </a:solidFill>
                <a:latin typeface="Consolas"/>
              </a:rPr>
              <a:t>(i)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Where in your code (Godot):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007" y="2971800"/>
            <a:ext cx="5501487" cy="3520440"/>
          </a:xfrm>
          <a:prstGeom prst="rect">
            <a:avLst/>
          </a:prstGeom>
          <a:solidFill>
            <a:srgbClr val="EEEEEE"/>
          </a:solidFill>
          <a:ln w="25400">
            <a:solidFill>
              <a:srgbClr val="E53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8A8A8A"/>
                </a:solidFill>
                <a:latin typeface="Poppins"/>
              </a:rPr>
              <a:t>[ MISSING: unspecified 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58230" y="4291965"/>
            <a:ext cx="3851041" cy="880110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94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37160" rIns="274320" bIns="137160" rtlCol="0" anchor="ctr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Every frame, give every personality ghost one step — loop over </a:t>
            </a:r>
            <a:r>
              <a:rPr sz="2000" b="1" i="0">
                <a:solidFill>
                  <a:srgbClr val="1A1A1A"/>
                </a:solidFill>
                <a:latin typeface="Consolas"/>
              </a:rPr>
              <a:t>ghosts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 and call </a:t>
            </a:r>
            <a:r>
              <a:rPr sz="2000" b="1" i="0">
                <a:solidFill>
                  <a:srgbClr val="1A1A1A"/>
                </a:solidFill>
                <a:latin typeface="Consolas"/>
              </a:rPr>
              <a:t>step_personality(ghost)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5501487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for</a:t>
            </a:r>
            <a:r>
              <a:rPr sz="1800">
                <a:solidFill>
                  <a:srgbClr val="E6E6E6"/>
                </a:solidFill>
                <a:latin typeface="Consolas"/>
              </a:rPr>
              <a:t> colour in [</a:t>
            </a:r>
            <a:r>
              <a:rPr sz="1800">
                <a:solidFill>
                  <a:srgbClr val="CE9178"/>
                </a:solidFill>
                <a:latin typeface="Consolas"/>
              </a:rPr>
              <a:t>"red"</a:t>
            </a:r>
            <a:r>
              <a:rPr sz="1800">
                <a:solidFill>
                  <a:srgbClr val="E6E6E6"/>
                </a:solidFill>
                <a:latin typeface="Consolas"/>
              </a:rPr>
              <a:t>, </a:t>
            </a:r>
            <a:r>
              <a:rPr sz="1800">
                <a:solidFill>
                  <a:srgbClr val="CE9178"/>
                </a:solidFill>
                <a:latin typeface="Consolas"/>
              </a:rPr>
              <a:t>"green"</a:t>
            </a:r>
            <a:r>
              <a:rPr sz="1800">
                <a:solidFill>
                  <a:srgbClr val="E6E6E6"/>
                </a:solidFill>
                <a:latin typeface="Consolas"/>
              </a:rPr>
              <a:t>, </a:t>
            </a:r>
            <a:r>
              <a:rPr sz="1800">
                <a:solidFill>
                  <a:srgbClr val="CE9178"/>
                </a:solidFill>
                <a:latin typeface="Consolas"/>
              </a:rPr>
              <a:t>"blue"</a:t>
            </a:r>
            <a:r>
              <a:rPr sz="1800">
                <a:solidFill>
                  <a:srgbClr val="E6E6E6"/>
                </a:solidFill>
                <a:latin typeface="Consolas"/>
              </a:rPr>
              <a:t>]: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DCDCAA"/>
                </a:solidFill>
                <a:latin typeface="Consolas"/>
              </a:rPr>
              <a:t>print</a:t>
            </a:r>
            <a:r>
              <a:rPr sz="1800">
                <a:solidFill>
                  <a:srgbClr val="E6E6E6"/>
                </a:solidFill>
                <a:latin typeface="Consolas"/>
              </a:rPr>
              <a:t>(colour)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Where in your code (Godot):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007" y="2971800"/>
            <a:ext cx="5501487" cy="3520440"/>
          </a:xfrm>
          <a:prstGeom prst="rect">
            <a:avLst/>
          </a:prstGeom>
          <a:solidFill>
            <a:srgbClr val="EEEEEE"/>
          </a:solidFill>
          <a:ln w="25400">
            <a:solidFill>
              <a:srgbClr val="E53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8A8A8A"/>
                </a:solidFill>
                <a:latin typeface="Poppins"/>
              </a:rPr>
              <a:t>[ MISSING: unspecified 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58230" y="4291965"/>
            <a:ext cx="3851041" cy="880110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95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37160" rIns="274320" bIns="137160" rtlCol="0" anchor="ctr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Count how many ghosts in </a:t>
            </a:r>
            <a:r>
              <a:rPr sz="2000" b="1" i="0">
                <a:solidFill>
                  <a:srgbClr val="1A1A1A"/>
                </a:solidFill>
                <a:latin typeface="Consolas"/>
              </a:rPr>
              <a:t>ghosts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 have the given personality tag. Return the count.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5501487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n := </a:t>
            </a:r>
            <a:r>
              <a:rPr sz="1800">
                <a:solidFill>
                  <a:srgbClr val="B5CEA8"/>
                </a:solidFill>
                <a:latin typeface="Consolas"/>
              </a:rPr>
              <a:t>0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while</a:t>
            </a:r>
            <a:r>
              <a:rPr sz="1800">
                <a:solidFill>
                  <a:srgbClr val="E6E6E6"/>
                </a:solidFill>
                <a:latin typeface="Consolas"/>
              </a:rPr>
              <a:t> n &lt; </a:t>
            </a:r>
            <a:r>
              <a:rPr sz="1800">
                <a:solidFill>
                  <a:srgbClr val="B5CEA8"/>
                </a:solidFill>
                <a:latin typeface="Consolas"/>
              </a:rPr>
              <a:t>5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DCDCAA"/>
                </a:solidFill>
                <a:latin typeface="Consolas"/>
              </a:rPr>
              <a:t>print</a:t>
            </a:r>
            <a:r>
              <a:rPr sz="1800">
                <a:solidFill>
                  <a:srgbClr val="E6E6E6"/>
                </a:solidFill>
                <a:latin typeface="Consolas"/>
              </a:rPr>
              <a:t>(n)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n += </a:t>
            </a:r>
            <a:r>
              <a:rPr sz="1800">
                <a:solidFill>
                  <a:srgbClr val="B5CEA8"/>
                </a:solidFill>
                <a:latin typeface="Consolas"/>
              </a:rPr>
              <a:t>1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Where in your code (Godot):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007" y="2971800"/>
            <a:ext cx="5501487" cy="3520440"/>
          </a:xfrm>
          <a:prstGeom prst="rect">
            <a:avLst/>
          </a:prstGeom>
          <a:solidFill>
            <a:srgbClr val="EEEEEE"/>
          </a:solidFill>
          <a:ln w="25400">
            <a:solidFill>
              <a:srgbClr val="E53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8A8A8A"/>
                </a:solidFill>
                <a:latin typeface="Poppins"/>
              </a:rPr>
              <a:t>[ MISSING: unspecified 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58230" y="4291965"/>
            <a:ext cx="3851041" cy="880110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96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37160" rIns="274320" bIns="137160" rtlCol="0" anchor="ctr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Send every personality ghost back to the pen. Loop over </a:t>
            </a:r>
            <a:r>
              <a:rPr sz="2000" b="1" i="0">
                <a:solidFill>
                  <a:srgbClr val="1A1A1A"/>
                </a:solidFill>
                <a:latin typeface="Consolas"/>
              </a:rPr>
              <a:t>ghosts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 with an index counter and call </a:t>
            </a:r>
            <a:r>
              <a:rPr sz="2000" b="1" i="0">
                <a:solidFill>
                  <a:srgbClr val="1A1A1A"/>
                </a:solidFill>
                <a:latin typeface="Consolas"/>
              </a:rPr>
              <a:t>respawn_personality_ghost(ghost, i)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5501487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func</a:t>
            </a:r>
            <a:r>
              <a:rPr sz="1800">
                <a:solidFill>
                  <a:srgbClr val="E6E6E6"/>
                </a:solidFill>
                <a:latin typeface="Consolas"/>
              </a:rPr>
              <a:t> say_hi():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DCDCAA"/>
                </a:solidFill>
                <a:latin typeface="Consolas"/>
              </a:rPr>
              <a:t>print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CE9178"/>
                </a:solidFill>
                <a:latin typeface="Consolas"/>
              </a:rPr>
              <a:t>"hi!"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Where in your code (Godot):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007" y="2971800"/>
            <a:ext cx="5501487" cy="3520440"/>
          </a:xfrm>
          <a:prstGeom prst="rect">
            <a:avLst/>
          </a:prstGeom>
          <a:solidFill>
            <a:srgbClr val="EEEEEE"/>
          </a:solidFill>
          <a:ln w="25400">
            <a:solidFill>
              <a:srgbClr val="E53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8A8A8A"/>
                </a:solidFill>
                <a:latin typeface="Poppins"/>
              </a:rPr>
              <a:t>[ MISSING: unspecified 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58230" y="4291965"/>
            <a:ext cx="3851041" cy="880110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97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37160" rIns="274320" bIns="137160" rtlCol="0" anchor="ctr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Given a ghost, return its target tile. Read its personality, then return the right pre-given target helper.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5501487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func</a:t>
            </a:r>
            <a:r>
              <a:rPr sz="1800">
                <a:solidFill>
                  <a:srgbClr val="E6E6E6"/>
                </a:solidFill>
                <a:latin typeface="Consolas"/>
              </a:rPr>
              <a:t> add_points(amount):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score += amount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Where in your code (Godot):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007" y="2971800"/>
            <a:ext cx="5501487" cy="3520440"/>
          </a:xfrm>
          <a:prstGeom prst="rect">
            <a:avLst/>
          </a:prstGeom>
          <a:solidFill>
            <a:srgbClr val="EEEEEE"/>
          </a:solidFill>
          <a:ln w="25400">
            <a:solidFill>
              <a:srgbClr val="E53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8A8A8A"/>
                </a:solidFill>
                <a:latin typeface="Poppins"/>
              </a:rPr>
              <a:t>[ MISSING: unspecified 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58230" y="4291965"/>
            <a:ext cx="3851041" cy="880110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98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37160" rIns="274320" bIns="137160" rtlCol="0" anchor="ctr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Return </a:t>
            </a:r>
            <a:r>
              <a:rPr sz="2000" b="1" i="0">
                <a:solidFill>
                  <a:srgbClr val="1A1A1A"/>
                </a:solidFill>
                <a:latin typeface="Consolas"/>
              </a:rPr>
              <a:t>true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 if the ghost is closer than 8 tiles to the player — call </a:t>
            </a:r>
            <a:r>
              <a:rPr sz="2000" b="1" i="0">
                <a:solidFill>
                  <a:srgbClr val="1A1A1A"/>
                </a:solidFill>
                <a:latin typeface="Consolas"/>
              </a:rPr>
              <a:t>distance_to_player(ghost)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 and compare.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5501487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func</a:t>
            </a:r>
            <a:r>
              <a:rPr sz="1800">
                <a:solidFill>
                  <a:srgbClr val="E6E6E6"/>
                </a:solidFill>
                <a:latin typeface="Consolas"/>
              </a:rPr>
              <a:t> is_even(n) -&gt; </a:t>
            </a:r>
            <a:r>
              <a:rPr sz="1800">
                <a:solidFill>
                  <a:srgbClr val="DCDCAA"/>
                </a:solidFill>
                <a:latin typeface="Consolas"/>
              </a:rPr>
              <a:t>bool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569CD6"/>
                </a:solidFill>
                <a:latin typeface="Consolas"/>
              </a:rPr>
              <a:t>return</a:t>
            </a:r>
            <a:r>
              <a:rPr sz="1800">
                <a:solidFill>
                  <a:srgbClr val="E6E6E6"/>
                </a:solidFill>
                <a:latin typeface="Consolas"/>
              </a:rPr>
              <a:t> n % </a:t>
            </a:r>
            <a:r>
              <a:rPr sz="1800">
                <a:solidFill>
                  <a:srgbClr val="B5CEA8"/>
                </a:solidFill>
                <a:latin typeface="Consolas"/>
              </a:rPr>
              <a:t>2</a:t>
            </a:r>
            <a:r>
              <a:rPr sz="1800">
                <a:solidFill>
                  <a:srgbClr val="E6E6E6"/>
                </a:solidFill>
                <a:latin typeface="Consolas"/>
              </a:rPr>
              <a:t> == </a:t>
            </a:r>
            <a:r>
              <a:rPr sz="1800">
                <a:solidFill>
                  <a:srgbClr val="B5CEA8"/>
                </a:solidFill>
                <a:latin typeface="Consolas"/>
              </a:rPr>
              <a:t>0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Where in your code (Godot):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007" y="2971800"/>
            <a:ext cx="5501487" cy="3520440"/>
          </a:xfrm>
          <a:prstGeom prst="rect">
            <a:avLst/>
          </a:prstGeom>
          <a:solidFill>
            <a:srgbClr val="EEEEEE"/>
          </a:solidFill>
          <a:ln w="25400">
            <a:solidFill>
              <a:srgbClr val="E53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8A8A8A"/>
                </a:solidFill>
                <a:latin typeface="Poppins"/>
              </a:rPr>
              <a:t>[ MISSING: unspecified 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58230" y="4291965"/>
            <a:ext cx="3851041" cy="880110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4781</Words>
  <Application>Microsoft Office PowerPoint</Application>
  <PresentationFormat>Widescreen</PresentationFormat>
  <Paragraphs>768</Paragraphs>
  <Slides>94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94</vt:i4>
      </vt:variant>
    </vt:vector>
  </HeadingPairs>
  <TitlesOfParts>
    <vt:vector size="99" baseType="lpstr">
      <vt:lpstr>Arial</vt:lpstr>
      <vt:lpstr>Calibri</vt:lpstr>
      <vt:lpstr>Consolas</vt:lpstr>
      <vt:lpstr>Poppins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Westley Yarlott</cp:lastModifiedBy>
  <cp:revision>20</cp:revision>
  <dcterms:created xsi:type="dcterms:W3CDTF">2013-01-27T09:14:16Z</dcterms:created>
  <dcterms:modified xsi:type="dcterms:W3CDTF">2026-06-12T01:20:52Z</dcterms:modified>
  <cp:category/>
</cp:coreProperties>
</file>