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90" r:id="rId33"/>
    <p:sldId id="291" r:id="rId34"/>
    <p:sldId id="292" r:id="rId35"/>
    <p:sldId id="293" r:id="rId36"/>
    <p:sldId id="295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7" r:id="rId47"/>
    <p:sldId id="306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2" r:id="rId61"/>
    <p:sldId id="325" r:id="rId62"/>
    <p:sldId id="321" r:id="rId63"/>
    <p:sldId id="323" r:id="rId64"/>
    <p:sldId id="324" r:id="rId65"/>
    <p:sldId id="326" r:id="rId66"/>
    <p:sldId id="327" r:id="rId67"/>
    <p:sldId id="328" r:id="rId68"/>
    <p:sldId id="329" r:id="rId69"/>
    <p:sldId id="33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2" r:id="rId80"/>
    <p:sldId id="345" r:id="rId81"/>
    <p:sldId id="343" r:id="rId82"/>
    <p:sldId id="344" r:id="rId83"/>
    <p:sldId id="346" r:id="rId84"/>
    <p:sldId id="354" r:id="rId85"/>
    <p:sldId id="355" r:id="rId8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992D04-1500-3D67-91D7-9AC946635609}"/>
              </a:ext>
            </a:extLst>
          </p:cNvPr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dirty="0">
                <a:solidFill>
                  <a:srgbClr val="8A8A8A"/>
                </a:solidFill>
                <a:latin typeface="Poppins"/>
              </a:rPr>
              <a:t>Whomp whomp </a:t>
            </a:r>
            <a:r>
              <a:rPr lang="en-US" sz="2400" dirty="0" err="1">
                <a:solidFill>
                  <a:srgbClr val="8A8A8A"/>
                </a:solidFill>
                <a:latin typeface="Poppins"/>
              </a:rPr>
              <a:t>pacman</a:t>
            </a:r>
            <a:r>
              <a:rPr lang="en-US" sz="2400" dirty="0">
                <a:solidFill>
                  <a:srgbClr val="8A8A8A"/>
                </a:solidFill>
                <a:latin typeface="Poppins"/>
              </a:rPr>
              <a:t> chomp</a:t>
            </a:r>
            <a:endParaRPr sz="24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2756684"/>
            <a:ext cx="4236598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Dots to 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eat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Ghosts to dodge. A tunnel that wraps. Every visible thing on screen is a tile painted on a grid — and the code you'll write moves the player and spawns the ghosts.</a:t>
            </a:r>
          </a:p>
        </p:txBody>
      </p:sp>
      <p:pic>
        <p:nvPicPr>
          <p:cNvPr id="11" name="Picture 10" descr="A video game with a black background&#10;&#10;AI-generated content may be incorrect.">
            <a:extLst>
              <a:ext uri="{FF2B5EF4-FFF2-40B4-BE49-F238E27FC236}">
                <a16:creationId xmlns:a16="http://schemas.microsoft.com/office/drawing/2014/main" id="{EB949686-51AB-D3AD-483D-7967ACE7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55" y="1019466"/>
            <a:ext cx="5105412" cy="57013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Pac-Man changed everything (1980)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Pre-1980 arcades = almost all space shooters (Space Invaders, Asteroids). Pac-Man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invented the maze chase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game with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character that had personality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Pac-Man + 4 named ghosts (Blinky, Pinky, Inky, Clyde), each its own AI brain.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game with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cutscenes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intermissions between levels).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arcade game marketed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beyond boys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broke the "arcade = boys only" mold.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First giant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merchandising wave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lunchboxes, a cartoon, a hit song ("Pac-Man Fever").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Bottom line: no Pac-Man → maybe no Mario, no Sonic, no character mascots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Yesterday →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Variables + Conditions. You named things and made choices.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 + 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You repeat things and package code into reusable recipes.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Two new tools on 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1 ✓ Pong — Vars + Conditions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Day 2 ← Pac-Man — Loops + Functions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3 Tower Defense — Lists + Objects (preview)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4 Fighter — Objects deep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Day 5 VR Escape Room — Showcase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concepts: Loops +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make the same code run again and again (spawn 3 ghosts, move every ghost, scan 868 tiles).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give a block of code a name, call it whenever you need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77724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 err="1">
                <a:solidFill>
                  <a:srgbClr val="1A1A1A"/>
                </a:solidFill>
                <a:latin typeface="Poppins"/>
              </a:rPr>
              <a:t>GDScript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 is Python — except one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1150" y="1325880"/>
            <a:ext cx="9696145" cy="55321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Python: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for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i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in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range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>
                <a:solidFill>
                  <a:srgbClr val="B5CEA8"/>
                </a:solidFill>
                <a:latin typeface="Consolas"/>
              </a:rPr>
              <a:t>5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):   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GDScript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for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i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in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range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>
                <a:solidFill>
                  <a:srgbClr val="B5CEA8"/>
                </a:solidFill>
                <a:latin typeface="Consolas"/>
              </a:rPr>
              <a:t>5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 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i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                              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i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Python: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for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item in stuff:   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GDScript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for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item in stuff: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 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(item)                           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(item)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Python: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while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lives &gt; </a:t>
            </a:r>
            <a:r>
              <a:rPr sz="1800" dirty="0">
                <a:solidFill>
                  <a:srgbClr val="B5CEA8"/>
                </a:solidFill>
                <a:latin typeface="Consolas"/>
              </a:rPr>
              <a:t>0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    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GDScript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while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lives &gt; </a:t>
            </a:r>
            <a:r>
              <a:rPr sz="1800" dirty="0">
                <a:solidFill>
                  <a:srgbClr val="B5CEA8"/>
                </a:solidFill>
                <a:latin typeface="Consolas"/>
              </a:rPr>
              <a:t>0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keep_playing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()                   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keep_playing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Python:   def add(a, b):            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GDScript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   </a:t>
            </a:r>
            <a:r>
              <a:rPr sz="1800" dirty="0" err="1">
                <a:solidFill>
                  <a:srgbClr val="569CD6"/>
                </a:solidFill>
                <a:latin typeface="Consolas"/>
              </a:rPr>
              <a:t>func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add(a, b):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       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a + b                         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return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a + b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the Day 2 Maze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Open the Day 2 Maze project the same way you did yesterday.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A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Godot Launcher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Navigate to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Day2_Maze_Game/project.godot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Open main.gd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 dirty="0">
                <a:solidFill>
                  <a:srgbClr val="8A8A8A"/>
                </a:solidFill>
                <a:latin typeface="Poppins"/>
              </a:rPr>
              <a:t>Open </a:t>
            </a:r>
            <a:r>
              <a:rPr sz="2400" b="0" i="0" dirty="0" err="1">
                <a:solidFill>
                  <a:srgbClr val="8A8A8A"/>
                </a:solidFill>
                <a:latin typeface="Consolas"/>
              </a:rPr>
              <a:t>main.gd</a:t>
            </a:r>
            <a:r>
              <a:rPr sz="2400" b="0" i="0" dirty="0">
                <a:solidFill>
                  <a:srgbClr val="8A8A8A"/>
                </a:solidFill>
                <a:latin typeface="Poppins"/>
              </a:rPr>
              <a:t> and switch to the Script editor — same way as yesterday.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B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 →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Double-click → Script editor opens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New today: TileSet and TileMapLayer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TileSet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palette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A resource file that chops the Kenney atlas PNG into named 16×16 tiles.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TileMapLayer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scene that paints tiles from the TileSet onto a 2D grid.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Think: TileSet = the box of crayons. TileMapLayer = the coloring page.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 layers share one TileSet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Walls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layer — collision tiles that block movement.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layer — the pellets to chomp.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Both layers use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same TileSet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palette. Two painted canvases, one box of crayons.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Your chunk #6 call: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wall_layer.get_cell_source_id(cell)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returns tile ID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empty.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D2TileSet2.png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3372237"/>
            <a:ext cx="4236598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000" b="0" i="0" dirty="0" err="1">
                <a:solidFill>
                  <a:srgbClr val="1A1A1A"/>
                </a:solidFill>
                <a:latin typeface="Poppins"/>
              </a:rPr>
              <a:t>Doube</a:t>
            </a: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 click the </a:t>
            </a:r>
            <a:r>
              <a:rPr lang="en-US" sz="2000" b="1" i="0" dirty="0" err="1">
                <a:solidFill>
                  <a:srgbClr val="1A1A1A"/>
                </a:solidFill>
                <a:latin typeface="Poppins"/>
              </a:rPr>
              <a:t>PacmanTileSet.tres</a:t>
            </a:r>
            <a:r>
              <a:rPr lang="en-US" sz="2000" b="1" i="0" dirty="0">
                <a:solidFill>
                  <a:srgbClr val="1A1A1A"/>
                </a:solidFill>
                <a:latin typeface="Poppins"/>
              </a:rPr>
              <a:t> </a:t>
            </a:r>
            <a:r>
              <a:rPr lang="en-US" sz="2000" i="0" dirty="0">
                <a:solidFill>
                  <a:srgbClr val="1A1A1A"/>
                </a:solidFill>
                <a:latin typeface="Poppins"/>
              </a:rPr>
              <a:t>file</a:t>
            </a:r>
            <a:endParaRPr sz="2000" b="1" i="0" dirty="0">
              <a:solidFill>
                <a:srgbClr val="1A1A1A"/>
              </a:solidFill>
              <a:latin typeface="Poppins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521972-F607-F6EC-29BB-29211074E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55" y="642620"/>
            <a:ext cx="5168900" cy="5803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T.3 — TileSet panel at the bottom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TileSet panel appears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bottom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of the editor.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Left side =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Sources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one source: the Kenney atlas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tilemap_packed.png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T.4 — Click the source 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source row in the Sources list.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atlas appears on the right,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chopped into 16×16 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Each tile has an ID — that's what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get_cell_source_id()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get_cell_source_id(cell)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your one TileSet 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Returns the tile's source ID, or -1 if no tile is painted there.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id = wall_layer.get_cell_source_id(cell)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id == -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"open floor"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T.6 — Back to the 2D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2D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 of the editor.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You've seen the full TileSet pipeline. Now you know what the grid is made of.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Loop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does 'loop'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Roller coaster loop — the track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comes back around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rope tied in a loop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no beginning, no 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code: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 = code that repeats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loop runs the same code again and again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write the action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loop runs it as many times as you say.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 copy-paste. No 50 lines of the same thing.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for i in range(3):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i in </a:t>
            </a:r>
            <a:r>
              <a:rPr sz="1800">
                <a:solidFill>
                  <a:srgbClr val="DCDCAA"/>
                </a:solidFill>
                <a:latin typeface="Consolas"/>
              </a:rPr>
              <a:t>range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(i)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prints: 0  1  2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14 stairs to your bedroom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night: step, step, step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14 times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Same motion. Known count.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range(14):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    climb_one_stair()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know exactly how many stairs. The loop counts for you.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many times does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range(5)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range(N)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= N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runs 3 times (i = 0, 1, 2).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range(10)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runs 10 times.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range(0)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runs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zero times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no stairs to climb.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Rule: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`range(N)` gives you N stairs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loop all the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Spawn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50 trees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a forest level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range(50):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Deal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4 cards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game start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range(4):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Create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12 enemies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first wave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range(12):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Write the action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loop handles the rest.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spawn 3 ghosts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startup, 3 ghosts need to appear in the pen.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Without a loop: write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spawn_ghost_at(...)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times. Copy-paste.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 a loop: write it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handles 3.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 TODO #1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marker 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This runs once when the game starts.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D7CCEB-E490-57BA-120C-592AFC034E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733"/>
          <a:stretch/>
        </p:blipFill>
        <p:spPr>
          <a:xfrm>
            <a:off x="256040" y="2763244"/>
            <a:ext cx="7192238" cy="230848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Spawn three ghosts in the pen — but write the spawn call only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i in </a:t>
            </a:r>
            <a:r>
              <a:rPr sz="1800">
                <a:solidFill>
                  <a:srgbClr val="DCDCAA"/>
                </a:solidFill>
                <a:latin typeface="Consolas"/>
              </a:rPr>
              <a:t>range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(i)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FBA393-EF39-5870-DDAD-7184F612CF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733"/>
          <a:stretch/>
        </p:blipFill>
        <p:spPr>
          <a:xfrm>
            <a:off x="4464023" y="3509197"/>
            <a:ext cx="7544792" cy="242164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Run your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the same key you used yesterday to start the project.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6077"/>
            <a:ext cx="11277295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If your </a:t>
            </a:r>
            <a:r>
              <a:rPr lang="en-US" sz="5400" b="1" dirty="0">
                <a:solidFill>
                  <a:srgbClr val="1A1A1A"/>
                </a:solidFill>
                <a:latin typeface="Poppins"/>
              </a:rPr>
              <a:t>g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ame didn't open</a:t>
            </a:r>
            <a:r>
              <a:rPr lang="en-US" sz="5400" b="1" dirty="0">
                <a:solidFill>
                  <a:srgbClr val="1A1A1A"/>
                </a:solidFill>
                <a:latin typeface="Poppins"/>
              </a:rPr>
              <a:t>, w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hat does the error say?</a:t>
            </a:r>
            <a:endParaRPr sz="5400" b="1" i="0" dirty="0">
              <a:solidFill>
                <a:srgbClr val="1A1A1A"/>
              </a:solidFill>
              <a:latin typeface="Poppi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A1150-F624-1465-4FB1-807433BC693A}"/>
              </a:ext>
            </a:extLst>
          </p:cNvPr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0" i="0" dirty="0">
                <a:solidFill>
                  <a:srgbClr val="8A8A8A"/>
                </a:solidFill>
                <a:latin typeface="Poppins"/>
              </a:rPr>
              <a:t>Error locations are always given as the line number (line 22)</a:t>
            </a:r>
            <a:endParaRPr sz="2400" b="0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Walk D — Hint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Find the error line →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blue line number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editor jumps to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Fix the typo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again.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Same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for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. New shape.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Last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i in range(3)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wrote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number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range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Known count.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ghost in ghosts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write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name of a list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 already have.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loop visits every item in the list, one by one.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Each frame, walk through all the ghosts and move each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for</a:t>
            </a:r>
            <a:r>
              <a:rPr sz="1800">
                <a:solidFill>
                  <a:srgbClr val="E6E6E6"/>
                </a:solidFill>
                <a:latin typeface="Consolas"/>
              </a:rPr>
              <a:t> colour in [</a:t>
            </a:r>
            <a:r>
              <a:rPr sz="1800">
                <a:solidFill>
                  <a:srgbClr val="CE9178"/>
                </a:solidFill>
                <a:latin typeface="Consolas"/>
              </a:rPr>
              <a:t>"red"</a:t>
            </a:r>
            <a:r>
              <a:rPr sz="1800">
                <a:solidFill>
                  <a:srgbClr val="E6E6E6"/>
                </a:solidFill>
                <a:latin typeface="Consolas"/>
              </a:rPr>
              <a:t>, </a:t>
            </a:r>
            <a:r>
              <a:rPr sz="1800">
                <a:solidFill>
                  <a:srgbClr val="CE9178"/>
                </a:solidFill>
                <a:latin typeface="Consolas"/>
              </a:rPr>
              <a:t>"green"</a:t>
            </a:r>
            <a:r>
              <a:rPr sz="1800">
                <a:solidFill>
                  <a:srgbClr val="E6E6E6"/>
                </a:solidFill>
                <a:latin typeface="Consolas"/>
              </a:rPr>
              <a:t>, </a:t>
            </a:r>
            <a:r>
              <a:rPr sz="1800">
                <a:solidFill>
                  <a:srgbClr val="CE9178"/>
                </a:solidFill>
                <a:latin typeface="Consolas"/>
              </a:rPr>
              <a:t>"blue"</a:t>
            </a:r>
            <a:r>
              <a:rPr sz="1800">
                <a:solidFill>
                  <a:srgbClr val="E6E6E6"/>
                </a:solidFill>
                <a:latin typeface="Consolas"/>
              </a:rPr>
              <a:t>]: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(colour)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D2C2.png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0906FB-DB00-BD10-1BE6-7F5E2BD1F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3335903"/>
            <a:ext cx="5767921" cy="270079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86077"/>
            <a:ext cx="11277295" cy="17543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 dirty="0">
                <a:solidFill>
                  <a:srgbClr val="1A1A1A"/>
                </a:solidFill>
                <a:latin typeface="Poppins"/>
              </a:rPr>
              <a:t>Loops have a cousin</a:t>
            </a:r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 named</a:t>
            </a:r>
            <a:r>
              <a:rPr sz="5400" b="1" i="0" dirty="0">
                <a:solidFill>
                  <a:srgbClr val="1A1A1A"/>
                </a:solidFill>
                <a:latin typeface="Poppins"/>
              </a:rPr>
              <a:t> </a:t>
            </a:r>
            <a:r>
              <a:rPr sz="5400" b="1" i="0" dirty="0">
                <a:solidFill>
                  <a:srgbClr val="1A1A1A"/>
                </a:solidFill>
                <a:latin typeface="Consolas"/>
              </a:rPr>
              <a:t>while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while = as long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it's raining, stay inside.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there's food on the plate, keep eating.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 code: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runs the block again and again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as long as the condition is 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var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n := </a:t>
            </a:r>
            <a:r>
              <a:rPr sz="1800" dirty="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569CD6"/>
                </a:solidFill>
                <a:latin typeface="Consolas"/>
              </a:rPr>
              <a:t>while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n &lt; </a:t>
            </a:r>
            <a:r>
              <a:rPr sz="1800" dirty="0">
                <a:solidFill>
                  <a:srgbClr val="B5CEA8"/>
                </a:solidFill>
                <a:latin typeface="Consolas"/>
              </a:rPr>
              <a:t>5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</a:t>
            </a:r>
            <a:r>
              <a:rPr sz="1800" dirty="0">
                <a:solidFill>
                  <a:srgbClr val="DCDCAA"/>
                </a:solidFill>
                <a:latin typeface="Consolas"/>
              </a:rPr>
              <a:t>print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(n)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n += </a:t>
            </a:r>
            <a:r>
              <a:rPr sz="1800" dirty="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>
                <a:solidFill>
                  <a:srgbClr val="6A9955"/>
                </a:solidFill>
                <a:latin typeface="Consolas"/>
              </a:rPr>
              <a:t># prints: 0  1  2  3  4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for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vs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same stairs, different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`for`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KNOW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count. (14 stairs to your bedroom — you've climbed them 1000 times.)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`while`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DON'T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know the count. (Stairs in the dark — step up, stop when your foot finds no stair.)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repeated motion. Different stopping rule.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Stairs in the dark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Power's out. You're climbing stairs. You can't see the top.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Step. Step. Step. Each time: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is there another stair?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Yes → keep going. No → stop.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don't know the count in advance. You stop when the condition is false.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dirty="0">
                <a:solidFill>
                  <a:srgbClr val="1A1A1A"/>
                </a:solidFill>
                <a:latin typeface="Poppins"/>
              </a:rPr>
              <a:t>How many times does </a:t>
            </a:r>
            <a:r>
              <a:rPr lang="en-US" sz="3600" b="1" dirty="0">
                <a:solidFill>
                  <a:srgbClr val="1A1A1A"/>
                </a:solidFill>
                <a:latin typeface="Poppins"/>
              </a:rPr>
              <a:t>n get printed</a:t>
            </a:r>
            <a:r>
              <a:rPr sz="3600" b="1" i="0" dirty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n :=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while</a:t>
            </a:r>
            <a:r>
              <a:rPr sz="1800">
                <a:solidFill>
                  <a:srgbClr val="E6E6E6"/>
                </a:solidFill>
                <a:latin typeface="Consolas"/>
              </a:rPr>
              <a:t> n &gt;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(n)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n -=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= keep going until the condition is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n &lt; 5: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stop when n reaches 5.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lives &gt; 0: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stop when lives hit 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has_more_dots():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stop when no dots remain.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Scan a grid for coins: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x &lt; map_width: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Fall until you hit the floor: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not on_ground: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Keep playing until lives run out: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 lives &gt; 0: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Anything where you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don't know the count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advance.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count every dot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maze is 28 × 31 =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868 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At startup, count how many tiles have a dot — that's the win target.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Scan every column (x) → every row (y) → count the dots.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Neither loop knows the tile count in advance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D2C3a.png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1302" y="3429000"/>
            <a:ext cx="3671753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One line in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_ready()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: call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count_dots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()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and store the result.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F0C8EE-3D6F-87E1-0DD8-3F6C379B62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47" r="36931"/>
          <a:stretch/>
        </p:blipFill>
        <p:spPr>
          <a:xfrm>
            <a:off x="274320" y="1620613"/>
            <a:ext cx="7376477" cy="407397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Get the dot total from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and store it in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dots_remaining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dots_remaining = count_dots()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D2C3a.png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AF1821-5E9F-03C2-6F4E-C17F2CED1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49" y="3597976"/>
            <a:ext cx="6688785" cy="217664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D2C3b.png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whole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count_dots()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 body. You'll write the nested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loops inside.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28A562-A1BF-5908-9F38-042871D7D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75" y="1280160"/>
            <a:ext cx="7146062" cy="48133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Scan the whole maze with a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loop. Count the dots. Return the 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n :=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while</a:t>
            </a:r>
            <a:r>
              <a:rPr sz="1800">
                <a:solidFill>
                  <a:srgbClr val="E6E6E6"/>
                </a:solidFill>
                <a:latin typeface="Consolas"/>
              </a:rPr>
              <a:t> n &lt;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(n)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n +=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D2C3b.png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C08443-6C09-0DED-3ACF-E03FF6976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49" y="3129878"/>
            <a:ext cx="4757237" cy="320428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Function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What's the function of…?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remote control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change the channel. That's its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calculator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 math. That's its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let you through (or keep you out). That's its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Function =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the thing it DOES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 = a name for a block of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say_hi():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defines the function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say_hi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say_hi()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calls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 — runs the block.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Define the recipe once. Call it any number of times.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func say_hi():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say_hi():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"hi!"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say_hi()   </a:t>
            </a:r>
            <a:r>
              <a:rPr sz="1800">
                <a:solidFill>
                  <a:srgbClr val="6A9955"/>
                </a:solidFill>
                <a:latin typeface="Consolas"/>
              </a:rPr>
              <a:t># → "hi!"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say_hi()   </a:t>
            </a:r>
            <a:r>
              <a:rPr sz="1800">
                <a:solidFill>
                  <a:srgbClr val="6A9955"/>
                </a:solidFill>
                <a:latin typeface="Consolas"/>
              </a:rPr>
              <a:t># → "hi!"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pizza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walk into a pizza shop. You say: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"Margherita."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kitchen makes dough → adds tomato → adds cheese → bakes → cuts → boxes.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didn't say any of that. You just said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name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recipe ran.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many times does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say_hi()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print if you call it 3 times?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Define once. Call anywhere.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Without functions: copy-paste the same 5 lines every time you need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With functions: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write once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call by name from anywhere in the file.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Change the recipe once → every call gets the update automatically.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are everywhere in games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jump()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called whenever player presses space.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die()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called when health hits 0.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spawn_enemy()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called at the start of each wave.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Define once. Call from many places. No copy-paste.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reset_player()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When a ghost catches the player, we need to: send them home, clear movement, wipe direction.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That's 5 lines. We wrap them in a function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reset_player()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game calls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reset_player()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every time a ghost catches the player.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D2C4.png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function body is at main.gd:153-160. You'll write the contents.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F2F9C6-8B47-92A3-BD99-06985C909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35" y="1857177"/>
            <a:ext cx="7225202" cy="373800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Send the player back to the starting tile.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say_hi():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"hi!"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D2C4.png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3E766E-9F83-6744-AFDE-9ED7D5BF68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7" t="12514" r="23557" b="8378"/>
          <a:stretch/>
        </p:blipFill>
        <p:spPr>
          <a:xfrm>
            <a:off x="6579765" y="2887081"/>
            <a:ext cx="4697530" cy="373559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Parameter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Margherita — large or small?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say: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"Margherita large."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Kitchen runs the same recipe. Big ball of dough.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say: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"Margherita small."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recipe. Small ball of dough.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parameter. One recipe, different inputs.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can take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Last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reset_player()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no inputs. Same thing every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chunk: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something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between the parentheses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thing is called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parameter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 input you hand to the function.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parameter is info you hand to the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add_points(amount):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add_points(10)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10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inside the function.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Call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add_points(50)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amount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50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function. Different input each time.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func add_points(amount):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add_points(amount):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score += 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add_points(</a:t>
            </a:r>
            <a:r>
              <a:rPr sz="1800">
                <a:solidFill>
                  <a:srgbClr val="B5CEA8"/>
                </a:solidFill>
                <a:latin typeface="Consolas"/>
              </a:rPr>
              <a:t>10</a:t>
            </a:r>
            <a:r>
              <a:rPr sz="1800">
                <a:solidFill>
                  <a:srgbClr val="E6E6E6"/>
                </a:solidFill>
                <a:latin typeface="Consolas"/>
              </a:rPr>
              <a:t>)   </a:t>
            </a:r>
            <a:r>
              <a:rPr sz="1800">
                <a:solidFill>
                  <a:srgbClr val="6A9955"/>
                </a:solidFill>
                <a:latin typeface="Consolas"/>
              </a:rPr>
              <a:t># score goes up 10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add_points(</a:t>
            </a:r>
            <a:r>
              <a:rPr sz="1800">
                <a:solidFill>
                  <a:srgbClr val="B5CEA8"/>
                </a:solidFill>
                <a:latin typeface="Consolas"/>
              </a:rPr>
              <a:t>50</a:t>
            </a:r>
            <a:r>
              <a:rPr sz="1800">
                <a:solidFill>
                  <a:srgbClr val="E6E6E6"/>
                </a:solidFill>
                <a:latin typeface="Consolas"/>
              </a:rPr>
              <a:t>)   </a:t>
            </a:r>
            <a:r>
              <a:rPr sz="1800">
                <a:solidFill>
                  <a:srgbClr val="6A9955"/>
                </a:solidFill>
                <a:latin typeface="Consolas"/>
              </a:rPr>
              <a:t># score goes up 50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One function. Different inputs each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move_player(Vector2i.UP)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moves up.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move_player(Vector2i.DOWN)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moves down.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Same function, called 4 times a second with whatever key is pressed.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move_player(direction)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direction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parameter —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Vector2i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for up, down, left, or right.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Arrow key pressed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direction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set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called.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function moves the player one tile in that direction (if no wall is in the way).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505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D2C5.png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2910572"/>
            <a:ext cx="4236598" cy="1631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move_player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(direction)</a:t>
            </a:r>
            <a:endParaRPr lang="en-US" sz="2000" dirty="0">
              <a:solidFill>
                <a:srgbClr val="1A1A1A"/>
              </a:solidFill>
              <a:latin typeface="Poppins"/>
            </a:endParaRPr>
          </a:p>
          <a:p>
            <a:pPr algn="l"/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The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direction: Vector2i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in the signature is today's lesson — that's the parameter.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3E4F77-ADAA-B8FC-5154-3F7AF8031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69" y="2289810"/>
            <a:ext cx="7161063" cy="273939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Move the player one tile in the direction they pressed — but only if a wall isn't in the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</a:t>
            </a:r>
            <a:r>
              <a:rPr sz="1800" dirty="0" err="1">
                <a:solidFill>
                  <a:srgbClr val="569CD6"/>
                </a:solidFill>
                <a:latin typeface="Consolas"/>
              </a:rPr>
              <a:t>func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  <a:r>
              <a:rPr sz="1800" dirty="0" err="1">
                <a:solidFill>
                  <a:srgbClr val="E6E6E6"/>
                </a:solidFill>
                <a:latin typeface="Consolas"/>
              </a:rPr>
              <a:t>add_points</a:t>
            </a:r>
            <a:r>
              <a:rPr sz="1800" dirty="0">
                <a:solidFill>
                  <a:srgbClr val="E6E6E6"/>
                </a:solidFill>
                <a:latin typeface="Consolas"/>
              </a:rPr>
              <a:t>(amount):</a:t>
            </a: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     </a:t>
            </a:r>
            <a:r>
              <a:rPr lang="en-US" sz="1800" dirty="0">
                <a:solidFill>
                  <a:srgbClr val="E6E6E6"/>
                </a:solidFill>
                <a:latin typeface="Consolas"/>
              </a:rPr>
              <a:t>if(amount &gt; minimum)</a:t>
            </a:r>
          </a:p>
          <a:p>
            <a:pPr algn="l"/>
            <a:r>
              <a:rPr lang="en-US" dirty="0">
                <a:solidFill>
                  <a:srgbClr val="E6E6E6"/>
                </a:solidFill>
                <a:latin typeface="Consolas"/>
              </a:rPr>
              <a:t>		total += amount;</a:t>
            </a:r>
            <a:endParaRPr sz="1800" dirty="0">
              <a:solidFill>
                <a:srgbClr val="E6E6E6"/>
              </a:solidFill>
              <a:latin typeface="Consolas"/>
            </a:endParaRPr>
          </a:p>
          <a:p>
            <a:pPr algn="l"/>
            <a:r>
              <a:rPr sz="1800" dirty="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D2C5.png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AF9F7E-3FB7-F02E-3738-E1053B704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457" y="3585062"/>
            <a:ext cx="5501488" cy="210453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Functions can HAND BACK an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So far: functions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something.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reset_player()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moves the player.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move_player(dir)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slides them.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 idea: a function can also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return a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hand an answer back to the caller.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answer has a name: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return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return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return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hands a value back to the caller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"here's your answer."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caller gets the value and can use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y = double(5)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double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returns 10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10.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func double(n) -&gt; int: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double(n) -&gt; </a:t>
            </a:r>
            <a:r>
              <a:rPr sz="1800">
                <a:solidFill>
                  <a:srgbClr val="DCDCAA"/>
                </a:solidFill>
                <a:latin typeface="Consolas"/>
              </a:rPr>
              <a:t>int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n *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y = double(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)   </a:t>
            </a:r>
            <a:r>
              <a:rPr sz="1800">
                <a:solidFill>
                  <a:srgbClr val="6A9955"/>
                </a:solidFill>
                <a:latin typeface="Consolas"/>
              </a:rPr>
              <a:t># y = 10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z = double(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)   </a:t>
            </a:r>
            <a:r>
              <a:rPr sz="1800">
                <a:solidFill>
                  <a:srgbClr val="6A9955"/>
                </a:solidFill>
                <a:latin typeface="Consolas"/>
              </a:rPr>
              <a:t># z = 6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Remember booleans from Day 1?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boolean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a true/false value — the light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= off.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Today: our function hands back a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boolean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"yes this is a wall" or "no it isn't."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kitchen hands the pizza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Old version: you say "margherita", kitchen makes it. No pizza in your hands.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New version: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dinner = margherita("large")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kitchen makes it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hands it to you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dinner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the pizza. That's the return value.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-&gt; bool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= this function answers yes or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hit_wall(cell)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"is there a wall at this cell?"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is_alive()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"is the player still alive?"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in_range(target) -&gt; bool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"is the enemy close enough to shoot?"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yes/no check in a game is a bool-returning function.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In our game: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hit_wall(cell)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move_player(direction)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needs to know: "is the next tile a wall?"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It calls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hit_wall(next_cell)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gets back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don't move. If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move.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One question. One yes/no answer.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D2C6.png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hit_wall(cell)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main.gd:201-204. Off-grid + tunnel guards are pre-given. You write only the in-grid wall query.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BE6361-B3EF-951E-08F0-A4B4B8C5C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37" y="1143000"/>
            <a:ext cx="6354062" cy="5353797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77295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bIns="137160" rtlCol="0" anchor="ctr"/>
          <a:lstStyle/>
          <a:p>
            <a:pPr algn="l"/>
            <a:r>
              <a:rPr sz="2000" b="1" i="0">
                <a:solidFill>
                  <a:srgbClr val="1A1A1A"/>
                </a:solidFill>
                <a:latin typeface="Poppins"/>
              </a:rPr>
              <a:t>Given a cell, hand back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if it's blocked, </a:t>
            </a:r>
            <a:r>
              <a:rPr sz="20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 if it's open. </a:t>
            </a:r>
            <a:r>
              <a:rPr sz="2000" b="1" i="1">
                <a:solidFill>
                  <a:srgbClr val="1A1A1A"/>
                </a:solidFill>
                <a:latin typeface="Poppins"/>
              </a:rPr>
              <a:t>(off-grid + tunnel pre-given)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Pattern (board example):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71800"/>
            <a:ext cx="5501487" cy="35204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is_even(n) -&gt; </a:t>
            </a:r>
            <a:r>
              <a:rPr sz="1800">
                <a:solidFill>
                  <a:srgbClr val="DCDCAA"/>
                </a:solidFill>
                <a:latin typeface="Consolas"/>
              </a:rPr>
              <a:t>bool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  <a:r>
              <a:rPr sz="1800">
                <a:solidFill>
                  <a:srgbClr val="E6E6E6"/>
                </a:solidFill>
                <a:latin typeface="Consolas"/>
              </a:rPr>
              <a:t> n %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E6E6E6"/>
                </a:solidFill>
                <a:latin typeface="Consolas"/>
              </a:rPr>
              <a:t> ==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007" y="2606040"/>
            <a:ext cx="55014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Where in your code (Godot):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971800"/>
            <a:ext cx="5501487" cy="352044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D2C6.png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58230" y="4291965"/>
            <a:ext cx="3851041" cy="880110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5B8930-501B-31C2-5DC7-FDFABA995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269" y="2875542"/>
            <a:ext cx="4555436" cy="3838313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Final Challenge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6535C-275F-2CC2-D4C7-AC7E83051DAC}"/>
              </a:ext>
            </a:extLst>
          </p:cNvPr>
          <p:cNvSpPr txBox="1"/>
          <p:nvPr/>
        </p:nvSpPr>
        <p:spPr>
          <a:xfrm>
            <a:off x="457200" y="4160520"/>
            <a:ext cx="11277295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400" b="0" i="0" dirty="0">
                <a:solidFill>
                  <a:srgbClr val="8A8A8A"/>
                </a:solidFill>
                <a:latin typeface="Poppins"/>
              </a:rPr>
              <a:t>OG Pacman has each ghost having it’s own </a:t>
            </a:r>
            <a:r>
              <a:rPr lang="en-US" sz="2400" b="1" i="0" dirty="0">
                <a:solidFill>
                  <a:srgbClr val="8A8A8A"/>
                </a:solidFill>
                <a:latin typeface="Poppins"/>
              </a:rPr>
              <a:t>personality</a:t>
            </a:r>
            <a:endParaRPr sz="2400" b="1" i="0" dirty="0">
              <a:solidFill>
                <a:srgbClr val="8A8A8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4 personalities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71CE40-9544-1AF4-EE8D-AA0D2DE01586}"/>
              </a:ext>
            </a:extLst>
          </p:cNvPr>
          <p:cNvSpPr txBox="1"/>
          <p:nvPr/>
        </p:nvSpPr>
        <p:spPr>
          <a:xfrm>
            <a:off x="457200" y="2148840"/>
            <a:ext cx="112772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000" b="0" i="0" dirty="0">
                <a:solidFill>
                  <a:srgbClr val="1A1A1A"/>
                </a:solidFill>
                <a:latin typeface="Poppins"/>
              </a:rPr>
              <a:t>Each ghost actually has it’s own personality (algorithm)</a:t>
            </a:r>
          </a:p>
          <a:p>
            <a:pPr algn="l">
              <a:spcAft>
                <a:spcPts val="800"/>
              </a:spcAft>
            </a:pPr>
            <a:endParaRPr lang="en-US" sz="2000" b="0" i="0" dirty="0">
              <a:solidFill>
                <a:srgbClr val="1A1A1A"/>
              </a:solidFill>
              <a:latin typeface="Poppins"/>
            </a:endParaRP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/>
              </a:rPr>
              <a:t>Blinky (Red) – Heads straight for the player no matter what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/>
              </a:rPr>
              <a:t>Pinky (Pink) – Aims 4 tiles ahead of the player to ambush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/>
              </a:rPr>
              <a:t>Inky (Cyan) – Uses Blink’s position to flank from the opposite side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A1A1A"/>
                </a:solidFill>
                <a:latin typeface="Poppins"/>
              </a:rPr>
              <a:t>Clyde (Orange) – Chases when far, scatters to corner when close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1A1A1A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You already know how to do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Each TODO in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ghost_personalities.gd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mirrors a chunk you wrote this morning. If you get stuck, scroll up to that chunk in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and copy the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shape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(not the words).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FC-1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#1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for 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i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 in range(N)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FC-2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#2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for item in list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FC-3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#3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while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loop + count + return)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FC-4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#4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no params)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FC-5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#5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with a parameter)</a:t>
            </a:r>
          </a:p>
          <a:p>
            <a:pPr algn="l">
              <a:spcAft>
                <a:spcPts val="800"/>
              </a:spcAft>
            </a:pPr>
            <a:r>
              <a:rPr sz="2000" dirty="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FC-6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← Chunk </a:t>
            </a:r>
            <a:r>
              <a:rPr sz="2000" b="1" i="0" dirty="0">
                <a:solidFill>
                  <a:srgbClr val="1A1A1A"/>
                </a:solidFill>
                <a:latin typeface="Poppins"/>
              </a:rPr>
              <a:t>#6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(</a:t>
            </a:r>
            <a:r>
              <a:rPr sz="2000" b="0" i="0" dirty="0" err="1">
                <a:solidFill>
                  <a:srgbClr val="1A1A1A"/>
                </a:solidFill>
                <a:latin typeface="Consolas"/>
              </a:rPr>
              <a:t>func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 returning a bool)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D2FC3.png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Replace 3 identical ghosts with 4 authentic Pac-Man personalities — Blinky, Pinky, Inky, Clyde. Each one targets the player differently.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9D885B-E8F5-0ED4-EE89-FF9C9EBDC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14" y="1716405"/>
            <a:ext cx="7242347" cy="388239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6766377" cy="5166360"/>
          </a:xfrm>
          <a:prstGeom prst="rect">
            <a:avLst/>
          </a:prstGeom>
          <a:solidFill>
            <a:srgbClr val="EEEEEE"/>
          </a:solidFill>
          <a:ln w="25400">
            <a:solidFill>
              <a:srgbClr val="E5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8A8A8A"/>
                </a:solidFill>
                <a:latin typeface="Poppins"/>
              </a:rPr>
              <a:t>[ MISSING: D2FC1.png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202" y="54864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final_challenge.gd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Find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const FC_ENABLED := 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near the top.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DD659F-13D8-38F3-C069-430710AC0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14" y="1716405"/>
            <a:ext cx="7242347" cy="38823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161DA51-E13C-E3D3-A970-241ABFC1F719}"/>
              </a:ext>
            </a:extLst>
          </p:cNvPr>
          <p:cNvSpPr txBox="1"/>
          <p:nvPr/>
        </p:nvSpPr>
        <p:spPr>
          <a:xfrm>
            <a:off x="7498202" y="202819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 dirty="0">
                <a:solidFill>
                  <a:srgbClr val="1A1A1A"/>
                </a:solidFill>
                <a:latin typeface="Poppins"/>
              </a:rPr>
              <a:t>Edit the line to </a:t>
            </a:r>
            <a:r>
              <a:rPr sz="2000" b="0" i="0" dirty="0">
                <a:solidFill>
                  <a:srgbClr val="1A1A1A"/>
                </a:solidFill>
                <a:latin typeface="Consolas"/>
              </a:rPr>
              <a:t>const FC_ENABLED := true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Save with </a:t>
            </a:r>
            <a:r>
              <a:rPr sz="2000" b="0" i="0" dirty="0" err="1">
                <a:solidFill>
                  <a:srgbClr val="1A1A1A"/>
                </a:solidFill>
                <a:latin typeface="Poppins"/>
              </a:rPr>
              <a:t>Ctrl+S</a:t>
            </a:r>
            <a:r>
              <a:rPr sz="2000" b="0" i="0" dirty="0">
                <a:solidFill>
                  <a:srgbClr val="1A1A1A"/>
                </a:solidFill>
                <a:latin typeface="Poppins"/>
              </a:rPr>
              <a:t>. The personality mode is now live.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64592"/>
            <a:ext cx="68580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oppins"/>
              </a:rPr>
              <a:t>Final Challenge — Board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033272"/>
            <a:ext cx="3728618" cy="273862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033272"/>
            <a:ext cx="3728618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" y="1033272"/>
            <a:ext cx="3527450" cy="36576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FC-1  </a:t>
            </a:r>
            <a:r>
              <a:rPr sz="1200" b="0">
                <a:solidFill>
                  <a:srgbClr val="FFFFFF"/>
                </a:solidFill>
                <a:latin typeface="Poppins"/>
              </a:rPr>
              <a:t>for i in range(N)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1499616"/>
            <a:ext cx="3527450" cy="21717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>
                <a:solidFill>
                  <a:srgbClr val="569CD6"/>
                </a:solidFill>
                <a:latin typeface="Consolas"/>
              </a:rPr>
              <a:t>for</a:t>
            </a:r>
            <a:r>
              <a:rPr sz="1400">
                <a:solidFill>
                  <a:srgbClr val="E6E6E6"/>
                </a:solidFill>
                <a:latin typeface="Consolas"/>
              </a:rPr>
              <a:t> i </a:t>
            </a:r>
            <a:r>
              <a:rPr sz="1400">
                <a:solidFill>
                  <a:srgbClr val="569CD6"/>
                </a:solidFill>
                <a:latin typeface="Consolas"/>
              </a:rPr>
              <a:t>in</a:t>
            </a: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  <a:r>
              <a:rPr sz="1400">
                <a:solidFill>
                  <a:srgbClr val="569CD6"/>
                </a:solidFill>
                <a:latin typeface="Consolas"/>
              </a:rPr>
              <a:t>range</a:t>
            </a:r>
            <a:r>
              <a:rPr sz="1400">
                <a:solidFill>
                  <a:srgbClr val="E6E6E6"/>
                </a:solidFill>
                <a:latin typeface="Consolas"/>
              </a:rPr>
              <a:t>(</a:t>
            </a:r>
            <a:r>
              <a:rPr sz="1400">
                <a:solidFill>
                  <a:srgbClr val="B5CEA8"/>
                </a:solidFill>
                <a:latin typeface="Consolas"/>
              </a:rPr>
              <a:t>3</a:t>
            </a:r>
            <a:r>
              <a:rPr sz="1400">
                <a:solidFill>
                  <a:srgbClr val="E6E6E6"/>
                </a:solidFill>
                <a:latin typeface="Consolas"/>
              </a:rPr>
              <a:t>):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</a:t>
            </a:r>
            <a:r>
              <a:rPr sz="1400">
                <a:solidFill>
                  <a:srgbClr val="DCDCAA"/>
                </a:solidFill>
                <a:latin typeface="Consolas"/>
              </a:rPr>
              <a:t>print</a:t>
            </a:r>
            <a:r>
              <a:rPr sz="1400">
                <a:solidFill>
                  <a:srgbClr val="E6E6E6"/>
                </a:solidFill>
                <a:latin typeface="Consolas"/>
              </a:rPr>
              <a:t>(i)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1538" y="1033272"/>
            <a:ext cx="3728618" cy="273862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31538" y="1033272"/>
            <a:ext cx="3728618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2122" y="1033272"/>
            <a:ext cx="3527450" cy="36576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FC-2  </a:t>
            </a:r>
            <a:r>
              <a:rPr sz="1200" b="0">
                <a:solidFill>
                  <a:srgbClr val="FFFFFF"/>
                </a:solidFill>
                <a:latin typeface="Poppins"/>
              </a:rPr>
              <a:t>for item in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2122" y="1499616"/>
            <a:ext cx="3527450" cy="21717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>
                <a:solidFill>
                  <a:srgbClr val="569CD6"/>
                </a:solidFill>
                <a:latin typeface="Consolas"/>
              </a:rPr>
              <a:t>for</a:t>
            </a:r>
            <a:r>
              <a:rPr sz="1400">
                <a:solidFill>
                  <a:srgbClr val="E6E6E6"/>
                </a:solidFill>
                <a:latin typeface="Consolas"/>
              </a:rPr>
              <a:t> colour </a:t>
            </a:r>
            <a:r>
              <a:rPr sz="1400">
                <a:solidFill>
                  <a:srgbClr val="569CD6"/>
                </a:solidFill>
                <a:latin typeface="Consolas"/>
              </a:rPr>
              <a:t>in</a:t>
            </a:r>
            <a:r>
              <a:rPr sz="1400">
                <a:solidFill>
                  <a:srgbClr val="E6E6E6"/>
                </a:solidFill>
                <a:latin typeface="Consolas"/>
              </a:rPr>
              <a:t> [</a:t>
            </a:r>
            <a:r>
              <a:rPr sz="1400">
                <a:solidFill>
                  <a:srgbClr val="CE9178"/>
                </a:solidFill>
                <a:latin typeface="Consolas"/>
              </a:rPr>
              <a:t>"red"</a:t>
            </a:r>
            <a:r>
              <a:rPr sz="1400">
                <a:solidFill>
                  <a:srgbClr val="E6E6E6"/>
                </a:solidFill>
                <a:latin typeface="Consolas"/>
              </a:rPr>
              <a:t>, </a:t>
            </a:r>
            <a:r>
              <a:rPr sz="1400">
                <a:solidFill>
                  <a:srgbClr val="CE9178"/>
                </a:solidFill>
                <a:latin typeface="Consolas"/>
              </a:rPr>
              <a:t>"green"</a:t>
            </a:r>
            <a:r>
              <a:rPr sz="1400">
                <a:solidFill>
                  <a:srgbClr val="E6E6E6"/>
                </a:solidFill>
                <a:latin typeface="Consolas"/>
              </a:rPr>
              <a:t>, </a:t>
            </a:r>
            <a:r>
              <a:rPr sz="1400">
                <a:solidFill>
                  <a:srgbClr val="CE9178"/>
                </a:solidFill>
                <a:latin typeface="Consolas"/>
              </a:rPr>
              <a:t>"blue"</a:t>
            </a:r>
            <a:r>
              <a:rPr sz="1400">
                <a:solidFill>
                  <a:srgbClr val="E6E6E6"/>
                </a:solidFill>
                <a:latin typeface="Consolas"/>
              </a:rPr>
              <a:t>]: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</a:t>
            </a:r>
            <a:r>
              <a:rPr sz="1400">
                <a:solidFill>
                  <a:srgbClr val="DCDCAA"/>
                </a:solidFill>
                <a:latin typeface="Consolas"/>
              </a:rPr>
              <a:t>print</a:t>
            </a:r>
            <a:r>
              <a:rPr sz="1400">
                <a:solidFill>
                  <a:srgbClr val="E6E6E6"/>
                </a:solidFill>
                <a:latin typeface="Consolas"/>
              </a:rPr>
              <a:t>(colour)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3036" y="1033272"/>
            <a:ext cx="3728618" cy="273862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43036" y="1033272"/>
            <a:ext cx="3728618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43620" y="1033272"/>
            <a:ext cx="3527450" cy="36576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FC-3  </a:t>
            </a:r>
            <a:r>
              <a:rPr sz="1200" b="0">
                <a:solidFill>
                  <a:srgbClr val="FFFFFF"/>
                </a:solidFill>
                <a:latin typeface="Poppins"/>
              </a:rPr>
              <a:t>while + count + 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620" y="1499616"/>
            <a:ext cx="3527450" cy="21717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>
                <a:solidFill>
                  <a:srgbClr val="569CD6"/>
                </a:solidFill>
                <a:latin typeface="Consolas"/>
              </a:rPr>
              <a:t>var</a:t>
            </a:r>
            <a:r>
              <a:rPr sz="1400">
                <a:solidFill>
                  <a:srgbClr val="E6E6E6"/>
                </a:solidFill>
                <a:latin typeface="Consolas"/>
              </a:rPr>
              <a:t> n := </a:t>
            </a:r>
            <a:r>
              <a:rPr sz="1400">
                <a:solidFill>
                  <a:srgbClr val="B5CEA8"/>
                </a:solidFill>
                <a:latin typeface="Consolas"/>
              </a:rPr>
              <a:t>0</a:t>
            </a:r>
          </a:p>
          <a:p>
            <a:r>
              <a:rPr sz="1400">
                <a:solidFill>
                  <a:srgbClr val="C586C0"/>
                </a:solidFill>
                <a:latin typeface="Consolas"/>
              </a:rPr>
              <a:t>while</a:t>
            </a:r>
            <a:r>
              <a:rPr sz="1400">
                <a:solidFill>
                  <a:srgbClr val="E6E6E6"/>
                </a:solidFill>
                <a:latin typeface="Consolas"/>
              </a:rPr>
              <a:t> n &lt; </a:t>
            </a:r>
            <a:r>
              <a:rPr sz="1400">
                <a:solidFill>
                  <a:srgbClr val="B5CEA8"/>
                </a:solidFill>
                <a:latin typeface="Consolas"/>
              </a:rPr>
              <a:t>5</a:t>
            </a:r>
            <a:r>
              <a:rPr sz="14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</a:t>
            </a:r>
            <a:r>
              <a:rPr sz="1400">
                <a:solidFill>
                  <a:srgbClr val="DCDCAA"/>
                </a:solidFill>
                <a:latin typeface="Consolas"/>
              </a:rPr>
              <a:t>print</a:t>
            </a:r>
            <a:r>
              <a:rPr sz="1400">
                <a:solidFill>
                  <a:srgbClr val="E6E6E6"/>
                </a:solidFill>
                <a:latin typeface="Consolas"/>
              </a:rPr>
              <a:t>(n)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n += </a:t>
            </a:r>
            <a:r>
              <a:rPr sz="1400">
                <a:solidFill>
                  <a:srgbClr val="B5CEA8"/>
                </a:solidFill>
                <a:latin typeface="Consolas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54780"/>
            <a:ext cx="3728618" cy="273862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954780"/>
            <a:ext cx="3728618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" y="3954780"/>
            <a:ext cx="3527450" cy="36576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FC-4  </a:t>
            </a:r>
            <a:r>
              <a:rPr sz="1200" b="0">
                <a:solidFill>
                  <a:srgbClr val="FFFFFF"/>
                </a:solidFill>
                <a:latin typeface="Poppins"/>
              </a:rPr>
              <a:t>func, no params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" y="4421124"/>
            <a:ext cx="3527450" cy="21717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>
                <a:solidFill>
                  <a:srgbClr val="569CD6"/>
                </a:solidFill>
                <a:latin typeface="Consolas"/>
              </a:rPr>
              <a:t>func</a:t>
            </a: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say_hi</a:t>
            </a:r>
            <a:r>
              <a:rPr sz="1400">
                <a:solidFill>
                  <a:srgbClr val="E6E6E6"/>
                </a:solidFill>
                <a:latin typeface="Consolas"/>
              </a:rPr>
              <a:t>():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</a:t>
            </a:r>
            <a:r>
              <a:rPr sz="1400">
                <a:solidFill>
                  <a:srgbClr val="DCDCAA"/>
                </a:solidFill>
                <a:latin typeface="Consolas"/>
              </a:rPr>
              <a:t>print</a:t>
            </a:r>
            <a:r>
              <a:rPr sz="1400">
                <a:solidFill>
                  <a:srgbClr val="E6E6E6"/>
                </a:solidFill>
                <a:latin typeface="Consolas"/>
              </a:rPr>
              <a:t>(</a:t>
            </a:r>
            <a:r>
              <a:rPr sz="1400">
                <a:solidFill>
                  <a:srgbClr val="CE9178"/>
                </a:solidFill>
                <a:latin typeface="Consolas"/>
              </a:rPr>
              <a:t>"hi!"</a:t>
            </a:r>
            <a:r>
              <a:rPr sz="140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1538" y="3954780"/>
            <a:ext cx="3728618" cy="273862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31538" y="3954780"/>
            <a:ext cx="3728618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32122" y="3954780"/>
            <a:ext cx="3527450" cy="36576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FC-5  </a:t>
            </a:r>
            <a:r>
              <a:rPr sz="1200" b="0">
                <a:solidFill>
                  <a:srgbClr val="FFFFFF"/>
                </a:solidFill>
                <a:latin typeface="Poppins"/>
              </a:rPr>
              <a:t>func with a parameter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2122" y="4421124"/>
            <a:ext cx="3527450" cy="21717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>
                <a:solidFill>
                  <a:srgbClr val="569CD6"/>
                </a:solidFill>
                <a:latin typeface="Consolas"/>
              </a:rPr>
              <a:t>func</a:t>
            </a: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add_points</a:t>
            </a:r>
            <a:r>
              <a:rPr sz="1400">
                <a:solidFill>
                  <a:srgbClr val="E6E6E6"/>
                </a:solidFill>
                <a:latin typeface="Consolas"/>
              </a:rPr>
              <a:t>(amount):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score += amount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3036" y="3954780"/>
            <a:ext cx="3728618" cy="2738628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43036" y="3954780"/>
            <a:ext cx="3728618" cy="365760"/>
          </a:xfrm>
          <a:prstGeom prst="rect">
            <a:avLst/>
          </a:prstGeom>
          <a:solidFill>
            <a:srgbClr val="E5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3620" y="3954780"/>
            <a:ext cx="3527450" cy="36576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Poppins"/>
              </a:rPr>
              <a:t>FC-6  </a:t>
            </a:r>
            <a:r>
              <a:rPr sz="1200" b="0">
                <a:solidFill>
                  <a:srgbClr val="FFFFFF"/>
                </a:solidFill>
                <a:latin typeface="Poppins"/>
              </a:rPr>
              <a:t>func returning bool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3620" y="4421124"/>
            <a:ext cx="3527450" cy="217170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400">
                <a:solidFill>
                  <a:srgbClr val="569CD6"/>
                </a:solidFill>
                <a:latin typeface="Consolas"/>
              </a:rPr>
              <a:t>func</a:t>
            </a:r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  <a:r>
              <a:rPr sz="1400">
                <a:solidFill>
                  <a:srgbClr val="DCDCAA"/>
                </a:solidFill>
                <a:latin typeface="Consolas"/>
              </a:rPr>
              <a:t>is_even</a:t>
            </a:r>
            <a:r>
              <a:rPr sz="1400">
                <a:solidFill>
                  <a:srgbClr val="E6E6E6"/>
                </a:solidFill>
                <a:latin typeface="Consolas"/>
              </a:rPr>
              <a:t>(n) -&gt; </a:t>
            </a:r>
            <a:r>
              <a:rPr sz="1400">
                <a:solidFill>
                  <a:srgbClr val="4EC9B0"/>
                </a:solidFill>
                <a:latin typeface="Consolas"/>
              </a:rPr>
              <a:t>bool</a:t>
            </a:r>
            <a:r>
              <a:rPr sz="1400">
                <a:solidFill>
                  <a:srgbClr val="E6E6E6"/>
                </a:solidFill>
                <a:latin typeface="Consolas"/>
              </a:rPr>
              <a:t>:</a:t>
            </a:r>
          </a:p>
          <a:p>
            <a:r>
              <a:rPr sz="1400">
                <a:solidFill>
                  <a:srgbClr val="E6E6E6"/>
                </a:solidFill>
                <a:latin typeface="Consolas"/>
              </a:rPr>
              <a:t>    </a:t>
            </a:r>
            <a:r>
              <a:rPr sz="1400">
                <a:solidFill>
                  <a:srgbClr val="569CD6"/>
                </a:solidFill>
                <a:latin typeface="Consolas"/>
              </a:rPr>
              <a:t>return</a:t>
            </a:r>
            <a:r>
              <a:rPr sz="1400">
                <a:solidFill>
                  <a:srgbClr val="E6E6E6"/>
                </a:solidFill>
                <a:latin typeface="Consolas"/>
              </a:rPr>
              <a:t> n % </a:t>
            </a:r>
            <a:r>
              <a:rPr sz="1400">
                <a:solidFill>
                  <a:srgbClr val="B5CEA8"/>
                </a:solidFill>
                <a:latin typeface="Consolas"/>
              </a:rPr>
              <a:t>2</a:t>
            </a:r>
            <a:r>
              <a:rPr sz="1400">
                <a:solidFill>
                  <a:srgbClr val="E6E6E6"/>
                </a:solidFill>
                <a:latin typeface="Consolas"/>
              </a:rPr>
              <a:t> == </a:t>
            </a:r>
            <a:r>
              <a:rPr sz="1400">
                <a:solidFill>
                  <a:srgbClr val="B5CEA8"/>
                </a:solidFill>
                <a:latin typeface="Consolas"/>
              </a:rPr>
              <a:t>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41AEB-F8B2-F1CA-47DE-84CDF2B82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3DE708-0A88-C00D-A813-90307E1A6AA3}"/>
              </a:ext>
            </a:extLst>
          </p:cNvPr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code_logo_red.png">
            <a:extLst>
              <a:ext uri="{FF2B5EF4-FFF2-40B4-BE49-F238E27FC236}">
                <a16:creationId xmlns:a16="http://schemas.microsoft.com/office/drawing/2014/main" id="{209AF45B-E24F-6E25-E46F-F86C34661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7A89FA-DB57-70E1-B128-1062B444B2D2}"/>
              </a:ext>
            </a:extLst>
          </p:cNvPr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B7AA9-861F-3F35-DD5D-1EAEBBF5BC80}"/>
              </a:ext>
            </a:extLst>
          </p:cNvPr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A36ED-44EB-33CB-2DCB-847B659DDEB3}"/>
              </a:ext>
            </a:extLst>
          </p:cNvPr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5F3F1A-4AE0-4EEE-E109-7F7D0E3AE6F8}"/>
              </a:ext>
            </a:extLst>
          </p:cNvPr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0416B-518E-C69F-0D69-579C496F4FF4}"/>
              </a:ext>
            </a:extLst>
          </p:cNvPr>
          <p:cNvSpPr txBox="1"/>
          <p:nvPr/>
        </p:nvSpPr>
        <p:spPr>
          <a:xfrm>
            <a:off x="457200" y="2601575"/>
            <a:ext cx="11277295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5400" b="1" i="0" dirty="0">
                <a:solidFill>
                  <a:srgbClr val="1A1A1A"/>
                </a:solidFill>
                <a:latin typeface="Poppins"/>
              </a:rPr>
              <a:t>Well done </a:t>
            </a:r>
            <a:r>
              <a:rPr lang="en-US" sz="5400" b="1" i="0" dirty="0" err="1">
                <a:solidFill>
                  <a:srgbClr val="1A1A1A"/>
                </a:solidFill>
                <a:latin typeface="Poppins"/>
              </a:rPr>
              <a:t>broskis</a:t>
            </a:r>
            <a:endParaRPr sz="5400" b="1" i="0" dirty="0">
              <a:solidFill>
                <a:srgbClr val="1A1A1A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07046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4431</Words>
  <Application>Microsoft Macintosh PowerPoint</Application>
  <PresentationFormat>Widescreen</PresentationFormat>
  <Paragraphs>706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0" baseType="lpstr">
      <vt:lpstr>Arial</vt:lpstr>
      <vt:lpstr>Calibri</vt:lpstr>
      <vt:lpstr>Consolas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Westley Yarlott</cp:lastModifiedBy>
  <cp:revision>66</cp:revision>
  <dcterms:created xsi:type="dcterms:W3CDTF">2013-01-27T09:14:16Z</dcterms:created>
  <dcterms:modified xsi:type="dcterms:W3CDTF">2026-06-13T10:39:54Z</dcterms:modified>
  <cp:category/>
</cp:coreProperties>
</file>