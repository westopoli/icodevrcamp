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"/>
            <a:ext cx="68580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TODO #6 — State Machine  (player.gd)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33272"/>
            <a:ext cx="5675223" cy="27294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33272"/>
            <a:ext cx="5675223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033272"/>
            <a:ext cx="5455767" cy="365760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#6a  </a:t>
            </a:r>
            <a:r>
              <a:rPr sz="1200" b="0">
                <a:solidFill>
                  <a:srgbClr val="FFFFFF"/>
                </a:solidFill>
                <a:latin typeface="Poppins"/>
              </a:rPr>
              <a:t>"idle" state exits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99032"/>
            <a:ext cx="5455767" cy="256032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 #6  ·  inside  match state: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764792"/>
            <a:ext cx="5455767" cy="1888236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>
                <a:solidFill>
                  <a:srgbClr val="CE9178"/>
                </a:solidFill>
                <a:latin typeface="Consolas"/>
              </a:rPr>
              <a:t>"idle"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586C0"/>
                </a:solidFill>
                <a:latin typeface="Consolas"/>
              </a:rPr>
              <a:t>if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get_move_direction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!=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>
                <a:solidFill>
                  <a:srgbClr val="DCDCAA"/>
                </a:solidFill>
                <a:latin typeface="Consolas"/>
              </a:rPr>
              <a:t>set_state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"walk"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586C0"/>
                </a:solidFill>
                <a:latin typeface="Consolas"/>
              </a:rPr>
              <a:t>if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get_input_just_pressed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"jump"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and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is_on_floor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>
                <a:solidFill>
                  <a:srgbClr val="E6E6E6"/>
                </a:solidFill>
                <a:latin typeface="Consolas"/>
              </a:rPr>
              <a:t>velocity</a:t>
            </a:r>
            <a:r>
              <a:rPr sz="1200">
                <a:solidFill>
                  <a:srgbClr val="E6E6E6"/>
                </a:solidFill>
                <a:latin typeface="Consolas"/>
              </a:rPr>
              <a:t>.</a:t>
            </a:r>
            <a:r>
              <a:rPr sz="1200">
                <a:solidFill>
                  <a:srgbClr val="E6E6E6"/>
                </a:solidFill>
                <a:latin typeface="Consolas"/>
              </a:rPr>
              <a:t>y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-</a:t>
            </a:r>
            <a:r>
              <a:rPr sz="1200">
                <a:solidFill>
                  <a:srgbClr val="E6E6E6"/>
                </a:solidFill>
                <a:latin typeface="Consolas"/>
              </a:rPr>
              <a:t>jump_impulse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>
                <a:solidFill>
                  <a:srgbClr val="DCDCAA"/>
                </a:solidFill>
                <a:latin typeface="Consolas"/>
              </a:rPr>
              <a:t>set_state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"jump"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033272"/>
            <a:ext cx="5675223" cy="27294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1033272"/>
            <a:ext cx="5675223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6159" y="1033272"/>
            <a:ext cx="5455767" cy="365760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#6b  </a:t>
            </a:r>
            <a:r>
              <a:rPr sz="1200" b="0">
                <a:solidFill>
                  <a:srgbClr val="FFFFFF"/>
                </a:solidFill>
                <a:latin typeface="Poppins"/>
              </a:rPr>
              <a:t>"walk" state exits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6159" y="1399032"/>
            <a:ext cx="5455767" cy="256032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 #6  ·  inside  match state: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6159" y="1764792"/>
            <a:ext cx="5455767" cy="1888236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>
                <a:solidFill>
                  <a:srgbClr val="CE9178"/>
                </a:solidFill>
                <a:latin typeface="Consolas"/>
              </a:rPr>
              <a:t>"walk"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586C0"/>
                </a:solidFill>
                <a:latin typeface="Consolas"/>
              </a:rPr>
              <a:t>if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get_move_direction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==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>
                <a:solidFill>
                  <a:srgbClr val="DCDCAA"/>
                </a:solidFill>
                <a:latin typeface="Consolas"/>
              </a:rPr>
              <a:t>set_state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"idle"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586C0"/>
                </a:solidFill>
                <a:latin typeface="Consolas"/>
              </a:rPr>
              <a:t>if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get_input_just_pressed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"jump"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and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is_on_floor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>
                <a:solidFill>
                  <a:srgbClr val="E6E6E6"/>
                </a:solidFill>
                <a:latin typeface="Consolas"/>
              </a:rPr>
              <a:t>velocity</a:t>
            </a:r>
            <a:r>
              <a:rPr sz="1200">
                <a:solidFill>
                  <a:srgbClr val="E6E6E6"/>
                </a:solidFill>
                <a:latin typeface="Consolas"/>
              </a:rPr>
              <a:t>.</a:t>
            </a:r>
            <a:r>
              <a:rPr sz="1200">
                <a:solidFill>
                  <a:srgbClr val="E6E6E6"/>
                </a:solidFill>
                <a:latin typeface="Consolas"/>
              </a:rPr>
              <a:t>y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=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-</a:t>
            </a:r>
            <a:r>
              <a:rPr sz="1200">
                <a:solidFill>
                  <a:srgbClr val="E6E6E6"/>
                </a:solidFill>
                <a:latin typeface="Consolas"/>
              </a:rPr>
              <a:t>jump_impulse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>
                <a:solidFill>
                  <a:srgbClr val="DCDCAA"/>
                </a:solidFill>
                <a:latin typeface="Consolas"/>
              </a:rPr>
              <a:t>set_state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"jump"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63924"/>
            <a:ext cx="5675223" cy="27294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963924"/>
            <a:ext cx="5675223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963924"/>
            <a:ext cx="5455767" cy="365760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#6c  </a:t>
            </a:r>
            <a:r>
              <a:rPr sz="1200" b="0">
                <a:solidFill>
                  <a:srgbClr val="FFFFFF"/>
                </a:solidFill>
                <a:latin typeface="Poppins"/>
              </a:rPr>
              <a:t>"jump" state exit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329684"/>
            <a:ext cx="5455767" cy="256032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 #6  ·  inside  match state: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695444"/>
            <a:ext cx="5455767" cy="1888236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>
                <a:solidFill>
                  <a:srgbClr val="CE9178"/>
                </a:solidFill>
                <a:latin typeface="Consolas"/>
              </a:rPr>
              <a:t>"jump"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586C0"/>
                </a:solidFill>
                <a:latin typeface="Consolas"/>
              </a:rPr>
              <a:t>if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velocity</a:t>
            </a:r>
            <a:r>
              <a:rPr sz="1200">
                <a:solidFill>
                  <a:srgbClr val="E6E6E6"/>
                </a:solidFill>
                <a:latin typeface="Consolas"/>
              </a:rPr>
              <a:t>.</a:t>
            </a:r>
            <a:r>
              <a:rPr sz="1200">
                <a:solidFill>
                  <a:srgbClr val="E6E6E6"/>
                </a:solidFill>
                <a:latin typeface="Consolas"/>
              </a:rPr>
              <a:t>y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E6E6E6"/>
                </a:solidFill>
                <a:latin typeface="Consolas"/>
              </a:rPr>
              <a:t>&gt;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>
                <a:solidFill>
                  <a:srgbClr val="DCDCAA"/>
                </a:solidFill>
                <a:latin typeface="Consolas"/>
              </a:rPr>
              <a:t>set_state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"fall"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3963924"/>
            <a:ext cx="5675223" cy="27294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6431" y="3963924"/>
            <a:ext cx="5675223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6159" y="3963924"/>
            <a:ext cx="5455767" cy="365760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Poppins"/>
              </a:rPr>
              <a:t>#6d  </a:t>
            </a:r>
            <a:r>
              <a:rPr sz="1200" b="0">
                <a:solidFill>
                  <a:srgbClr val="FFFFFF"/>
                </a:solidFill>
                <a:latin typeface="Poppins"/>
              </a:rPr>
              <a:t>"fall" state exit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6159" y="4329684"/>
            <a:ext cx="5455767" cy="256032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000" i="1">
                <a:solidFill>
                  <a:srgbClr val="8A8A8A"/>
                </a:solidFill>
                <a:latin typeface="Poppins"/>
              </a:rPr>
              <a:t>← Chunk #6  ·  inside  match state: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6159" y="4695444"/>
            <a:ext cx="5455767" cy="1888236"/>
          </a:xfrm>
          <a:prstGeom prst="rect">
            <a:avLst/>
          </a:prstGeom>
          <a:noFill/>
        </p:spPr>
        <p:txBody>
          <a:bodyPr wrap="none" tIns="0" lIns="0" bIns="0">
            <a:spAutoFit/>
          </a:bodyPr>
          <a:lstStyle/>
          <a:p>
            <a:r>
              <a:rPr sz="1200">
                <a:solidFill>
                  <a:srgbClr val="CE9178"/>
                </a:solidFill>
                <a:latin typeface="Consolas"/>
              </a:rPr>
              <a:t>"fall"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  <a:r>
              <a:rPr sz="1200">
                <a:solidFill>
                  <a:srgbClr val="C586C0"/>
                </a:solidFill>
                <a:latin typeface="Consolas"/>
              </a:rPr>
              <a:t>if</a:t>
            </a: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is_on_floor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  <a:r>
              <a:rPr sz="12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20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>
                <a:solidFill>
                  <a:srgbClr val="DCDCAA"/>
                </a:solidFill>
                <a:latin typeface="Consolas"/>
              </a:rPr>
              <a:t>set_state</a:t>
            </a:r>
            <a:r>
              <a:rPr sz="1200">
                <a:solidFill>
                  <a:srgbClr val="E6E6E6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"idle"</a:t>
            </a:r>
            <a:r>
              <a:rPr sz="12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