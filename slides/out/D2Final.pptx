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68" r:id="rId58"/>
    <p:sldId id="369" r:id="rId59"/>
    <p:sldId id="370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Pac-Man · 1980 · Namco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Pac-Man changed everything (1980)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Pre-1980 arcades = almost all space shooters. Pac-Man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invented the maze chase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character with 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Pac-Man + 4 named ghosts (Blinky, Pinky, Inky, Clyde), each with its own AI.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cutscenes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between levels.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arcade game marketed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beyond boys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broke the 'arcade = boys only' mold.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giant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merchandising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wave — lunchboxes, a cartoon, a hit song.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Pac-Man → maybe no Mario, no Sonic, no character mascots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Variables + Conditions. You named things and made choices.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 +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 repeat things and package code into reusable recipes.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Two new tools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 ←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3 Tower Defense — Lists + Functions deep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VR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concepts: Loops +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make the same code run again and again.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give a block of code a name, call it whenever you need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— one word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Day 2 Maze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Day 2 Maze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Godot Launcher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Day2_Maze_Game/project.godot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and switch to the Script editor — same way as yesterday.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 →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New today: TileSet and TileMapLayer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TileSet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palette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resource that chops the Kenney atlas into named 16×16 tiles.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TileMapLayer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paints tiles from the TileSet onto a 2D grid.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TileSet = box of crayons. TileMapLayer = the coloring page.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code just asks the layer: 'is there a wall here?' You don't touch the TileSet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layers share one TileSet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collision tiles that block movement.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the pellets to chomp.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use the same TileSet palette. Two painted canvases, one box of crayons.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are thousands of right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Any piece of code has millions of valid ways to write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 way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way works if it runs. Seriously.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does 'loop'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Roller coaster loop — the track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comes back around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rope tied in a loop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beginning, no 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 = code that repeats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loop runs the same code again and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the action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runs it as many times as you say.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copy-paste. No 50 lines of the same 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i in </a:t>
            </a:r>
            <a:r>
              <a:rPr sz="1800">
                <a:solidFill>
                  <a:srgbClr val="7F8C8D"/>
                </a:solidFill>
                <a:latin typeface="Consolas"/>
              </a:rPr>
              <a:t>range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(i)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0  1 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14 stairs to your bedroom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night: step, step, step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14 times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motion.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range(14):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climb_one_stair()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know exactly how many stairs. The loop counts for you.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range(5)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range(N)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3 times (i = 0, 1, 2).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10 times.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zero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times.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 to the 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the 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 to the 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the loop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3 →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Back to top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exhausted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 exits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loop all the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Spawn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50 trees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a forest level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range(50):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Deal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 cards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game start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range(4):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Create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12 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first wave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range(12):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3 ghosts need to appear in the pen.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a loop: write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spawn_ghost_at(...)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times.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a loop: write it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handles 3.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the designer adds a 4th ghost — you change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 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pic>
        <p:nvPicPr>
          <p:cNvPr id="8" name="Picture 7" descr="D2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1987"/>
            <a:ext cx="6766376" cy="18083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TODO 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 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runs once when the game starts.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i going from 0 to 2 (range(3)):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spawn_ghost_at(ghost_spawn_pos(i))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that spawns 3 ghosts at startup — one per iteration.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 loop, no ghosts appear. The maze is empty.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3 times. Each run, call the pre-given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spawn_ghost_at(ghost_spawn_pos(i))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 in </a:t>
            </a:r>
            <a:r>
              <a:rPr sz="1400">
                <a:solidFill>
                  <a:srgbClr val="7F8C8D"/>
                </a:solidFill>
                <a:latin typeface="Consolas"/>
              </a:rPr>
              <a:t>range</a:t>
            </a:r>
            <a:r>
              <a:rPr sz="1400">
                <a:solidFill>
                  <a:srgbClr val="CFCFC2"/>
                </a:solidFill>
                <a:latin typeface="Consolas"/>
              </a:rPr>
              <a:t>(N):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i going from 0 to 2 (range(3)):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spawn_ghost_at(ghost_spawn_pos(i))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Run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the same key you used yesterday to start the project.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'Set Main Scene?'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Select Current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game window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stop.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Game didn't open? Find the error.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 of editor).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error line →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blue line 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editor jumps there.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3 ghosts feel right — but try 4, or even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Change the number. Run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happens with 10 ghosts?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Same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 New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 of a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 already have.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visits every item in the list, one by 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 each ghost in the ghosts list: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step_ghost(ghost)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that moves every ghost by one step,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ghosts spawn but never move.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visits each ghost.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step_ghost(ghost)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pre-given helper that moves one ghost.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Step every ghost each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in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 each ghost in the ghosts list: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step_ghost(ghost)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After 2 seconds, ghosts start moving.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Loops have a cousin: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while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while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while = as long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it's raining, stay inside.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there's food on the plate, keep eating.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the block again and again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as long as the condition is 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n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while</a:t>
            </a:r>
            <a:r>
              <a:rPr sz="1800">
                <a:solidFill>
                  <a:srgbClr val="CFCFC2"/>
                </a:solidFill>
                <a:latin typeface="Consolas"/>
              </a:rPr>
              <a:t> n &lt;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n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0  1  2  3 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vs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same stairs, different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`for`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KNOW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count. (14 stairs to your bedroom — you've climbed them 1000 times.)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`while`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DON'T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know the count. (Stairs in the dark — step up, stop when your foot finds no stair.)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repeated motion. Different stopping rule.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Stairs in the dark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Power's out. You're climbing stairs. You can't see the 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Step. Step. Step. Each time: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is there another stair?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Yes → keep going. No → stop.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don't know the count in advance. You stop when the condition is false.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many times does this run?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n :=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while</a:t>
            </a:r>
            <a:r>
              <a:rPr sz="1800">
                <a:solidFill>
                  <a:srgbClr val="CFCFC2"/>
                </a:solidFill>
                <a:latin typeface="Consolas"/>
              </a:rPr>
              <a:t> n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n -=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keep going until the condition is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 &lt; 5: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 reaches 5.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lives hit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has_more_dots():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no dots remain.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a grid for coins: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x &lt; map_width: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Fall until you hit the floor: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not on_ground: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Keep playing until lives run out: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count every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maze is 28 × 31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868 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count how many tiles have a dot — that's the win target.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every column (x) → every row (y) → count the dots.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pic>
        <p:nvPicPr>
          <p:cNvPr id="8" name="Picture 7" descr="D2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5230"/>
            <a:ext cx="6766377" cy="22018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One line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store the result.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pic>
        <p:nvPicPr>
          <p:cNvPr id="8" name="Picture 7" descr="D2C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7400"/>
            <a:ext cx="6766377" cy="4557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whole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 body. You'll write the nested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inside.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dots_remaining to the result of count_dots()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store the answer.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dots_remaining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win counter. Without this, it stays 0 forever.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dots_remaining = 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assign the return value to the variable.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#3a — Store the dot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dots_remaining to the result of count_dots()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does a nested loop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A nested loop = a loop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another loop.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inner loop runs completely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before the outer loop takes one step.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Scanning a grid needs exactly this.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Nested loop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A207D-2DF8-D4D5-0DA7-9DB59542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60747"/>
            <a:ext cx="5435600" cy="3314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2FACB1-92AF-FC7B-E1B8-3B5ED3D44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769" y="2590947"/>
            <a:ext cx="61976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8C10-AA41-2306-2FC5-97033782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F32336-FF67-EEF2-750F-471F1E09FE2F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568745C6-3AA2-2B2A-B0D0-4C9E9FDA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3182B3-71A4-263B-B4FA-28BCB3591798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18561-DFF9-A17F-1C3A-E536BA9D196B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CB191-692D-4BD3-D117-8C5B81706101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0E9E6-DE10-D88B-A673-2A4D7AD12B0A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0B91F-0B1B-3BB5-4E70-981A5375FFC6}"/>
              </a:ext>
            </a:extLst>
          </p:cNvPr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Nested loop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750D8E-0346-B9F8-3AFE-9A1839324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8255"/>
            <a:ext cx="4013200" cy="2247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7ECF9A-C7DC-BD69-632A-E740AE03851F}"/>
              </a:ext>
            </a:extLst>
          </p:cNvPr>
          <p:cNvSpPr txBox="1"/>
          <p:nvPr/>
        </p:nvSpPr>
        <p:spPr>
          <a:xfrm>
            <a:off x="5451262" y="3960247"/>
            <a:ext cx="1424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-&gt;</a:t>
            </a:r>
            <a:endParaRPr sz="2000" b="0" i="0" dirty="0">
              <a:solidFill>
                <a:srgbClr val="1A1A1A"/>
              </a:solidFill>
              <a:latin typeface="Poppi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479F5A-611C-36BB-68A9-EB2DA1A8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378" y="2872055"/>
            <a:ext cx="40005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453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9B3E-75CB-F873-A9C7-B9294062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35D0DF-88D5-7517-A283-0518E5CDE68B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BD490361-1793-33A3-0B39-39BDA92B7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BE6952-A6EE-E381-C6E7-9A353EC4E23C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A841C-44E3-A024-22D3-1CDEAD1CDB91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D6F5E-5494-832E-95EE-5A81FB9250D3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FCCC4-6670-6992-07CD-D3EB2EE43FC0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E5238-816D-2BF3-15E5-5CB90180A001}"/>
              </a:ext>
            </a:extLst>
          </p:cNvPr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Nested loop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7F7FCE-EE5B-D6D1-5A07-D2117DDA4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96599"/>
            <a:ext cx="4387211" cy="27006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14E078-0816-4BB4-6152-9B010A4B60E7}"/>
              </a:ext>
            </a:extLst>
          </p:cNvPr>
          <p:cNvSpPr txBox="1"/>
          <p:nvPr/>
        </p:nvSpPr>
        <p:spPr>
          <a:xfrm>
            <a:off x="5472174" y="3837106"/>
            <a:ext cx="1424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-&gt;</a:t>
            </a:r>
            <a:endParaRPr sz="2000" b="0" i="0" dirty="0">
              <a:solidFill>
                <a:srgbClr val="1A1A1A"/>
              </a:solidFill>
              <a:latin typeface="Poppi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EB2618-159F-BA3A-44A7-EA0DDB80B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299" y="2596598"/>
            <a:ext cx="5084307" cy="270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35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D05D-2186-24F3-0AD4-70742E37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378244-A50C-B889-D79D-EB06ACE9D8FE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390C2E6A-4C47-B93A-A198-9918C81A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D908D-8748-5027-F6D7-B209A89F69B6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B648D-BEE3-FC6D-5C2E-40D680C82D77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D8D97-6B23-B2F0-D505-C8D47D80DF28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40B49-DB08-0E47-99E2-8410A799FF80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AA531-E8D5-1462-AE54-69065FC86C26}"/>
              </a:ext>
            </a:extLst>
          </p:cNvPr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Your </a:t>
            </a:r>
            <a:r>
              <a:rPr lang="en-US" sz="3600" b="1" i="0" dirty="0" err="1">
                <a:solidFill>
                  <a:srgbClr val="1A1A1A"/>
                </a:solidFill>
                <a:latin typeface="Poppins"/>
              </a:rPr>
              <a:t>pacman</a:t>
            </a:r>
            <a:r>
              <a:rPr lang="en-US" sz="3600" b="1" i="0" dirty="0">
                <a:solidFill>
                  <a:srgbClr val="1A1A1A"/>
                </a:solidFill>
                <a:latin typeface="Poppins"/>
              </a:rPr>
              <a:t> game IS a grid</a:t>
            </a:r>
            <a:endParaRPr sz="36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8B0B7-1A9D-FBD0-63F9-821D99BF1902}"/>
              </a:ext>
            </a:extLst>
          </p:cNvPr>
          <p:cNvSpPr txBox="1"/>
          <p:nvPr/>
        </p:nvSpPr>
        <p:spPr>
          <a:xfrm>
            <a:off x="457200" y="2148840"/>
            <a:ext cx="11277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A nested loop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can scan every single tile in the map</a:t>
            </a:r>
          </a:p>
        </p:txBody>
      </p:sp>
    </p:spTree>
    <p:extLst>
      <p:ext uri="{BB962C8B-B14F-4D97-AF65-F5344CB8AC3E}">
        <p14:creationId xmlns:p14="http://schemas.microsoft.com/office/powerpoint/2010/main" val="36658581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count at 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x at 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while x &lt; MAZE_W: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start y at 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while y &lt; MAZE_H: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if cell_has_dot(x, y):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    add 1 to count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add 1 to 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Nested while loops that scan every tile and count dots.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 by #3a. Without it, the win counter never starts.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Outer loop scans columns (x), inner loop scans rows (y).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cell_has_dot(x, y)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#3b — Write `count_dots()`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 :=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while</a:t>
            </a:r>
            <a:r>
              <a:rPr sz="1400">
                <a:solidFill>
                  <a:srgbClr val="CFCFC2"/>
                </a:solidFill>
                <a:latin typeface="Consolas"/>
              </a:rPr>
              <a:t> n &lt; limit: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n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count at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x at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while x &lt; MAZE_W: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start y at 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while y &lt; MAZE_H: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if cell_has_dot(x, y):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    add 1 to count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add 1 to 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return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Function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the function of…?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remote control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change the channel.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calculator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 math.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Function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the thing it DOES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 = a name for a block of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say_hi():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defines the function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 — runs the block.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Define the recipe once. Call it any number of times.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Defined once — called from two different places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21945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player_cell = PLAYER_START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player_moving 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called when a ghost catches you: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on_ghost_collision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called when a new game starts: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start_game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pizza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walk into a pizza shop. 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'Margherita.'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kitchen does dough → tomato → cheese → bakes → cuts → boxes.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didn't say any of that. You just said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recipe ran.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print if you call it 3 times?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Define once. Call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functions: copy-paste the same 5 lines every time you need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functions: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write 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call by name from anywhere in the file.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recipe once → every call gets the update automatically.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are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whenever player presses space.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 health hits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at the start of each wave.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reset_player()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 ghost catches the player: send them home, clear movement, wipe direction.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5 lines. We wrap them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Called every time a ghost catches the player — and from the start-game code too.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pic>
        <p:nvPicPr>
          <p:cNvPr id="8" name="Picture 7" descr="D2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866"/>
            <a:ext cx="6766377" cy="35006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function body is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164-191. You'll write the contents.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player_cell to PLAYER_START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player.position to cell_to_world(player_cell)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player_moving to false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current_dir to Vector2i.ZERO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queued_dir to Vector2i.ZERO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assignments that send the player home with a clean slate.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a ghost catch leaves the player stuck mid-tile.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cell_to_world(player_cell)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 — converts tile coords to screen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Write `reset_player()`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() -&gt; void: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player_cell to PLAYER_START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player.position to cell_to_world(player_cell)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player_moving to false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current_dir to Vector2i.ZERO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queued_dir to Vector2i.ZERO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Walk into a ghost. You pop back to the start.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Where should the player respawn?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PLAYER_START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tile coordinate. Run it. Where does the player land after a ghost catch?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take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no inputs. Same thing every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something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between the parentheses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thing is called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parameter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 input you hand to the function.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Parameter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parameter is info you hand to the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inside the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add_points(50)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50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function. Different input each time.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(amount):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 += 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)   </a:t>
            </a:r>
            <a:r>
              <a:rPr sz="1800">
                <a:solidFill>
                  <a:srgbClr val="7A7C7D"/>
                </a:solidFill>
                <a:latin typeface="Consolas"/>
              </a:rPr>
              <a:t># score goes up 10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50</a:t>
            </a:r>
            <a:r>
              <a:rPr sz="1800">
                <a:solidFill>
                  <a:srgbClr val="CFCFC2"/>
                </a:solidFill>
                <a:latin typeface="Consolas"/>
              </a:rPr>
              <a:t>)   </a:t>
            </a:r>
            <a:r>
              <a:rPr sz="1800">
                <a:solidFill>
                  <a:srgbClr val="7A7C7D"/>
                </a:solidFill>
                <a:latin typeface="Consolas"/>
              </a:rPr>
              <a:t># score goes up 50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Margherita — large or small?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 large.'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Kitchen runs the same recipe. Big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 small.'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recipe. Small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 One recipe, different inputs.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function. Different inputs each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move_player(Vector2i.UP)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up.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move_player(Vector2i.DOWN)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function, called with whatever key is pressed.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move_player(direction)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 —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up, down, left, or right.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Arrow key pressed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set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function moves the player one tile in that direction (if no wall is in the way).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2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1976"/>
            <a:ext cx="6766377" cy="25884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194-229.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direction: 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parameter is already in the signature.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calculate next_cell as player_cell + direction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hit_wall(next_cell): return early (don't move)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next_cell to wrap_cell(next_cell)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 step_player_to(next_cell)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Move the player one tile — wall check first, tunnel wrap after.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arrow keys do nothing.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wrap_cell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step_player_to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all pre-given helpers.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Write `move_player(direction)`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use</a:t>
            </a:r>
            <a:r>
              <a:rPr sz="1400">
                <a:solidFill>
                  <a:srgbClr val="CFCFC2"/>
                </a:solidFill>
                <a:latin typeface="Consolas"/>
              </a:rPr>
              <a:t>(param)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calculate next_cell as player_cell + direction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hit_wall(next_cell): return early (don't move)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next_cell to wrap_cell(next_cell)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call step_player_to(next_cell)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Press arrow keys. Player slides one tile at a time.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HAND BACK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idea: a function can also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a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hand an answer back to the caller.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answer is called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return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hands a value back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'here's your answer.'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caller gets the value and can store it or use it immediately.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Storing a return value — from your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count_dots() scans the maze and returns a number.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Store that number so we know the win target.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dots_left := </a:t>
            </a:r>
            <a:r>
              <a:rPr sz="1800">
                <a:solidFill>
                  <a:srgbClr val="8E44AD"/>
                </a:solidFill>
                <a:latin typeface="Consolas"/>
              </a:rPr>
              <a:t>count_dots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hit_wall() scans one tile and returns true or false.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the answer immediately in an if — no var needed.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hit_wall</a:t>
            </a:r>
            <a:r>
              <a:rPr sz="1800">
                <a:solidFill>
                  <a:srgbClr val="CFCFC2"/>
                </a:solidFill>
                <a:latin typeface="Consolas"/>
              </a:rPr>
              <a:t>(next_cell):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Remember booleans from Day 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true/false value — the light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off.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our function hands back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'yes this is a wall' or 'no it isn't.'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kitchen hands the pizza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Old: you say 'margherita', kitchen makes it. No pizza in your hands.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dinner = margherita('large')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kitchen makes it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hands it to you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dinner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pizza. That's the return value.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-&gt; bool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this function answers yes or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there a wall at this cell?'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is_alive()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 player still alive?'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in_range(target)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 enemy close enough to shoot?'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hit_wall(cell)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needs to know: 'is the next tile a wall?'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hit_wall(next_cell)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gets back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don't move. 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pic>
        <p:nvPicPr>
          <p:cNvPr id="8" name="Picture 7" descr="D2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86" y="1143000"/>
            <a:ext cx="6131605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232-257. Off-grid + tunnel guards are pre-given. You write only the in-grid wall query.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get the tile id: wall_layer.get_cell_source_id(cell)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true if id is not -1, false otherwise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— the in-grid wall check.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off-grid and tunnel guards above are pre-given. Your section answers: is there a wall tile here?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get_cell_source_id(cell)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no tile exists. Any other number = wall tile.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Write the in-grid wall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get the tile id: wall_layer.get_cell_source_id(cell)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return true if id is not -1, false otherwise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Walls block. Tunnel wraps. Ghosts patrol. Dots are chompable.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works. Now make it YOURS.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Repaint the walls and dots. Move the tunnel row. Tweak the ghost timing. Swap the player sprite.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Download free art from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kenney.nl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drop it 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Unlock the real Pac-Man ghosts.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six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all six are filled: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PERSONALITY_MODE_ENABLED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run.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personality ghosts replace the three plain ones.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TODO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mirrors a chunk you wrote this morning.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item in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+ counter + return)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 params)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parameter + return)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returning bool)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4 personalities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Ghost | Colour | Behaviour | 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Red | Heads straight for the player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Pink | Aims 4 tiles ahead of the player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Cyan | Flanks from the opposite side of Blinky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Clyde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Orange | Chases when far, scatters when close |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6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Syntax | Write this (comments) | 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i in range(PERSONALITY_COUNT):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spawn_one_personality(i)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step_all_personality_ghosts()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step_personality(ghost)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count_ghosts_of(personality) -&gt; 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while_loop, 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count :=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 if get_meta == personality: count 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count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for_in, var, plus_eq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i :=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 respawn_personality_ghost(ghost, i) / i 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target_for(ghost) -&gt; 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func_return, 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p = ghost.get_meta("personality")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if p == BLINKY: return blinky_target(ghost)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elif PINKY … INKY … CLYDE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is_clyde_close(ghost)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d := distance_to_player(ghost)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d &lt; 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maze game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2 - Maze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maze game runs with no Godot needed. Keep the two files together.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defend your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1990s. Tower &amp; base defense. We go deeper 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meet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to spawn waves of enemies and the towers that stop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5932</Words>
  <Application>Microsoft Macintosh PowerPoint</Application>
  <PresentationFormat>Widescreen</PresentationFormat>
  <Paragraphs>916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8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7</cp:revision>
  <dcterms:created xsi:type="dcterms:W3CDTF">2013-01-27T09:14:16Z</dcterms:created>
  <dcterms:modified xsi:type="dcterms:W3CDTF">2026-06-21T23:18:13Z</dcterms:modified>
  <cp:category/>
</cp:coreProperties>
</file>