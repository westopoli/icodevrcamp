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Pandoc Code Highlight Test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iCode Camp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Basic GDScript highlighting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CFCFC2"/>
                </a:solidFill>
                <a:latin typeface="Courier"/>
              </a:rPr>
              <a:t>var</a:t>
            </a:r>
            <a:r>
              <a:rPr>
                <a:solidFill>
                  <a:srgbClr val="CFCFC2"/>
                </a:solidFill>
                <a:latin typeface="Courier"/>
              </a:rPr>
              <a:t> ball_speed_x := </a:t>
            </a:r>
            <a:r>
              <a:rPr>
                <a:solidFill>
                  <a:srgbClr val="F67400"/>
                </a:solidFill>
                <a:latin typeface="Courier"/>
              </a:rPr>
              <a:t>6.0</a:t>
            </a:r>
            <a:br/>
            <a:r>
              <a:rPr b="1">
                <a:solidFill>
                  <a:srgbClr val="CFCFC2"/>
                </a:solidFill>
                <a:latin typeface="Courier"/>
              </a:rPr>
              <a:t>var</a:t>
            </a:r>
            <a:r>
              <a:rPr>
                <a:solidFill>
                  <a:srgbClr val="CFCFC2"/>
                </a:solidFill>
                <a:latin typeface="Courier"/>
              </a:rPr>
              <a:t> ball_speed_y := </a:t>
            </a:r>
            <a:r>
              <a:rPr>
                <a:solidFill>
                  <a:srgbClr val="F67400"/>
                </a:solidFill>
                <a:latin typeface="Courier"/>
              </a:rPr>
              <a:t>3.0</a:t>
            </a:r>
            <a:br/>
            <a:r>
              <a:rPr b="1">
                <a:solidFill>
                  <a:srgbClr val="CFCFC2"/>
                </a:solidFill>
                <a:latin typeface="Courier"/>
              </a:rPr>
              <a:t>var</a:t>
            </a:r>
            <a:r>
              <a:rPr>
                <a:solidFill>
                  <a:srgbClr val="CFCFC2"/>
                </a:solidFill>
                <a:latin typeface="Courier"/>
              </a:rPr>
              <a:t> paddle_speed := </a:t>
            </a:r>
            <a:r>
              <a:rPr>
                <a:solidFill>
                  <a:srgbClr val="F67400"/>
                </a:solidFill>
                <a:latin typeface="Courier"/>
              </a:rPr>
              <a:t>6.0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Long line (the wrapping problem)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FDBC4B"/>
                </a:solidFill>
                <a:latin typeface="Courier"/>
              </a:rPr>
              <a:t>if</a:t>
            </a:r>
            <a:r>
              <a:rPr>
                <a:solidFill>
                  <a:srgbClr val="CFCFC2"/>
                </a:solidFill>
                <a:latin typeface="Courier"/>
              </a:rPr>
              <a:t> Input.</a:t>
            </a:r>
            <a:r>
              <a:rPr>
                <a:solidFill>
                  <a:srgbClr val="8E44AD"/>
                </a:solidFill>
                <a:latin typeface="Courier"/>
              </a:rPr>
              <a:t>is_key_pressed</a:t>
            </a:r>
            <a:r>
              <a:rPr>
                <a:solidFill>
                  <a:srgbClr val="CFCFC2"/>
                </a:solidFill>
                <a:latin typeface="Courier"/>
              </a:rPr>
              <a:t>(KEY_SPACE):</a:t>
            </a:r>
            <a:br/>
            <a:r>
              <a:rPr>
                <a:solidFill>
                  <a:srgbClr val="CFCFC2"/>
                </a:solidFill>
                <a:latin typeface="Courier"/>
              </a:rPr>
              <a:t>    ball_moving = </a:t>
            </a:r>
            <a:r>
              <a:rPr>
                <a:solidFill>
                  <a:srgbClr val="27AEAE"/>
                </a:solidFill>
                <a:latin typeface="Courier"/>
              </a:rPr>
              <a:t>true</a:t>
            </a:r>
            <a:br/>
            <a:r>
              <a:rPr b="1">
                <a:solidFill>
                  <a:srgbClr val="FDBC4B"/>
                </a:solidFill>
                <a:latin typeface="Courier"/>
              </a:rPr>
              <a:t>if</a:t>
            </a:r>
            <a:r>
              <a:rPr>
                <a:solidFill>
                  <a:srgbClr val="CFCFC2"/>
                </a:solidFill>
                <a:latin typeface="Courier"/>
              </a:rPr>
              <a:t> ball_moving == </a:t>
            </a:r>
            <a:r>
              <a:rPr>
                <a:solidFill>
                  <a:srgbClr val="27AEAE"/>
                </a:solidFill>
                <a:latin typeface="Courier"/>
              </a:rPr>
              <a:t>false</a:t>
            </a:r>
            <a:r>
              <a:rPr>
                <a:solidFill>
                  <a:srgbClr val="CFCFC2"/>
                </a:solidFill>
                <a:latin typeface="Courier"/>
              </a:rPr>
              <a:t>:</a:t>
            </a:r>
            <a:br/>
            <a:r>
              <a:rPr>
                <a:solidFill>
                  <a:srgbClr val="CFCFC2"/>
                </a:solidFill>
                <a:latin typeface="Courier"/>
              </a:rPr>
              <a:t>    </a:t>
            </a:r>
            <a:r>
              <a:rPr b="1">
                <a:solidFill>
                  <a:srgbClr val="FDBC4B"/>
                </a:solidFill>
                <a:latin typeface="Courier"/>
              </a:rPr>
              <a:t>return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Comments (the WRITE THIS panel)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A7C7D"/>
                </a:solidFill>
                <a:latin typeface="Courier"/>
              </a:rPr>
              <a:t># ball left-right speed (pick a number)</a:t>
            </a:r>
            <a:br/>
            <a:r>
              <a:rPr>
                <a:solidFill>
                  <a:srgbClr val="7A7C7D"/>
                </a:solidFill>
                <a:latin typeface="Courier"/>
              </a:rPr>
              <a:t># ball up-down speed (pick a number)</a:t>
            </a:r>
            <a:br/>
            <a:r>
              <a:rPr>
                <a:solidFill>
                  <a:srgbClr val="7A7C7D"/>
                </a:solidFill>
                <a:latin typeface="Courier"/>
              </a:rPr>
              <a:t># paddle speed (pick a number)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Indentation stress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CFCFC2"/>
                </a:solidFill>
                <a:latin typeface="Courier"/>
              </a:rPr>
              <a:t>var</a:t>
            </a:r>
            <a:r>
              <a:rPr>
                <a:solidFill>
                  <a:srgbClr val="CFCFC2"/>
                </a:solidFill>
                <a:latin typeface="Courier"/>
              </a:rPr>
              <a:t> upper_border = </a:t>
            </a:r>
            <a:r>
              <a:rPr>
                <a:solidFill>
                  <a:srgbClr val="F67400"/>
                </a:solidFill>
                <a:latin typeface="Courier"/>
              </a:rPr>
              <a:t>0</a:t>
            </a:r>
            <a:br/>
            <a:r>
              <a:rPr b="1">
                <a:solidFill>
                  <a:srgbClr val="CFCFC2"/>
                </a:solidFill>
                <a:latin typeface="Courier"/>
              </a:rPr>
              <a:t>var</a:t>
            </a:r>
            <a:r>
              <a:rPr>
                <a:solidFill>
                  <a:srgbClr val="CFCFC2"/>
                </a:solidFill>
                <a:latin typeface="Courier"/>
              </a:rPr>
              <a:t> lower_border = SCREEN_H - BALL_SIZE</a:t>
            </a:r>
            <a:br/>
            <a:r>
              <a:rPr b="1">
                <a:solidFill>
                  <a:srgbClr val="FDBC4B"/>
                </a:solidFill>
                <a:latin typeface="Courier"/>
              </a:rPr>
              <a:t>if</a:t>
            </a:r>
            <a:r>
              <a:rPr>
                <a:solidFill>
                  <a:srgbClr val="CFCFC2"/>
                </a:solidFill>
                <a:latin typeface="Courier"/>
              </a:rPr>
              <a:t> ball.position.y &lt; upper_border </a:t>
            </a:r>
            <a:r>
              <a:rPr b="1">
                <a:solidFill>
                  <a:srgbClr val="CFCFC2"/>
                </a:solidFill>
                <a:latin typeface="Courier"/>
              </a:rPr>
              <a:t>or</a:t>
            </a:r>
            <a:r>
              <a:rPr>
                <a:solidFill>
                  <a:srgbClr val="CFCFC2"/>
                </a:solidFill>
                <a:latin typeface="Courier"/>
              </a:rPr>
              <a:t> ball.position.y &gt; lower_border:</a:t>
            </a:r>
            <a:br/>
            <a:r>
              <a:rPr>
                <a:solidFill>
                  <a:srgbClr val="CFCFC2"/>
                </a:solidFill>
                <a:latin typeface="Courier"/>
              </a:rPr>
              <a:t>    ball_speed_y = -ball_speed_y</a:t>
            </a:r>
            <a:br/>
            <a:r>
              <a:rPr b="1">
                <a:solidFill>
                  <a:srgbClr val="FDBC4B"/>
                </a:solidFill>
                <a:latin typeface="Courier"/>
              </a:rPr>
              <a:t>else</a:t>
            </a:r>
            <a:r>
              <a:rPr>
                <a:solidFill>
                  <a:srgbClr val="CFCFC2"/>
                </a:solidFill>
                <a:latin typeface="Courier"/>
              </a:rPr>
              <a:t>:</a:t>
            </a:r>
            <a:br/>
            <a:r>
              <a:rPr>
                <a:solidFill>
                  <a:srgbClr val="CFCFC2"/>
                </a:solidFill>
                <a:latin typeface="Courier"/>
              </a:rPr>
              <a:t>    </a:t>
            </a:r>
            <a:r>
              <a:rPr b="1">
                <a:solidFill>
                  <a:srgbClr val="FDBC4B"/>
                </a:solidFill>
                <a:latin typeface="Courier"/>
              </a:rPr>
              <a:t>pass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Indented comment scaffold (the wrapping + indentation problem)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A7C7D"/>
                </a:solidFill>
                <a:latin typeface="Courier"/>
              </a:rPr>
              <a:t># if ball passed right edge (&gt; SCREEN_W):</a:t>
            </a:r>
            <a:br/>
            <a:r>
              <a:rPr>
                <a:solidFill>
                  <a:srgbClr val="7A7C7D"/>
                </a:solidFill>
                <a:latin typeface="Courier"/>
              </a:rPr>
              <a:t>#     add 1 to left_score</a:t>
            </a:r>
            <a:br/>
            <a:r>
              <a:rPr>
                <a:solidFill>
                  <a:srgbClr val="7A7C7D"/>
                </a:solidFill>
                <a:latin typeface="Courier"/>
              </a:rPr>
              <a:t>#     call reset_ball()</a:t>
            </a:r>
            <a:br/>
            <a:r>
              <a:rPr>
                <a:solidFill>
                  <a:srgbClr val="7A7C7D"/>
                </a:solidFill>
                <a:latin typeface="Courier"/>
              </a:rPr>
              <a:t># if ball passed left edge (&lt; 0):</a:t>
            </a:r>
            <a:br/>
            <a:r>
              <a:rPr>
                <a:solidFill>
                  <a:srgbClr val="7A7C7D"/>
                </a:solidFill>
                <a:latin typeface="Courier"/>
              </a:rPr>
              <a:t>#     add 1 to right_score</a:t>
            </a:r>
            <a:br/>
            <a:r>
              <a:rPr>
                <a:solidFill>
                  <a:srgbClr val="7A7C7D"/>
                </a:solidFill>
                <a:latin typeface="Courier"/>
              </a:rPr>
              <a:t>#     call reset_ball()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Mixed — syntax left, scaffold right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SYNTAX</a:t>
            </a:r>
          </a:p>
          <a:p>
            <a:pPr lvl="0" indent="0">
              <a:buNone/>
            </a:pPr>
            <a:r>
              <a:rPr b="1">
                <a:solidFill>
                  <a:srgbClr val="FDBC4B"/>
                </a:solidFill>
                <a:latin typeface="Courier"/>
              </a:rPr>
              <a:t>if</a:t>
            </a:r>
            <a:r>
              <a:rPr>
                <a:solidFill>
                  <a:srgbClr val="CFCFC2"/>
                </a:solidFill>
                <a:latin typeface="Courier"/>
              </a:rPr>
              <a:t> Input.</a:t>
            </a:r>
            <a:r>
              <a:rPr>
                <a:solidFill>
                  <a:srgbClr val="8E44AD"/>
                </a:solidFill>
                <a:latin typeface="Courier"/>
              </a:rPr>
              <a:t>is_key_pressed</a:t>
            </a:r>
            <a:r>
              <a:rPr>
                <a:solidFill>
                  <a:srgbClr val="CFCFC2"/>
                </a:solidFill>
                <a:latin typeface="Courier"/>
              </a:rPr>
              <a:t>(KEY_SPACE):</a:t>
            </a:r>
            <a:br/>
            <a:r>
              <a:rPr>
                <a:solidFill>
                  <a:srgbClr val="CFCFC2"/>
                </a:solidFill>
                <a:latin typeface="Courier"/>
              </a:rPr>
              <a:t>    variable = </a:t>
            </a:r>
            <a:r>
              <a:rPr>
                <a:solidFill>
                  <a:srgbClr val="27AEAE"/>
                </a:solidFill>
                <a:latin typeface="Courier"/>
              </a:rPr>
              <a:t>true</a:t>
            </a:r>
            <a:br/>
            <a:r>
              <a:rPr b="1">
                <a:solidFill>
                  <a:srgbClr val="FDBC4B"/>
                </a:solidFill>
                <a:latin typeface="Courier"/>
              </a:rPr>
              <a:t>if</a:t>
            </a:r>
            <a:r>
              <a:rPr>
                <a:solidFill>
                  <a:srgbClr val="CFCFC2"/>
                </a:solidFill>
                <a:latin typeface="Courier"/>
              </a:rPr>
              <a:t> variable == </a:t>
            </a:r>
            <a:r>
              <a:rPr>
                <a:solidFill>
                  <a:srgbClr val="27AEAE"/>
                </a:solidFill>
                <a:latin typeface="Courier"/>
              </a:rPr>
              <a:t>false</a:t>
            </a:r>
            <a:r>
              <a:rPr>
                <a:solidFill>
                  <a:srgbClr val="CFCFC2"/>
                </a:solidFill>
                <a:latin typeface="Courier"/>
              </a:rPr>
              <a:t>:</a:t>
            </a:r>
            <a:br/>
            <a:r>
              <a:rPr>
                <a:solidFill>
                  <a:srgbClr val="CFCFC2"/>
                </a:solidFill>
                <a:latin typeface="Courier"/>
              </a:rPr>
              <a:t>    </a:t>
            </a:r>
            <a:r>
              <a:rPr b="1">
                <a:solidFill>
                  <a:srgbClr val="FDBC4B"/>
                </a:solidFill>
                <a:latin typeface="Courier"/>
              </a:rPr>
              <a:t>return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WRITE THIS</a:t>
            </a:r>
          </a:p>
          <a:p>
            <a:pPr lvl="0" indent="0">
              <a:buNone/>
            </a:pPr>
            <a:r>
              <a:rPr>
                <a:solidFill>
                  <a:srgbClr val="7A7C7D"/>
                </a:solidFill>
                <a:latin typeface="Courier"/>
              </a:rPr>
              <a:t># if Space is pressed:</a:t>
            </a:r>
            <a:br/>
            <a:r>
              <a:rPr>
                <a:solidFill>
                  <a:srgbClr val="7A7C7D"/>
                </a:solidFill>
                <a:latin typeface="Courier"/>
              </a:rPr>
              <a:t>#     set ball_moving to true</a:t>
            </a:r>
            <a:br/>
            <a:r>
              <a:rPr>
                <a:solidFill>
                  <a:srgbClr val="7A7C7D"/>
                </a:solidFill>
                <a:latin typeface="Courier"/>
              </a:rPr>
              <a:t># if ball_moving is false:</a:t>
            </a:r>
            <a:br/>
            <a:r>
              <a:rPr>
                <a:solidFill>
                  <a:srgbClr val="7A7C7D"/>
                </a:solidFill>
                <a:latin typeface="Courier"/>
              </a:rPr>
              <a:t>#     return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Python comparison (does it highlight python too?)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Python</a:t>
            </a:r>
          </a:p>
          <a:p>
            <a:pPr lvl="0" indent="0">
              <a:buNone/>
            </a:pPr>
            <a:r>
              <a:rPr>
                <a:solidFill>
                  <a:srgbClr val="CFCFC2"/>
                </a:solidFill>
                <a:latin typeface="Courier"/>
              </a:rPr>
              <a:t>x = </a:t>
            </a:r>
            <a:r>
              <a:rPr>
                <a:solidFill>
                  <a:srgbClr val="F67400"/>
                </a:solidFill>
                <a:latin typeface="Courier"/>
              </a:rPr>
              <a:t>5</a:t>
            </a:r>
            <a:br/>
            <a:br/>
            <a:r>
              <a:rPr b="1">
                <a:solidFill>
                  <a:srgbClr val="CFCFC2"/>
                </a:solidFill>
                <a:latin typeface="Courier"/>
              </a:rPr>
              <a:t>def</a:t>
            </a:r>
            <a:r>
              <a:rPr>
                <a:solidFill>
                  <a:srgbClr val="CFCFC2"/>
                </a:solidFill>
                <a:latin typeface="Courier"/>
              </a:rPr>
              <a:t> update():</a:t>
            </a:r>
            <a:br/>
            <a:r>
              <a:rPr>
                <a:solidFill>
                  <a:srgbClr val="CFCFC2"/>
                </a:solidFill>
                <a:latin typeface="Courier"/>
              </a:rPr>
              <a:t>    </a:t>
            </a:r>
            <a:r>
              <a:rPr b="1">
                <a:solidFill>
                  <a:srgbClr val="FDBC4B"/>
                </a:solidFill>
                <a:latin typeface="Courier"/>
              </a:rPr>
              <a:t>pass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GDScript</a:t>
            </a:r>
          </a:p>
          <a:p>
            <a:pPr lvl="0" indent="0">
              <a:buNone/>
            </a:pPr>
            <a:r>
              <a:rPr b="1">
                <a:solidFill>
                  <a:srgbClr val="CFCFC2"/>
                </a:solidFill>
                <a:latin typeface="Courier"/>
              </a:rPr>
              <a:t>var</a:t>
            </a:r>
            <a:r>
              <a:rPr>
                <a:solidFill>
                  <a:srgbClr val="CFCFC2"/>
                </a:solidFill>
                <a:latin typeface="Courier"/>
              </a:rPr>
              <a:t> x = </a:t>
            </a:r>
            <a:r>
              <a:rPr>
                <a:solidFill>
                  <a:srgbClr val="F67400"/>
                </a:solidFill>
                <a:latin typeface="Courier"/>
              </a:rPr>
              <a:t>5</a:t>
            </a:r>
            <a:br/>
            <a:br/>
            <a:r>
              <a:rPr b="1">
                <a:solidFill>
                  <a:srgbClr val="CFCFC2"/>
                </a:solidFill>
                <a:latin typeface="Courier"/>
              </a:rPr>
              <a:t>func</a:t>
            </a:r>
            <a:r>
              <a:rPr>
                <a:solidFill>
                  <a:srgbClr val="CFCFC2"/>
                </a:solidFill>
                <a:latin typeface="Courier"/>
              </a:rPr>
              <a:t> </a:t>
            </a:r>
            <a:r>
              <a:rPr>
                <a:solidFill>
                  <a:srgbClr val="8E44AD"/>
                </a:solidFill>
                <a:latin typeface="Courier"/>
              </a:rPr>
              <a:t>update</a:t>
            </a:r>
            <a:r>
              <a:rPr>
                <a:solidFill>
                  <a:srgbClr val="CFCFC2"/>
                </a:solidFill>
                <a:latin typeface="Courier"/>
              </a:rPr>
              <a:t>():</a:t>
            </a:r>
            <a:br/>
            <a:r>
              <a:rPr>
                <a:solidFill>
                  <a:srgbClr val="CFCFC2"/>
                </a:solidFill>
                <a:latin typeface="Courier"/>
              </a:rPr>
              <a:t>    </a:t>
            </a:r>
            <a:r>
              <a:rPr b="1">
                <a:solidFill>
                  <a:srgbClr val="FDBC4B"/>
                </a:solidFill>
                <a:latin typeface="Courier"/>
              </a:rPr>
              <a:t>pass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Nested indentation (the real killer)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FDBC4B"/>
                </a:solidFill>
                <a:latin typeface="Courier"/>
              </a:rPr>
              <a:t>if</a:t>
            </a:r>
            <a:r>
              <a:rPr>
                <a:solidFill>
                  <a:srgbClr val="CFCFC2"/>
                </a:solidFill>
                <a:latin typeface="Courier"/>
              </a:rPr>
              <a:t> has_key:</a:t>
            </a:r>
            <a:br/>
            <a:r>
              <a:rPr>
                <a:solidFill>
                  <a:srgbClr val="CFCFC2"/>
                </a:solidFill>
                <a:latin typeface="Courier"/>
              </a:rPr>
              <a:t>    line </a:t>
            </a:r>
            <a:r>
              <a:rPr>
                <a:solidFill>
                  <a:srgbClr val="F67400"/>
                </a:solidFill>
                <a:latin typeface="Courier"/>
              </a:rPr>
              <a:t>1</a:t>
            </a:r>
            <a:br/>
            <a:r>
              <a:rPr>
                <a:solidFill>
                  <a:srgbClr val="CFCFC2"/>
                </a:solidFill>
                <a:latin typeface="Courier"/>
              </a:rPr>
              <a:t>    </a:t>
            </a:r>
            <a:r>
              <a:rPr b="1">
                <a:solidFill>
                  <a:srgbClr val="FDBC4B"/>
                </a:solidFill>
                <a:latin typeface="Courier"/>
              </a:rPr>
              <a:t>if</a:t>
            </a:r>
            <a:r>
              <a:rPr>
                <a:solidFill>
                  <a:srgbClr val="CFCFC2"/>
                </a:solidFill>
                <a:latin typeface="Courier"/>
              </a:rPr>
              <a:t> door_locked:</a:t>
            </a:r>
            <a:br/>
            <a:r>
              <a:rPr>
                <a:solidFill>
                  <a:srgbClr val="CFCFC2"/>
                </a:solidFill>
                <a:latin typeface="Courier"/>
              </a:rPr>
              <a:t>        line </a:t>
            </a:r>
            <a:r>
              <a:rPr>
                <a:solidFill>
                  <a:srgbClr val="F67400"/>
                </a:solidFill>
                <a:latin typeface="Courier"/>
              </a:rPr>
              <a:t>2</a:t>
            </a:r>
            <a:br/>
            <a:r>
              <a:rPr>
                <a:solidFill>
                  <a:srgbClr val="CFCFC2"/>
                </a:solidFill>
                <a:latin typeface="Courier"/>
              </a:rPr>
              <a:t>    line </a:t>
            </a:r>
            <a:r>
              <a:rPr>
                <a:solidFill>
                  <a:srgbClr val="F67400"/>
                </a:solidFill>
                <a:latin typeface="Courier"/>
              </a:rPr>
              <a:t>3</a:t>
            </a:r>
            <a:br/>
            <a:r>
              <a:rPr>
                <a:solidFill>
                  <a:srgbClr val="CFCFC2"/>
                </a:solidFill>
                <a:latin typeface="Courier"/>
              </a:rPr>
              <a:t>line </a:t>
            </a:r>
            <a:r>
              <a:rPr>
                <a:solidFill>
                  <a:srgbClr val="F67400"/>
                </a:solidFill>
                <a:latin typeface="Courier"/>
              </a:rPr>
              <a:t>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Pandoc Code Highlight Test</dc:title>
  <dc:creator>iCode Camp</dc:creator>
  <cp:keywords/>
  <dcterms:created xsi:type="dcterms:W3CDTF">2026-06-20T20:54:56Z</dcterms:created>
  <dcterms:modified xsi:type="dcterms:W3CDTF">2026-06-20T20:54:56Z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