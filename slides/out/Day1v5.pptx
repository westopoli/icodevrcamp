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Two-column visual diagram. Left column header </a:t>
            </a:r>
            <a:r>
              <a:rPr sz="1800">
                <a:solidFill>
                  <a:srgbClr val="F44F4F"/>
                </a:solidFill>
                <a:latin typeface="Consolas"/>
              </a:rPr>
              <a:t>"Python"</a:t>
            </a:r>
            <a:r>
              <a:rPr sz="1800">
                <a:solidFill>
                  <a:srgbClr val="CFCFC2"/>
                </a:solidFill>
                <a:latin typeface="Consolas"/>
              </a:rPr>
              <a:t> (blue), right column header </a:t>
            </a:r>
            <a:r>
              <a:rPr sz="1800">
                <a:solidFill>
                  <a:srgbClr val="F44F4F"/>
                </a:solidFill>
                <a:latin typeface="Consolas"/>
              </a:rPr>
              <a:t>"GDScript"</a:t>
            </a:r>
            <a:r>
              <a:rPr sz="1800">
                <a:solidFill>
                  <a:srgbClr val="CFCFC2"/>
                </a:solidFill>
                <a:latin typeface="Consolas"/>
              </a:rPr>
              <a:t> (green). Two rows with a connecting arrow between each pair: Left: `x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`  →  Right: `var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`  with callout box around `var` </a:t>
            </a:r>
            <a:r>
              <a:rPr sz="1800">
                <a:solidFill>
                  <a:srgbClr val="CFCFC2"/>
                </a:solidFill>
                <a:latin typeface="Consolas"/>
              </a:rPr>
              <a:t>in</a:t>
            </a:r>
            <a:r>
              <a:rPr sz="1800">
                <a:solidFill>
                  <a:srgbClr val="CFCFC2"/>
                </a:solidFill>
                <a:latin typeface="Consolas"/>
              </a:rPr>
              <a:t> iCode red, label: </a:t>
            </a:r>
            <a:r>
              <a:rPr sz="1800">
                <a:solidFill>
                  <a:srgbClr val="F44F4F"/>
                </a:solidFill>
                <a:latin typeface="Consolas"/>
              </a:rPr>
              <a:t>"one extra word"</a:t>
            </a:r>
            <a:r>
              <a:rPr sz="1800">
                <a:solidFill>
                  <a:srgbClr val="CFCFC2"/>
                </a:solidFill>
                <a:latin typeface="Consolas"/>
              </a:rPr>
              <a:t> Left: `def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():` → Right: `func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():` with callout box around `func` </a:t>
            </a:r>
            <a:r>
              <a:rPr sz="1800">
                <a:solidFill>
                  <a:srgbClr val="CFCFC2"/>
                </a:solidFill>
                <a:latin typeface="Consolas"/>
              </a:rPr>
              <a:t>in</a:t>
            </a:r>
            <a:r>
              <a:rPr sz="1800">
                <a:solidFill>
                  <a:srgbClr val="CFCFC2"/>
                </a:solidFill>
                <a:latin typeface="Consolas"/>
              </a:rPr>
              <a:t> iCode red, label: </a:t>
            </a:r>
            <a:r>
              <a:rPr sz="1800">
                <a:solidFill>
                  <a:srgbClr val="F44F4F"/>
                </a:solidFill>
                <a:latin typeface="Consolas"/>
              </a:rPr>
              <a:t>"different keyword"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ALUE that can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C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ball_speed_x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ball_speed_y := </a:t>
            </a:r>
            <a:r>
              <a:rPr sz="1800">
                <a:solidFill>
                  <a:srgbClr val="F67400"/>
                </a:solidFill>
                <a:latin typeface="Consolas"/>
              </a:rPr>
              <a:t>3.0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paddle_speed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score :=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lives := </a:t>
            </a:r>
            <a:r>
              <a:rPr sz="1400">
                <a:solidFill>
                  <a:srgbClr val="F67400"/>
                </a:solidFill>
                <a:latin typeface="Consolas"/>
              </a:rPr>
              <a:t>3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speed :=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left-right speed (pick a number)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up-down speed (pick a number)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speed (pick a number)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skibidi_speed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gyatt_factor := </a:t>
            </a:r>
            <a:r>
              <a:rPr sz="18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skibidi_speed := </a:t>
            </a:r>
            <a:r>
              <a:rPr sz="1400">
                <a:solidFill>
                  <a:srgbClr val="F67400"/>
                </a:solidFill>
                <a:latin typeface="Consolas"/>
              </a:rPr>
              <a:t>99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ohio_rizz := </a:t>
            </a:r>
            <a:r>
              <a:rPr sz="1400">
                <a:solidFill>
                  <a:srgbClr val="F67400"/>
                </a:solidFill>
                <a:latin typeface="Consolas"/>
              </a:rPr>
              <a:t>7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gyatt_factor := </a:t>
            </a:r>
            <a:r>
              <a:rPr sz="14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#1 (your choice)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ball_moving :=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is_alive :=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door_locked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ball_moving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 true/false variable called ball_moving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[something </a:t>
            </a:r>
            <a:r>
              <a:rPr sz="1800">
                <a:solidFill>
                  <a:srgbClr val="CFCFC2"/>
                </a:solidFill>
                <a:latin typeface="Consolas"/>
              </a:rPr>
              <a:t>is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  <a:r>
              <a:rPr sz="1800">
                <a:solidFill>
                  <a:srgbClr val="CFCFC2"/>
                </a:solidFill>
                <a:latin typeface="Consolas"/>
              </a:rPr>
              <a:t>]:</a:t>
            </a:r>
            <a:r>
              <a:rPr sz="1800">
                <a:solidFill>
                  <a:srgbClr val="CFCFC2"/>
                </a:solidFill>
                <a:latin typeface="Consolas"/>
              </a:rPr>
              <a:t>      do this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CFCFC2"/>
                </a:solidFill>
                <a:latin typeface="Consolas"/>
              </a:rPr>
              <a:t>and</a:t>
            </a:r>
            <a:r>
              <a:rPr sz="1800">
                <a:solidFill>
                  <a:srgbClr val="CFCFC2"/>
                </a:solidFill>
                <a:latin typeface="Consolas"/>
              </a:rPr>
              <a:t> this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     ← OPENS the box (blue/highlighted)</a:t>
            </a:r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┌─────────────────────────────────────────┐</a:t>
            </a:r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800">
                <a:solidFill>
                  <a:srgbClr val="CFCFC2"/>
                </a:solidFill>
                <a:latin typeface="Consolas"/>
              </a:rPr>
              <a:t>()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└─────────────────────────────────────────┘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 (ALWAYS runs, outside the box)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Same diagram </a:t>
            </a:r>
            <a:r>
              <a:rPr sz="1800">
                <a:solidFill>
                  <a:srgbClr val="CFCFC2"/>
                </a:solidFill>
                <a:latin typeface="Consolas"/>
              </a:rPr>
              <a:t>as</a:t>
            </a:r>
            <a:r>
              <a:rPr sz="1800">
                <a:solidFill>
                  <a:srgbClr val="CFCFC2"/>
                </a:solidFill>
                <a:latin typeface="Consolas"/>
              </a:rPr>
              <a:t> S065b, but with annotations: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Same diagram, different annotations: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← the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← NOT indented → NOT inside the box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← NOT indented → also </a:t>
            </a:r>
            <a:r>
              <a:rPr sz="1800">
                <a:solidFill>
                  <a:srgbClr val="CFCFC2"/>
                </a:solidFill>
                <a:latin typeface="Consolas"/>
              </a:rPr>
              <a:t>not</a:t>
            </a:r>
            <a:r>
              <a:rPr sz="1800">
                <a:solidFill>
                  <a:srgbClr val="CFCFC2"/>
                </a:solidFill>
                <a:latin typeface="Consolas"/>
              </a:rPr>
              <a:t> inside the box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health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       ← condition = TRUE</a:t>
            </a:r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 ALWAYS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is_paused:</a:t>
            </a:r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Nested boxes — what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has_key:</a:t>
            </a:r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door_locked: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(KEY_SPACE):</a:t>
            </a:r>
            <a:r>
              <a:rPr sz="1800">
                <a:solidFill>
                  <a:srgbClr val="CFCFC2"/>
                </a:solidFill>
                <a:latin typeface="Consolas"/>
              </a:rPr>
              <a:t>      ball_moving =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ball_moving ==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(KEY_SPACE):</a:t>
            </a:r>
            <a:r>
              <a:rPr sz="1400">
                <a:solidFill>
                  <a:srgbClr val="CFCFC2"/>
                </a:solidFill>
                <a:latin typeface="Consolas"/>
              </a:rPr>
              <a:t>      variable 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variable ==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Space is pressed: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set ball_moving to true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ball_moving is false: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↑       ↑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object   verb (ask Input to check a key)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ball.position.x += ball_speed_x</a:t>
            </a:r>
            <a:r>
              <a:rPr sz="1800">
                <a:solidFill>
                  <a:srgbClr val="CFCFC2"/>
                </a:solidFill>
                <a:latin typeface="Consolas"/>
              </a:rPr>
              <a:t>  ball.position.y += ball_speed_y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x = x + amount</a:t>
            </a:r>
            <a:r>
              <a:rPr sz="1400">
                <a:solidFill>
                  <a:srgbClr val="CFCFC2"/>
                </a:solidFill>
                <a:latin typeface="Consolas"/>
              </a:rPr>
              <a:t>  x += amount</a:t>
            </a:r>
            <a:r>
              <a:rPr sz="14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ball_speed_x to ball.position.x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top of screen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lower_border = SCREEN_H - BALL_SIZE  </a:t>
            </a:r>
            <a:r>
              <a:rPr sz="1800">
                <a:solidFill>
                  <a:srgbClr val="7A7C7D"/>
                </a:solidFill>
                <a:latin typeface="Consolas"/>
              </a:rPr>
              <a:t># = 648 - 20 = 628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top-left at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ball bottom-right at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← just touching the wall ✓</a:t>
            </a:r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has already gone OFF the screen ✗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lower_border = SCREEN_H - BALL_SIZE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ball.position.y &lt; upper_border </a:t>
            </a:r>
            <a:r>
              <a:rPr sz="1800">
                <a:solidFill>
                  <a:srgbClr val="CFCFC2"/>
                </a:solidFill>
                <a:latin typeface="Consolas"/>
              </a:rPr>
              <a:t>or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ball.position.y &gt; lower_border:</a:t>
            </a:r>
            <a:r>
              <a:rPr sz="1800">
                <a:solidFill>
                  <a:srgbClr val="CFCFC2"/>
                </a:solidFill>
                <a:latin typeface="Consolas"/>
              </a:rPr>
              <a:t>      ball_speed_y = -ball_speed_y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else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lower_border = SCREEN_H - BALL_SIZE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A </a:t>
            </a:r>
            <a:r>
              <a:rPr sz="1400">
                <a:solidFill>
                  <a:srgbClr val="CFCFC2"/>
                </a:solidFill>
                <a:latin typeface="Consolas"/>
              </a:rPr>
              <a:t>or</a:t>
            </a:r>
            <a:r>
              <a:rPr sz="1400">
                <a:solidFill>
                  <a:srgbClr val="CFCFC2"/>
                </a:solidFill>
                <a:latin typeface="Consolas"/>
              </a:rPr>
              <a:t> B:</a:t>
            </a:r>
            <a:r>
              <a:rPr sz="1400">
                <a:solidFill>
                  <a:srgbClr val="CFCFC2"/>
                </a:solidFill>
                <a:latin typeface="Consolas"/>
              </a:rPr>
              <a:t>      ball_speed_y = -ball_speed_y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else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lower_border = SCREEN_H - BALL_SIZE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ball.position.y &lt; upper_border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or ball.position.y &gt; lower_border: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flip ball_speed_y (negate it)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else: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&gt; SCREEN_W: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"point!"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&gt; SCREEN_W:</a:t>
            </a:r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7F8C8D"/>
                </a:solidFill>
                <a:latin typeface="Consolas"/>
              </a:rPr>
              <a:t>print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F44F4F"/>
                </a:solidFill>
                <a:latin typeface="Consolas"/>
              </a:rPr>
              <a:t>"your message here"</a:t>
            </a:r>
            <a:r>
              <a:rPr sz="14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ball.position.x is past SCREEN_W: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&gt; SCREEN_W:</a:t>
            </a:r>
            <a:r>
              <a:rPr sz="1800">
                <a:solidFill>
                  <a:srgbClr val="CFCFC2"/>
                </a:solidFill>
                <a:latin typeface="Consolas"/>
              </a:rPr>
              <a:t>      left_score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&lt;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  <a:r>
              <a:rPr sz="1800">
                <a:solidFill>
                  <a:srgbClr val="CFCFC2"/>
                </a:solidFill>
                <a:latin typeface="Consolas"/>
              </a:rPr>
              <a:t>      right_score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left_score += </a:t>
            </a:r>
            <a:r>
              <a:rPr sz="1400">
                <a:solidFill>
                  <a:srgbClr val="F67400"/>
                </a:solidFill>
                <a:latin typeface="Consolas"/>
              </a:rPr>
              <a:t>1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8E44AD"/>
                </a:solidFill>
                <a:latin typeface="Consolas"/>
              </a:rPr>
              <a:t>reset_ball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&gt; SCREEN_W:</a:t>
            </a:r>
            <a:r>
              <a:rPr sz="1400">
                <a:solidFill>
                  <a:srgbClr val="CFCFC2"/>
                </a:solidFill>
                <a:latin typeface="Consolas"/>
              </a:rPr>
              <a:t>      ...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&lt;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  <a:r>
              <a:rPr sz="1400">
                <a:solidFill>
                  <a:srgbClr val="CFCFC2"/>
                </a:solidFill>
                <a:latin typeface="Consolas"/>
              </a:rPr>
              <a:t>  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right edge (&gt; SCREEN_W):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left_score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left edge (&lt; 0):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right_score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)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 (the number 99 as text)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(whatever value the variable holds)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"Speed: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"Speed: 99"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 + </a:t>
            </a:r>
            <a:r>
              <a:rPr sz="1800">
                <a:solidFill>
                  <a:srgbClr val="F44F4F"/>
                </a:solidFill>
                <a:latin typeface="Consolas"/>
              </a:rPr>
              <a:t>" ★"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A7C7D"/>
                </a:solidFill>
                <a:latin typeface="Consolas"/>
              </a:rPr>
              <a:t># → "★ 42 ★"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</a:t>
            </a:r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reads: "stick this onto the end of whatever's already there"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+ </a:t>
            </a:r>
            <a:r>
              <a:rPr sz="1800">
                <a:solidFill>
                  <a:srgbClr val="F44F4F"/>
                </a:solidFill>
                <a:latin typeface="Consolas"/>
              </a:rPr>
              <a:t>"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(your_variable)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44F4F"/>
                </a:solidFill>
                <a:latin typeface="Consolas"/>
              </a:rPr>
              <a:t>"label: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(variable)</a:t>
            </a:r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more text"</a:t>
            </a:r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★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first silly var to score_label.text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str() to convert it, + to join with a label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second silly var too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 — comment out (Ctrl+K)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put # at start of each AI line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(KEY_I):</a:t>
            </a:r>
            <a:r>
              <a:rPr sz="1400">
                <a:solidFill>
                  <a:srgbClr val="CFCFC2"/>
                </a:solidFill>
                <a:latin typeface="Consolas"/>
              </a:rPr>
              <a:t>      position.y -= paddle_speed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(KEY_K):</a:t>
            </a:r>
            <a:r>
              <a:rPr sz="1400">
                <a:solidFill>
                  <a:srgbClr val="CFCFC2"/>
                </a:solidFill>
                <a:latin typeface="Consolas"/>
              </a:rPr>
              <a:t>      position.y += paddle_speed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FC-1: comment out ALL 5 AI lines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(select + Ctrl+K, or add # manually)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should now sit still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FC-2: add I/K key movement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 key pressed → move UP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const</a:t>
            </a:r>
            <a:r>
              <a:rPr sz="1400">
                <a:solidFill>
                  <a:srgbClr val="CFCFC2"/>
                </a:solidFill>
                <a:latin typeface="Consolas"/>
              </a:rPr>
              <a:t> ANGLE_MIN := -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const</a:t>
            </a:r>
            <a:r>
              <a:rPr sz="1400">
                <a:solidFill>
                  <a:srgbClr val="CFCFC2"/>
                </a:solidFill>
                <a:latin typeface="Consolas"/>
              </a:rPr>
              <a:t> ANGLE_MAX :=  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angle = </a:t>
            </a:r>
            <a:r>
              <a:rPr sz="1400">
                <a:solidFill>
                  <a:srgbClr val="8E44AD"/>
                </a:solidFill>
                <a:latin typeface="Consolas"/>
              </a:rPr>
              <a:t>randf_range</a:t>
            </a:r>
            <a:r>
              <a:rPr sz="1400">
                <a:solidFill>
                  <a:srgbClr val="CFCFC2"/>
                </a:solidFill>
                <a:latin typeface="Consolas"/>
              </a:rPr>
              <a:t>(ANGLE_MIN, ANGLE_MAX)</a:t>
            </a:r>
            <a:r>
              <a:rPr sz="1400">
                <a:solidFill>
                  <a:srgbClr val="CFCFC2"/>
                </a:solidFill>
                <a:latin typeface="Consolas"/>
              </a:rPr>
              <a:t>  ball_speed_x = </a:t>
            </a:r>
            <a:r>
              <a:rPr sz="1400">
                <a:solidFill>
                  <a:srgbClr val="7F8C8D"/>
                </a:solidFill>
                <a:latin typeface="Consolas"/>
              </a:rPr>
              <a:t>cos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  <a:r>
              <a:rPr sz="1400">
                <a:solidFill>
                  <a:srgbClr val="CFCFC2"/>
                </a:solidFill>
                <a:latin typeface="Consolas"/>
              </a:rPr>
              <a:t>  ball_speed_y = </a:t>
            </a:r>
            <a:r>
              <a:rPr sz="1400">
                <a:solidFill>
                  <a:srgbClr val="7F8C8D"/>
                </a:solidFill>
                <a:latin typeface="Consolas"/>
              </a:rPr>
              <a:t>sin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 reset_ball(), after position reset: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define ANGLE_MIN and ANGLE_MAX constants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pick a random angle with randf_range()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x speed using cos(deg_to_rad())</a:t>
            </a:r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