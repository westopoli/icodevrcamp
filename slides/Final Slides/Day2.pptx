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90" r:id="rId32"/>
    <p:sldId id="291" r:id="rId33"/>
    <p:sldId id="292" r:id="rId34"/>
    <p:sldId id="293" r:id="rId35"/>
    <p:sldId id="295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7" r:id="rId46"/>
    <p:sldId id="306" r:id="rId47"/>
    <p:sldId id="308" r:id="rId48"/>
    <p:sldId id="309" r:id="rId49"/>
    <p:sldId id="310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2" r:id="rId60"/>
    <p:sldId id="325" r:id="rId61"/>
    <p:sldId id="321" r:id="rId62"/>
    <p:sldId id="323" r:id="rId63"/>
    <p:sldId id="324" r:id="rId64"/>
    <p:sldId id="326" r:id="rId65"/>
    <p:sldId id="327" r:id="rId66"/>
    <p:sldId id="328" r:id="rId67"/>
    <p:sldId id="329" r:id="rId68"/>
    <p:sldId id="331" r:id="rId69"/>
    <p:sldId id="332" r:id="rId70"/>
    <p:sldId id="333" r:id="rId71"/>
    <p:sldId id="334" r:id="rId72"/>
    <p:sldId id="335" r:id="rId73"/>
    <p:sldId id="336" r:id="rId74"/>
    <p:sldId id="337" r:id="rId75"/>
    <p:sldId id="338" r:id="rId76"/>
    <p:sldId id="339" r:id="rId77"/>
    <p:sldId id="340" r:id="rId78"/>
    <p:sldId id="342" r:id="rId79"/>
    <p:sldId id="345" r:id="rId80"/>
    <p:sldId id="343" r:id="rId81"/>
    <p:sldId id="344" r:id="rId82"/>
    <p:sldId id="346" r:id="rId83"/>
    <p:sldId id="354" r:id="rId84"/>
    <p:sldId id="355" r:id="rId8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992D04-1500-3D67-91D7-9AC946635609}"/>
              </a:ext>
            </a:extLst>
          </p:cNvPr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dirty="0">
                <a:solidFill>
                  <a:srgbClr val="8A8A8A"/>
                </a:solidFill>
                <a:latin typeface="Poppins"/>
              </a:rPr>
              <a:t>Whomp whomp </a:t>
            </a:r>
            <a:r>
              <a:rPr lang="en-US" sz="2400" dirty="0" err="1">
                <a:solidFill>
                  <a:srgbClr val="8A8A8A"/>
                </a:solidFill>
                <a:latin typeface="Poppins"/>
              </a:rPr>
              <a:t>pacman</a:t>
            </a:r>
            <a:r>
              <a:rPr lang="en-US" sz="2400" dirty="0">
                <a:solidFill>
                  <a:srgbClr val="8A8A8A"/>
                </a:solidFill>
                <a:latin typeface="Poppins"/>
              </a:rPr>
              <a:t> chomp</a:t>
            </a:r>
            <a:endParaRPr sz="2400" b="0" i="0" dirty="0">
              <a:solidFill>
                <a:srgbClr val="8A8A8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2756684"/>
            <a:ext cx="4236598" cy="193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Dots to </a:t>
            </a:r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eat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Ghosts to dodge. A tunnel that wraps. Every visible thing on screen is a tile painted on a grid — and the code you'll write moves the player and spawns the ghosts.</a:t>
            </a:r>
          </a:p>
        </p:txBody>
      </p:sp>
      <p:pic>
        <p:nvPicPr>
          <p:cNvPr id="11" name="Picture 10" descr="A video game with a black background&#10;&#10;AI-generated content may be incorrect.">
            <a:extLst>
              <a:ext uri="{FF2B5EF4-FFF2-40B4-BE49-F238E27FC236}">
                <a16:creationId xmlns:a16="http://schemas.microsoft.com/office/drawing/2014/main" id="{EB949686-51AB-D3AD-483D-7967ACE7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755" y="1019466"/>
            <a:ext cx="5105412" cy="57013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 (Space Invaders, Asteroids).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that had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its own AI brain.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intermissions between levels).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"arcade = boys only"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 wave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lunchboxes, a cartoon, a hit song ("Pac-Man Fever").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Bottom line: 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Objects (preview)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 (spawn 3 ghosts, move every ghost, scan 868 tiles).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 dirty="0">
                <a:solidFill>
                  <a:srgbClr val="1A1A1A"/>
                </a:solidFill>
                <a:latin typeface="Poppins"/>
              </a:rPr>
              <a:t>Open the Day 2 Maze </a:t>
            </a:r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Template</a:t>
            </a:r>
            <a:endParaRPr sz="5400" b="1" i="0" dirty="0">
              <a:solidFill>
                <a:srgbClr val="1A1A1A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Day2_Maze_Game/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project.godot</a:t>
            </a:r>
            <a:endParaRPr sz="2000" b="0" i="0" dirty="0">
              <a:solidFill>
                <a:srgbClr val="1A1A1A"/>
              </a:solidFill>
              <a:latin typeface="Consolas"/>
            </a:endParaRP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 dirty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 dirty="0" err="1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 dirty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file that chops the Kenney atlas PNG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scene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Think: TileSet = the box of crayons. TileMapLayer = the coloring page.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layers use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same 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palette. Two painted canvases, one box of crayons.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chunk #6 call: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wall_layer.get_cell_source_id(cell)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tile ID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empty.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D2TileSet2.png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3372237"/>
            <a:ext cx="4236598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000" b="0" i="0" dirty="0" err="1">
                <a:solidFill>
                  <a:srgbClr val="1A1A1A"/>
                </a:solidFill>
                <a:latin typeface="Poppins"/>
              </a:rPr>
              <a:t>Doube</a:t>
            </a:r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 click the </a:t>
            </a:r>
            <a:r>
              <a:rPr lang="en-US" sz="2000" b="1" i="0" dirty="0" err="1">
                <a:solidFill>
                  <a:srgbClr val="1A1A1A"/>
                </a:solidFill>
                <a:latin typeface="Poppins"/>
              </a:rPr>
              <a:t>PacmanTileSet.tres</a:t>
            </a:r>
            <a:r>
              <a:rPr lang="en-US" sz="2000" b="1" i="0" dirty="0">
                <a:solidFill>
                  <a:srgbClr val="1A1A1A"/>
                </a:solidFill>
                <a:latin typeface="Poppins"/>
              </a:rPr>
              <a:t> </a:t>
            </a:r>
            <a:r>
              <a:rPr lang="en-US" sz="2000" i="0" dirty="0">
                <a:solidFill>
                  <a:srgbClr val="1A1A1A"/>
                </a:solidFill>
                <a:latin typeface="Poppins"/>
              </a:rPr>
              <a:t>file</a:t>
            </a:r>
            <a:endParaRPr sz="2000" b="1" i="0" dirty="0">
              <a:solidFill>
                <a:srgbClr val="1A1A1A"/>
              </a:solidFill>
              <a:latin typeface="Poppins"/>
            </a:endParaRP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521972-F607-F6EC-29BB-29211074E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755" y="642620"/>
            <a:ext cx="5168900" cy="58039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T.3 — TileSet panel at the bottom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panel appears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bottom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Left side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Sources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one source: the Kenney atlas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tilemap_packed.png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T.4 — Click the source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source row in the Sources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atlas appears on the right,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chopped into 16×16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tile has an ID — that's what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your one TileSet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Returns the tile's source ID, or -1 if no tile is painted there.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id = wall_layer.get_cell_source_id(cell)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id == -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"open floor"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T.6 — Back to the 2D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2D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You've seen the full TileSet pipeline. Now you know what the grid is made 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 in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stairs to climb.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Rule: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`range(N)` gives you N stairs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loop handles the rest.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 Copy-paste.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94930F4-9F91-98C1-4428-4BE9BB2CE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09" y="1445224"/>
            <a:ext cx="7269388" cy="456191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three ghosts in the pen — but write the spawn call only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 in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19DAD4A-EB86-D6DB-99EE-B18BF092C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366" y="3019245"/>
            <a:ext cx="5752768" cy="36101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86077"/>
            <a:ext cx="11277295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If your </a:t>
            </a:r>
            <a:r>
              <a:rPr lang="en-US" sz="5400" b="1" dirty="0">
                <a:solidFill>
                  <a:srgbClr val="1A1A1A"/>
                </a:solidFill>
                <a:latin typeface="Poppins"/>
              </a:rPr>
              <a:t>g</a:t>
            </a:r>
            <a:r>
              <a:rPr sz="5400" b="1" i="0" dirty="0">
                <a:solidFill>
                  <a:srgbClr val="1A1A1A"/>
                </a:solidFill>
                <a:latin typeface="Poppins"/>
              </a:rPr>
              <a:t>ame didn't open</a:t>
            </a:r>
            <a:r>
              <a:rPr lang="en-US" sz="5400" b="1" dirty="0">
                <a:solidFill>
                  <a:srgbClr val="1A1A1A"/>
                </a:solidFill>
                <a:latin typeface="Poppins"/>
              </a:rPr>
              <a:t>, w</a:t>
            </a:r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hat does the error say?</a:t>
            </a:r>
            <a:endParaRPr sz="5400" b="1" i="0" dirty="0">
              <a:solidFill>
                <a:srgbClr val="1A1A1A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7A1150-F624-1465-4FB1-807433BC693A}"/>
              </a:ext>
            </a:extLst>
          </p:cNvPr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b="0" i="0" dirty="0">
                <a:solidFill>
                  <a:srgbClr val="8A8A8A"/>
                </a:solidFill>
                <a:latin typeface="Poppins"/>
              </a:rPr>
              <a:t>Error locations are always given as the line number (line 22)</a:t>
            </a:r>
            <a:endParaRPr sz="2400" b="0" i="0" dirty="0">
              <a:solidFill>
                <a:srgbClr val="8A8A8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to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wrote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write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Each frame, walk through all the ghosts and move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colour in [</a:t>
            </a:r>
            <a:r>
              <a:rPr sz="1800">
                <a:solidFill>
                  <a:srgbClr val="CE9178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"green"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CE9178"/>
                </a:solidFill>
                <a:latin typeface="Consolas"/>
              </a:rPr>
              <a:t>"blue"</a:t>
            </a:r>
            <a:r>
              <a:rPr sz="1800">
                <a:solidFill>
                  <a:srgbClr val="E6E6E6"/>
                </a:solidFill>
                <a:latin typeface="Consolas"/>
              </a:rPr>
              <a:t>]: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(colour)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D2C2.png ]</a:t>
            </a:r>
          </a:p>
        </p:txBody>
      </p:sp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FCBFAD-BF79-E7AD-82C7-72648DB8B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75841"/>
            <a:ext cx="5958993" cy="255807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86077"/>
            <a:ext cx="11277295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 dirty="0">
                <a:solidFill>
                  <a:srgbClr val="1A1A1A"/>
                </a:solidFill>
                <a:latin typeface="Poppins"/>
              </a:rPr>
              <a:t>Loops have a cousin</a:t>
            </a:r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 named</a:t>
            </a:r>
            <a:r>
              <a:rPr sz="5400" b="1" i="0" dirty="0">
                <a:solidFill>
                  <a:srgbClr val="1A1A1A"/>
                </a:solidFill>
                <a:latin typeface="Poppins"/>
              </a:rPr>
              <a:t> </a:t>
            </a:r>
            <a:r>
              <a:rPr sz="5400" b="1" i="0" dirty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n := 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while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n &lt; 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5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</a:t>
            </a:r>
            <a:r>
              <a:rPr sz="1800" dirty="0">
                <a:solidFill>
                  <a:srgbClr val="DCDCAA"/>
                </a:solidFill>
                <a:latin typeface="Consolas"/>
              </a:rPr>
              <a:t>print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n += </a:t>
            </a:r>
            <a:r>
              <a:rPr sz="1800" dirty="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>
                <a:solidFill>
                  <a:srgbClr val="6A9955"/>
                </a:solidFill>
                <a:latin typeface="Consolas"/>
              </a:rPr>
              <a:t># prints: 0  1  2  3  4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lang="en-US" sz="3600" b="1" dirty="0">
                <a:solidFill>
                  <a:srgbClr val="1A1A1A"/>
                </a:solidFill>
                <a:latin typeface="Poppins"/>
              </a:rPr>
              <a:t>n get printed</a:t>
            </a:r>
            <a:r>
              <a:rPr sz="3600" b="1" i="0" dirty="0">
                <a:solidFill>
                  <a:srgbClr val="1A1A1A"/>
                </a:solidFill>
                <a:latin typeface="Poppins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&gt;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-=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Anything where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 know the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advance.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Neither loop knows the tile count in advance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1302" y="3429000"/>
            <a:ext cx="3671753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count_dots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()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66AA64D-B6FC-E893-37FE-D2E1D8DF2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6" y="2983078"/>
            <a:ext cx="7666074" cy="193433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Get the dot total from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store it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dots_remaining = count_dots()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43F189C-8E5D-F3FD-1691-0D61E2D52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124" y="3951200"/>
            <a:ext cx="5826642" cy="147020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943A242-A944-8875-92DD-6F3AD210A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04" y="1662878"/>
            <a:ext cx="7315200" cy="441002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Scan the whole maze with a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loop. Count the dots.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n &lt;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n +=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E376924-51F1-E4A1-1092-BD02EF20E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7" y="3007913"/>
            <a:ext cx="5795625" cy="349393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let you through (or keep you out).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say_hi():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"hi!"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say_hi()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say_hi()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makes dough → adds tomato → adds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once. Call from many places. No copy-paste.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player, we need to: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a function called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every time a ghost catches the player.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main.gd:153-160. You'll write the contents.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434E3B0-FCC8-4131-ED6D-7752B530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7" y="1474010"/>
            <a:ext cx="7076862" cy="4504339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the player back to the starting 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say_hi():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"hi!"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553A629-D537-F567-874B-1189CF438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414" y="2985821"/>
            <a:ext cx="5652672" cy="3597859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large."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small."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add_points(amount):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add_points(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add_points(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4 times a second with whatever key is pressed.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505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2910572"/>
            <a:ext cx="4236598" cy="1631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move_player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(direction)</a:t>
            </a:r>
            <a:endParaRPr lang="en-US" sz="2000" dirty="0">
              <a:solidFill>
                <a:srgbClr val="1A1A1A"/>
              </a:solidFill>
              <a:latin typeface="Poppins"/>
            </a:endParaRPr>
          </a:p>
          <a:p>
            <a:pPr algn="l"/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in the signature is today's lesson — that's the parameter.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537DB11-B473-0878-9877-1A59F4985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97" y="2241405"/>
            <a:ext cx="7040392" cy="296955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Move the player one tile in the direction they pressed — but only if a wall isn't in the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569CD6"/>
                </a:solidFill>
                <a:latin typeface="Consolas"/>
              </a:rPr>
              <a:t>func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(amount):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    </a:t>
            </a:r>
            <a:r>
              <a:rPr lang="en-US" sz="1800" dirty="0">
                <a:solidFill>
                  <a:srgbClr val="E6E6E6"/>
                </a:solidFill>
                <a:latin typeface="Consolas"/>
              </a:rPr>
              <a:t>if(amount &gt; minimum)</a:t>
            </a:r>
          </a:p>
          <a:p>
            <a:pPr algn="l"/>
            <a:r>
              <a:rPr lang="en-US" dirty="0">
                <a:solidFill>
                  <a:srgbClr val="E6E6E6"/>
                </a:solidFill>
                <a:latin typeface="Consolas"/>
              </a:rPr>
              <a:t>		total += amount;</a:t>
            </a:r>
            <a:endParaRPr sz="1800" dirty="0">
              <a:solidFill>
                <a:srgbClr val="E6E6E6"/>
              </a:solidFill>
              <a:latin typeface="Consolas"/>
            </a:endParaRP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3B2B331-48A7-B112-3A21-591E5AC2D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653" y="3487910"/>
            <a:ext cx="6088831" cy="2568193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moves the player.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slides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has a name: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"here's your answer."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use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y = double(5)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double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10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10.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double(n) -&gt; int: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double(n) -&gt; </a:t>
            </a:r>
            <a:r>
              <a:rPr sz="1800">
                <a:solidFill>
                  <a:srgbClr val="DCDCAA"/>
                </a:solidFill>
                <a:latin typeface="Consolas"/>
              </a:rPr>
              <a:t>int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n *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y = double(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y =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z = double(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   </a:t>
            </a:r>
            <a:r>
              <a:rPr sz="1800">
                <a:solidFill>
                  <a:srgbClr val="6A9955"/>
                </a:solidFill>
                <a:latin typeface="Consolas"/>
              </a:rPr>
              <a:t># z = 6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"yes this is a wall" or "no it isn't."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 version: you say "margherita",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version: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margherita("large")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there a wall at this cell?"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player still alive?"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enemy close enough to shoot?"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yes/no check in a game is a bool-returning function.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"is the next tile a wall?"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One question. One yes/no answer.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main.gd:201-204. Off-grid + tunnel guards are pre-given. You write only the in-grid wall query.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37413B-6FF5-0EA8-5AA7-9BF677B2D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14" y="1669811"/>
            <a:ext cx="7234124" cy="4326952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cell, hand back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blocked,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open. </a:t>
            </a:r>
            <a:r>
              <a:rPr sz="2000" b="1" i="1">
                <a:solidFill>
                  <a:srgbClr val="1A1A1A"/>
                </a:solidFill>
                <a:latin typeface="Poppins"/>
              </a:rPr>
              <a:t>(off-grid + tunnel pre-given)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is_even(n) -&gt;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n %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==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C538E45-EE7D-704A-DE67-EDE3083EE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2945496"/>
            <a:ext cx="6050128" cy="3618768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16535C-275F-2CC2-D4C7-AC7E83051DAC}"/>
              </a:ext>
            </a:extLst>
          </p:cNvPr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b="0" i="0" dirty="0">
                <a:solidFill>
                  <a:srgbClr val="8A8A8A"/>
                </a:solidFill>
                <a:latin typeface="Poppins"/>
              </a:rPr>
              <a:t>OG Pacman has each ghost having it’s own </a:t>
            </a:r>
            <a:r>
              <a:rPr lang="en-US" sz="2400" b="1" i="0" dirty="0">
                <a:solidFill>
                  <a:srgbClr val="8A8A8A"/>
                </a:solidFill>
                <a:latin typeface="Poppins"/>
              </a:rPr>
              <a:t>personality</a:t>
            </a:r>
            <a:endParaRPr sz="2400" b="1" i="0" dirty="0">
              <a:solidFill>
                <a:srgbClr val="8A8A8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1CE40-9544-1AF4-EE8D-AA0D2DE01586}"/>
              </a:ext>
            </a:extLst>
          </p:cNvPr>
          <p:cNvSpPr txBox="1"/>
          <p:nvPr/>
        </p:nvSpPr>
        <p:spPr>
          <a:xfrm>
            <a:off x="457200" y="2148840"/>
            <a:ext cx="1127729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Each ghost actually has it’s own personality (algorithm)</a:t>
            </a:r>
          </a:p>
          <a:p>
            <a:pPr algn="l">
              <a:spcAft>
                <a:spcPts val="800"/>
              </a:spcAft>
            </a:pPr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marL="342900" indent="-34290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Blinky (Red) – Heads straight for the player no matter what</a:t>
            </a:r>
          </a:p>
          <a:p>
            <a:pPr marL="342900" indent="-34290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Pinky (Pink) – Aims 4 tiles ahead of the player to ambush</a:t>
            </a:r>
          </a:p>
          <a:p>
            <a:pPr marL="342900" indent="-34290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Inky (Cyan) – Uses Blink’s position to flank from the opposite side</a:t>
            </a:r>
          </a:p>
          <a:p>
            <a:pPr marL="342900" indent="-342900" algn="l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Clyde (Orange) – Chases when far, scatters to corner when close</a:t>
            </a:r>
          </a:p>
          <a:p>
            <a:pPr marL="342900" indent="-342900" algn="l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1A1A1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mirrors a chunk you wrote this morning. If you get stuck, scroll up to that chunk in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and copy the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shape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(not the words).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for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i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 in range(N)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loop + count + return)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with a parameter)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returning a bool)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D2FC3.png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Replace 3 identical ghosts with 4 authentic Pac-Man personalities — Blinky, Pinky, Inky, Clyde. Each one targets the player differently.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9D885B-E8F5-0ED4-EE89-FF9C9EBDC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14" y="1716405"/>
            <a:ext cx="7242347" cy="388239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202" y="54864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final_challenge.gd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FC_ENABLED := 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near the top.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DD659F-13D8-38F3-C069-430710AC0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14" y="1716405"/>
            <a:ext cx="7242347" cy="388239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61DA51-E13C-E3D3-A970-241ABFC1F719}"/>
              </a:ext>
            </a:extLst>
          </p:cNvPr>
          <p:cNvSpPr txBox="1"/>
          <p:nvPr/>
        </p:nvSpPr>
        <p:spPr>
          <a:xfrm>
            <a:off x="7498202" y="202819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Edit the line to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const FC_ENABLED := true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Save with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The personality mode is now live.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"/>
            <a:ext cx="68580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oppins"/>
              </a:rPr>
              <a:t>Final Challenge — Board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1033272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FC-1  </a:t>
            </a:r>
            <a:r>
              <a:rPr sz="1200" b="0">
                <a:solidFill>
                  <a:srgbClr val="FFFFFF"/>
                </a:solidFill>
                <a:latin typeface="Poppins"/>
              </a:rPr>
              <a:t>for i in range(N)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1499616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for</a:t>
            </a:r>
            <a:r>
              <a:rPr sz="1400">
                <a:solidFill>
                  <a:srgbClr val="E6E6E6"/>
                </a:solidFill>
                <a:latin typeface="Consolas"/>
              </a:rPr>
              <a:t> i </a:t>
            </a:r>
            <a:r>
              <a:rPr sz="1400">
                <a:solidFill>
                  <a:srgbClr val="569CD6"/>
                </a:solidFill>
                <a:latin typeface="Consolas"/>
              </a:rPr>
              <a:t>in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range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B5CEA8"/>
                </a:solidFill>
                <a:latin typeface="Consolas"/>
              </a:rPr>
              <a:t>3</a:t>
            </a:r>
            <a:r>
              <a:rPr sz="1400">
                <a:solidFill>
                  <a:srgbClr val="E6E6E6"/>
                </a:solidFill>
                <a:latin typeface="Consolas"/>
              </a:rPr>
              <a:t>):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1538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1538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2122" y="1033272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FC-2  </a:t>
            </a:r>
            <a:r>
              <a:rPr sz="1200" b="0">
                <a:solidFill>
                  <a:srgbClr val="FFFFFF"/>
                </a:solidFill>
                <a:latin typeface="Poppins"/>
              </a:rPr>
              <a:t>for item in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1499616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for</a:t>
            </a:r>
            <a:r>
              <a:rPr sz="1400">
                <a:solidFill>
                  <a:srgbClr val="E6E6E6"/>
                </a:solidFill>
                <a:latin typeface="Consolas"/>
              </a:rPr>
              <a:t> colour </a:t>
            </a:r>
            <a:r>
              <a:rPr sz="1400">
                <a:solidFill>
                  <a:srgbClr val="569CD6"/>
                </a:solidFill>
                <a:latin typeface="Consolas"/>
              </a:rPr>
              <a:t>in</a:t>
            </a:r>
            <a:r>
              <a:rPr sz="1400">
                <a:solidFill>
                  <a:srgbClr val="E6E6E6"/>
                </a:solidFill>
                <a:latin typeface="Consolas"/>
              </a:rPr>
              <a:t> [</a:t>
            </a:r>
            <a:r>
              <a:rPr sz="1400">
                <a:solidFill>
                  <a:srgbClr val="CE9178"/>
                </a:solidFill>
                <a:latin typeface="Consolas"/>
              </a:rPr>
              <a:t>"red"</a:t>
            </a:r>
            <a:r>
              <a:rPr sz="1400">
                <a:solidFill>
                  <a:srgbClr val="E6E6E6"/>
                </a:solidFill>
                <a:latin typeface="Consolas"/>
              </a:rPr>
              <a:t>, </a:t>
            </a:r>
            <a:r>
              <a:rPr sz="1400">
                <a:solidFill>
                  <a:srgbClr val="CE9178"/>
                </a:solidFill>
                <a:latin typeface="Consolas"/>
              </a:rPr>
              <a:t>"green"</a:t>
            </a:r>
            <a:r>
              <a:rPr sz="1400">
                <a:solidFill>
                  <a:srgbClr val="E6E6E6"/>
                </a:solidFill>
                <a:latin typeface="Consolas"/>
              </a:rPr>
              <a:t>, </a:t>
            </a:r>
            <a:r>
              <a:rPr sz="1400">
                <a:solidFill>
                  <a:srgbClr val="CE9178"/>
                </a:solidFill>
                <a:latin typeface="Consolas"/>
              </a:rPr>
              <a:t>"blue"</a:t>
            </a:r>
            <a:r>
              <a:rPr sz="1400">
                <a:solidFill>
                  <a:srgbClr val="E6E6E6"/>
                </a:solidFill>
                <a:latin typeface="Consolas"/>
              </a:rPr>
              <a:t>]: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(colour)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43036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3620" y="1033272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FC-3  </a:t>
            </a:r>
            <a:r>
              <a:rPr sz="1200" b="0">
                <a:solidFill>
                  <a:srgbClr val="FFFFFF"/>
                </a:solidFill>
                <a:latin typeface="Poppins"/>
              </a:rPr>
              <a:t>while + count + 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499616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var</a:t>
            </a:r>
            <a:r>
              <a:rPr sz="1400">
                <a:solidFill>
                  <a:srgbClr val="E6E6E6"/>
                </a:solidFill>
                <a:latin typeface="Consolas"/>
              </a:rPr>
              <a:t> n := </a:t>
            </a:r>
            <a:r>
              <a:rPr sz="1400">
                <a:solidFill>
                  <a:srgbClr val="B5CEA8"/>
                </a:solidFill>
                <a:latin typeface="Consolas"/>
              </a:rPr>
              <a:t>0</a:t>
            </a:r>
          </a:p>
          <a:p>
            <a:r>
              <a:rPr sz="1400">
                <a:solidFill>
                  <a:srgbClr val="C586C0"/>
                </a:solidFill>
                <a:latin typeface="Consolas"/>
              </a:rPr>
              <a:t>while</a:t>
            </a:r>
            <a:r>
              <a:rPr sz="1400">
                <a:solidFill>
                  <a:srgbClr val="E6E6E6"/>
                </a:solidFill>
                <a:latin typeface="Consolas"/>
              </a:rPr>
              <a:t> n &lt; </a:t>
            </a:r>
            <a:r>
              <a:rPr sz="1400">
                <a:solidFill>
                  <a:srgbClr val="B5CEA8"/>
                </a:solidFill>
                <a:latin typeface="Consolas"/>
              </a:rPr>
              <a:t>5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(n)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n += </a:t>
            </a:r>
            <a:r>
              <a:rPr sz="1400">
                <a:solidFill>
                  <a:srgbClr val="B5CEA8"/>
                </a:solidFill>
                <a:latin typeface="Consolas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0040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0624" y="3954780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FC-4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func, no params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" y="4421124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say_hi</a:t>
            </a:r>
            <a:r>
              <a:rPr sz="1400">
                <a:solidFill>
                  <a:srgbClr val="E6E6E6"/>
                </a:solidFill>
                <a:latin typeface="Consolas"/>
              </a:rPr>
              <a:t>():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"hi!"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1538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31538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32122" y="3954780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FC-5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 with a parameter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2122" y="4421124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add_points</a:t>
            </a:r>
            <a:r>
              <a:rPr sz="1400">
                <a:solidFill>
                  <a:srgbClr val="E6E6E6"/>
                </a:solidFill>
                <a:latin typeface="Consolas"/>
              </a:rPr>
              <a:t>(amount):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score += amount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3036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43036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43620" y="3954780"/>
            <a:ext cx="3527450" cy="36576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FC-6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 returning bool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3620" y="4421124"/>
            <a:ext cx="3527450" cy="21717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is_even</a:t>
            </a:r>
            <a:r>
              <a:rPr sz="1400">
                <a:solidFill>
                  <a:srgbClr val="E6E6E6"/>
                </a:solidFill>
                <a:latin typeface="Consolas"/>
              </a:rPr>
              <a:t>(n) -&gt; </a:t>
            </a:r>
            <a:r>
              <a:rPr sz="1400">
                <a:solidFill>
                  <a:srgbClr val="4EC9B0"/>
                </a:solidFill>
                <a:latin typeface="Consolas"/>
              </a:rPr>
              <a:t>bool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569CD6"/>
                </a:solidFill>
                <a:latin typeface="Consolas"/>
              </a:rPr>
              <a:t>return</a:t>
            </a:r>
            <a:r>
              <a:rPr sz="1400">
                <a:solidFill>
                  <a:srgbClr val="E6E6E6"/>
                </a:solidFill>
                <a:latin typeface="Consolas"/>
              </a:rPr>
              <a:t> n % </a:t>
            </a:r>
            <a:r>
              <a:rPr sz="1400">
                <a:solidFill>
                  <a:srgbClr val="B5CEA8"/>
                </a:solidFill>
                <a:latin typeface="Consolas"/>
              </a:rPr>
              <a:t>2</a:t>
            </a:r>
            <a:r>
              <a:rPr sz="1400">
                <a:solidFill>
                  <a:srgbClr val="E6E6E6"/>
                </a:solidFill>
                <a:latin typeface="Consolas"/>
              </a:rPr>
              <a:t> == </a:t>
            </a:r>
            <a:r>
              <a:rPr sz="140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41AEB-F8B2-F1CA-47DE-84CDF2B82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3DE708-0A88-C00D-A813-90307E1A6AA3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>
            <a:extLst>
              <a:ext uri="{FF2B5EF4-FFF2-40B4-BE49-F238E27FC236}">
                <a16:creationId xmlns:a16="http://schemas.microsoft.com/office/drawing/2014/main" id="{209AF45B-E24F-6E25-E46F-F86C34661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7A89FA-DB57-70E1-B128-1062B444B2D2}"/>
              </a:ext>
            </a:extLst>
          </p:cNvPr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DB7AA9-861F-3F35-DD5D-1EAEBBF5BC80}"/>
              </a:ext>
            </a:extLst>
          </p:cNvPr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6A36ED-44EB-33CB-2DCB-847B659DDEB3}"/>
              </a:ext>
            </a:extLst>
          </p:cNvPr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F3F1A-4AE0-4EEE-E109-7F7D0E3AE6F8}"/>
              </a:ext>
            </a:extLst>
          </p:cNvPr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0416B-518E-C69F-0D69-579C496F4FF4}"/>
              </a:ext>
            </a:extLst>
          </p:cNvPr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Well done </a:t>
            </a:r>
            <a:r>
              <a:rPr lang="en-US" sz="5400" b="1" i="0" dirty="0" err="1">
                <a:solidFill>
                  <a:srgbClr val="1A1A1A"/>
                </a:solidFill>
                <a:latin typeface="Poppins"/>
              </a:rPr>
              <a:t>broskis</a:t>
            </a:r>
            <a:endParaRPr sz="5400" b="1" i="0" dirty="0">
              <a:solidFill>
                <a:srgbClr val="1A1A1A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C92E9-2901-EFC8-B66B-72775B871F02}"/>
              </a:ext>
            </a:extLst>
          </p:cNvPr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b="0" i="0" dirty="0">
                <a:solidFill>
                  <a:srgbClr val="8A8A8A"/>
                </a:solidFill>
                <a:latin typeface="Poppins"/>
              </a:rPr>
              <a:t>See </a:t>
            </a:r>
            <a:r>
              <a:rPr lang="en-US" sz="2400" b="0" i="0">
                <a:solidFill>
                  <a:srgbClr val="8A8A8A"/>
                </a:solidFill>
                <a:latin typeface="Poppins"/>
              </a:rPr>
              <a:t>you tomorrow</a:t>
            </a:r>
            <a:endParaRPr sz="2400" b="0" i="0" dirty="0">
              <a:solidFill>
                <a:srgbClr val="8A8A8A"/>
              </a:solidFill>
              <a:latin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107046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1158</TotalTime>
  <Words>4311</Words>
  <Application>Microsoft Macintosh PowerPoint</Application>
  <PresentationFormat>Widescreen</PresentationFormat>
  <Paragraphs>689</Paragraphs>
  <Slides>84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9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Westley Yarlott</cp:lastModifiedBy>
  <cp:revision>86</cp:revision>
  <dcterms:created xsi:type="dcterms:W3CDTF">2013-01-27T09:14:16Z</dcterms:created>
  <dcterms:modified xsi:type="dcterms:W3CDTF">2026-06-13T12:29:44Z</dcterms:modified>
  <cp:category/>
</cp:coreProperties>
</file>