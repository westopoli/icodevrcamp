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</p:sldIdLst>
  <p:sldSz cy="5143500" cx="9144000"/>
  <p:notesSz cx="6858000" cy="9144000"/>
  <p:embeddedFontLst>
    <p:embeddedFont>
      <p:font typeface="Poppins"/>
      <p:regular r:id="rId90"/>
      <p:bold r:id="rId91"/>
      <p:italic r:id="rId92"/>
      <p:boldItalic r:id="rId9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42" Type="http://schemas.openxmlformats.org/officeDocument/2006/relationships/slide" Target="slides/slide37.xml"/><Relationship Id="rId86" Type="http://schemas.openxmlformats.org/officeDocument/2006/relationships/slide" Target="slides/slide81.xml"/><Relationship Id="rId41" Type="http://schemas.openxmlformats.org/officeDocument/2006/relationships/slide" Target="slides/slide36.xml"/><Relationship Id="rId85" Type="http://schemas.openxmlformats.org/officeDocument/2006/relationships/slide" Target="slides/slide80.xml"/><Relationship Id="rId44" Type="http://schemas.openxmlformats.org/officeDocument/2006/relationships/slide" Target="slides/slide39.xml"/><Relationship Id="rId88" Type="http://schemas.openxmlformats.org/officeDocument/2006/relationships/slide" Target="slides/slide83.xml"/><Relationship Id="rId43" Type="http://schemas.openxmlformats.org/officeDocument/2006/relationships/slide" Target="slides/slide38.xml"/><Relationship Id="rId87" Type="http://schemas.openxmlformats.org/officeDocument/2006/relationships/slide" Target="slides/slide8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91" Type="http://schemas.openxmlformats.org/officeDocument/2006/relationships/font" Target="fonts/Poppins-bold.fntdata"/><Relationship Id="rId90" Type="http://schemas.openxmlformats.org/officeDocument/2006/relationships/font" Target="fonts/Poppins-regular.fntdata"/><Relationship Id="rId93" Type="http://schemas.openxmlformats.org/officeDocument/2006/relationships/font" Target="fonts/Poppins-boldItalic.fntdata"/><Relationship Id="rId92" Type="http://schemas.openxmlformats.org/officeDocument/2006/relationships/font" Target="fonts/Poppins-italic.fntdata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c5b209fb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ec5b209fb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c5b209fb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ec5b209fb3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c5b209fb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ec5b209fb3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c5b209fb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ec5b209fb3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c5b209fb3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ec5b209fb3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c5b209fb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ec5b209fb3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c5b209fb3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ec5b209fb3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c5b209fb3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ec5b209fb3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c5b209fb3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ec5b209fb3_0_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c5b209fb3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ec5b209fb3_0_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c5b209fb3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ec5b209fb3_0_1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c5b209fb3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ec5b209fb3_0_1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c5b209fb3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ec5b209fb3_0_1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ec5b209fb3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ec5b209fb3_0_1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ec5b209fb3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ec5b209fb3_0_1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ec5b209fb3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ec5b209fb3_0_1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ec5b209fb3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ec5b209fb3_0_1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ec5b209fb3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ec5b209fb3_0_1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ec5b209fb3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ec5b209fb3_0_1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ec5b209fb3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ec5b209fb3_0_2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ec5b209fb3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ec5b209fb3_0_2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ec5b209fb3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ec5b209fb3_0_2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ec5b209fb3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ec5b209fb3_0_2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ec5b209fb3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ec5b209fb3_0_2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ec5b209fb3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ec5b209fb3_0_2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ec5b209fb3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3ec5b209fb3_0_2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ec5b209fb3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3ec5b209fb3_0_2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ec5b209fb3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3ec5b209fb3_0_2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ec5b209fb3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g3ec5b209fb3_0_3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ec5b209fb3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g3ec5b209fb3_0_3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ec5b209fb3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ec5b209fb3_0_3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ec5b209fb3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g3ec5b209fb3_0_3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ec5b209fb3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g3ec5b209fb3_0_3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ec5b209fb3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g3ec5b209fb3_0_3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ec5b209fb3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g3ec5b209fb3_0_3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ec5b209fb3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g3ec5b209fb3_0_3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ec5b209fb3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g3ec5b209fb3_0_4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ec5b209fb3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g3ec5b209fb3_0_4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ec5b209fb3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g3ec5b209fb3_0_4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ec5b209fb3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g3ec5b209fb3_0_4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ec5b209fb3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g3ec5b209fb3_0_4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ec5b209fb3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g3ec5b209fb3_0_4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ec5b209fb3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g3ec5b209fb3_0_4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ec5b209fb3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g3ec5b209fb3_0_4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ec5b209fb3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g3ec5b209fb3_0_4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ec5b209fb3_0_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g3ec5b209fb3_0_5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ec5b209fb3_0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g3ec5b209fb3_0_5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ec5b209fb3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g3ec5b209fb3_0_5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ec5b209fb3_0_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g3ec5b209fb3_0_5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ec5b209fb3_0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g3ec5b209fb3_0_5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ec5b209fb3_0_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g3ec5b209fb3_0_5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ec5b209fb3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g3ec5b209fb3_0_5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ec5b209fb3_0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g3ec5b209fb3_0_5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ec5b209fb3_0_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g3ec5b209fb3_0_5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ec5b209fb3_0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g3ec5b209fb3_0_6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ec5b209fb3_0_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g3ec5b209fb3_0_6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3ec5b209fb3_0_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g3ec5b209fb3_0_6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ec5b209fb3_0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g3ec5b209fb3_0_6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ec5b209fb3_0_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g3ec5b209fb3_0_6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ec5b209fb3_0_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g3ec5b209fb3_0_6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ec5b209fb3_0_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g3ec5b209fb3_0_6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ec5b209fb3_0_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g3ec5b209fb3_0_6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ec5b209fb3_0_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g3ec5b209fb3_0_7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3ec5b209fb3_0_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g3ec5b209fb3_0_7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3ec5b209fb3_0_7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g3ec5b209fb3_0_7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ec5b209fb3_0_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g3ec5b209fb3_0_7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ec5b209fb3_0_7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g3ec5b209fb3_0_7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3ec5b209fb3_0_7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g3ec5b209fb3_0_7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3ec5b209fb3_0_7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g3ec5b209fb3_0_7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3ec5b209fb3_0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g3ec5b209fb3_0_7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3ec5b209fb3_0_7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g3ec5b209fb3_0_7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3ec5b209fb3_0_8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g3ec5b209fb3_0_8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3ec5b209fb3_0_8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g3ec5b209fb3_0_8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3ec5b209fb3_0_8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g3ec5b209fb3_0_8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3ec5b209fb3_0_8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g3ec5b209fb3_0_8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3ec5b209fb3_0_8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g3ec5b209fb3_0_8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3ec5b209fb3_0_8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g3ec5b209fb3_0_8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3ec5b209fb3_0_8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g3ec5b209fb3_0_8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3ec5b209fb3_0_8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g3ec5b209fb3_0_8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3ec5b209fb3_0_8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g3ec5b209fb3_0_8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3ec5b209fb3_0_9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g3ec5b209fb3_0_9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3ec5b209fb3_0_9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g3ec5b209fb3_0_9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3ec5b209fb3_0_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g3ec5b209fb3_0_9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3ec5b209fb3_0_9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g3ec5b209fb3_0_9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55" name="Google Shape;5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57" name="Google Shape;57;p13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58" name="Google Shape;58;p13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59" name="Google Shape;59;p13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100"/>
          </a:p>
        </p:txBody>
      </p:sp>
      <p:sp>
        <p:nvSpPr>
          <p:cNvPr id="60" name="Google Shape;60;p13"/>
          <p:cNvSpPr txBox="1"/>
          <p:nvPr/>
        </p:nvSpPr>
        <p:spPr>
          <a:xfrm>
            <a:off x="342900" y="1611630"/>
            <a:ext cx="84579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1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VR Creator - Day 2</a:t>
            </a:r>
            <a:endParaRPr sz="1100"/>
          </a:p>
        </p:txBody>
      </p:sp>
      <p:sp>
        <p:nvSpPr>
          <p:cNvPr id="61" name="Google Shape;61;p13"/>
          <p:cNvSpPr txBox="1"/>
          <p:nvPr/>
        </p:nvSpPr>
        <p:spPr>
          <a:xfrm>
            <a:off x="342900" y="3120390"/>
            <a:ext cx="8457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Whomp whomp pacman chomp</a:t>
            </a:r>
            <a:endParaRPr b="0" i="0" sz="1800" u="none" cap="none" strike="noStrike">
              <a:solidFill>
                <a:srgbClr val="8A8A8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67" name="Google Shape;6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69" name="Google Shape;69;p14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70" name="Google Shape;70;p14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71" name="Google Shape;71;p14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100"/>
          </a:p>
        </p:txBody>
      </p:sp>
      <p:sp>
        <p:nvSpPr>
          <p:cNvPr id="72" name="Google Shape;72;p14"/>
          <p:cNvSpPr txBox="1"/>
          <p:nvPr/>
        </p:nvSpPr>
        <p:spPr>
          <a:xfrm>
            <a:off x="5623423" y="2067513"/>
            <a:ext cx="31773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Dots to eat. Ghosts to dodge. A tunnel that wraps. Every visible thing on screen is a tile painted on a grid — and the code you'll write moves the player and spawns the ghosts.</a:t>
            </a:r>
            <a:endParaRPr sz="1100"/>
          </a:p>
        </p:txBody>
      </p:sp>
      <p:pic>
        <p:nvPicPr>
          <p:cNvPr descr="A video game with a black background&#10;&#10;AI-generated content may be incorrect." id="73" name="Google Shape;7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4066" y="764599"/>
            <a:ext cx="3829058" cy="4276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79" name="Google Shape;7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81" name="Google Shape;81;p15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82" name="Google Shape;82;p15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83" name="Google Shape;83;p15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100"/>
          </a:p>
        </p:txBody>
      </p:sp>
      <p:sp>
        <p:nvSpPr>
          <p:cNvPr id="84" name="Google Shape;84;p15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Why Pac-Man changed everything (1980)</a:t>
            </a:r>
            <a:endParaRPr sz="1100"/>
          </a:p>
        </p:txBody>
      </p:sp>
      <p:sp>
        <p:nvSpPr>
          <p:cNvPr id="85" name="Google Shape;85;p15"/>
          <p:cNvSpPr txBox="1"/>
          <p:nvPr/>
        </p:nvSpPr>
        <p:spPr>
          <a:xfrm>
            <a:off x="342900" y="1611630"/>
            <a:ext cx="8457900" cy="23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Pre-1980 arcades = almost all space shooters (Space Invaders, Asteroids). Pac-Man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invented the maze chase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First game with a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character that had personality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— Pac-Man + 4 named ghosts (Blinky, Pinky, Inky, Clyde), each its own AI brain.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First game with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cutscenes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(the intermissions between levels).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First arcade game marketed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beyond boys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— broke the "arcade = boys only" mold.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First giant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merchandising wave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— lunchboxes, a cartoon, a hit song ("Pac-Man Fever").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Bottom line: no Pac-Man → maybe no Mario, no Sonic, no character mascots at all.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91" name="Google Shape;9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93" name="Google Shape;93;p16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94" name="Google Shape;94;p16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95" name="Google Shape;95;p16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100"/>
          </a:p>
        </p:txBody>
      </p:sp>
      <p:sp>
        <p:nvSpPr>
          <p:cNvPr id="96" name="Google Shape;96;p16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Yesterday → Today</a:t>
            </a:r>
            <a:endParaRPr sz="1100"/>
          </a:p>
        </p:txBody>
      </p:sp>
      <p:sp>
        <p:nvSpPr>
          <p:cNvPr id="97" name="Google Shape;97;p16"/>
          <p:cNvSpPr txBox="1"/>
          <p:nvPr/>
        </p:nvSpPr>
        <p:spPr>
          <a:xfrm>
            <a:off x="342900" y="1611630"/>
            <a:ext cx="84579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Day 1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— Variables + Conditions. You named things and made choices.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—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Loops + Functions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. You repeat things and package code into reusable recipes.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Same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, same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. Two new tools on top.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103" name="Google Shape;10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105" name="Google Shape;105;p17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106" name="Google Shape;106;p17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107" name="Google Shape;107;p17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sz="1100"/>
          </a:p>
        </p:txBody>
      </p:sp>
      <p:sp>
        <p:nvSpPr>
          <p:cNvPr id="108" name="Google Shape;108;p17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The 5-day arc</a:t>
            </a:r>
            <a:endParaRPr sz="1100"/>
          </a:p>
        </p:txBody>
      </p:sp>
      <p:sp>
        <p:nvSpPr>
          <p:cNvPr id="109" name="Google Shape;109;p17"/>
          <p:cNvSpPr txBox="1"/>
          <p:nvPr/>
        </p:nvSpPr>
        <p:spPr>
          <a:xfrm>
            <a:off x="342900" y="1611630"/>
            <a:ext cx="8457900" cy="15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Day 1 ✓ Pong — Vars + Conditions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Day 2 ← Pac-Man — Loops + Functions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Day 3 Tower Defense — Lists + Objects (preview)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Day 4 Fighter — Objects deep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Day 5 VR Escape Room — Showcase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115" name="Google Shape;11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8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117" name="Google Shape;117;p18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118" name="Google Shape;118;p18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119" name="Google Shape;119;p18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endParaRPr sz="1100"/>
          </a:p>
        </p:txBody>
      </p:sp>
      <p:sp>
        <p:nvSpPr>
          <p:cNvPr id="120" name="Google Shape;120;p18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Today's concepts: Loops + Functions</a:t>
            </a:r>
            <a:endParaRPr sz="1100"/>
          </a:p>
        </p:txBody>
      </p:sp>
      <p:sp>
        <p:nvSpPr>
          <p:cNvPr id="121" name="Google Shape;121;p18"/>
          <p:cNvSpPr txBox="1"/>
          <p:nvPr/>
        </p:nvSpPr>
        <p:spPr>
          <a:xfrm>
            <a:off x="342900" y="1611630"/>
            <a:ext cx="84579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Loops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— make the same code run again and again (spawn 3 ghosts, move every ghost, scan 868 tiles).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Functions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— give a block of code a name, call it whenever you need it.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127" name="Google Shape;12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9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129" name="Google Shape;129;p19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130" name="Google Shape;130;p19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131" name="Google Shape;131;p19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  <a:endParaRPr sz="1100"/>
          </a:p>
        </p:txBody>
      </p:sp>
      <p:sp>
        <p:nvSpPr>
          <p:cNvPr id="132" name="Google Shape;132;p19"/>
          <p:cNvSpPr txBox="1"/>
          <p:nvPr/>
        </p:nvSpPr>
        <p:spPr>
          <a:xfrm>
            <a:off x="342900" y="1611630"/>
            <a:ext cx="84579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1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Pre-coding setup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138" name="Google Shape;13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0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140" name="Google Shape;140;p20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141" name="Google Shape;141;p20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142" name="Google Shape;142;p20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9</a:t>
            </a:r>
            <a:endParaRPr sz="1100"/>
          </a:p>
        </p:txBody>
      </p:sp>
      <p:sp>
        <p:nvSpPr>
          <p:cNvPr id="143" name="Google Shape;143;p20"/>
          <p:cNvSpPr txBox="1"/>
          <p:nvPr/>
        </p:nvSpPr>
        <p:spPr>
          <a:xfrm>
            <a:off x="342900" y="1951181"/>
            <a:ext cx="84579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1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Open the Day 2 Maze Template</a:t>
            </a:r>
            <a:endParaRPr b="1" i="0" sz="4100" u="none" cap="none" strike="noStrike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p20"/>
          <p:cNvSpPr txBox="1"/>
          <p:nvPr/>
        </p:nvSpPr>
        <p:spPr>
          <a:xfrm>
            <a:off x="342900" y="3120390"/>
            <a:ext cx="8457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Open the Day 2 Maze project the same way you did yesterday.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150" name="Google Shape;15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1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152" name="Google Shape;152;p21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153" name="Google Shape;153;p21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154" name="Google Shape;154;p21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  <a:endParaRPr sz="1100"/>
          </a:p>
        </p:txBody>
      </p:sp>
      <p:sp>
        <p:nvSpPr>
          <p:cNvPr id="155" name="Google Shape;155;p21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Walk A — Hint</a:t>
            </a:r>
            <a:endParaRPr sz="1100"/>
          </a:p>
        </p:txBody>
      </p:sp>
      <p:sp>
        <p:nvSpPr>
          <p:cNvPr id="156" name="Google Shape;156;p21"/>
          <p:cNvSpPr txBox="1"/>
          <p:nvPr/>
        </p:nvSpPr>
        <p:spPr>
          <a:xfrm>
            <a:off x="342900" y="1611630"/>
            <a:ext cx="84579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Godot Launcher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→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button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Navigate to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Day2_Maze_Game/project.godot</a:t>
            </a:r>
            <a:endParaRPr b="0" i="0" sz="1500" u="none" cap="none" strike="noStrike">
              <a:solidFill>
                <a:srgbClr val="1A1A1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Click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Import &amp; Edit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162" name="Google Shape;16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2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164" name="Google Shape;164;p22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165" name="Google Shape;165;p22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166" name="Google Shape;166;p22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11</a:t>
            </a:r>
            <a:endParaRPr sz="1100"/>
          </a:p>
        </p:txBody>
      </p:sp>
      <p:sp>
        <p:nvSpPr>
          <p:cNvPr id="167" name="Google Shape;167;p22"/>
          <p:cNvSpPr txBox="1"/>
          <p:nvPr/>
        </p:nvSpPr>
        <p:spPr>
          <a:xfrm>
            <a:off x="342900" y="1611630"/>
            <a:ext cx="84579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1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Open main.gd</a:t>
            </a:r>
            <a:endParaRPr sz="1100"/>
          </a:p>
        </p:txBody>
      </p:sp>
      <p:sp>
        <p:nvSpPr>
          <p:cNvPr id="168" name="Google Shape;168;p22"/>
          <p:cNvSpPr txBox="1"/>
          <p:nvPr/>
        </p:nvSpPr>
        <p:spPr>
          <a:xfrm>
            <a:off x="342900" y="3120390"/>
            <a:ext cx="8457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Open </a:t>
            </a:r>
            <a:r>
              <a:rPr b="0" i="0" lang="en" sz="1800" u="none" cap="none" strike="noStrike">
                <a:solidFill>
                  <a:srgbClr val="8A8A8A"/>
                </a:solidFill>
                <a:latin typeface="Consolas"/>
                <a:ea typeface="Consolas"/>
                <a:cs typeface="Consolas"/>
                <a:sym typeface="Consolas"/>
              </a:rPr>
              <a:t>main.gd</a:t>
            </a:r>
            <a:r>
              <a:rPr b="0" i="0" lang="en" sz="1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 and switch to the Script editor — same way as yesterday.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3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174" name="Google Shape;17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3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176" name="Google Shape;176;p23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177" name="Google Shape;177;p23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178" name="Google Shape;178;p23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12</a:t>
            </a:r>
            <a:endParaRPr sz="1100"/>
          </a:p>
        </p:txBody>
      </p:sp>
      <p:sp>
        <p:nvSpPr>
          <p:cNvPr id="179" name="Google Shape;179;p23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Walk B — Hint</a:t>
            </a:r>
            <a:endParaRPr sz="1100"/>
          </a:p>
        </p:txBody>
      </p:sp>
      <p:sp>
        <p:nvSpPr>
          <p:cNvPr id="180" name="Google Shape;180;p23"/>
          <p:cNvSpPr txBox="1"/>
          <p:nvPr/>
        </p:nvSpPr>
        <p:spPr>
          <a:xfrm>
            <a:off x="342900" y="1611630"/>
            <a:ext cx="84579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FileSystem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panel (bottom-left) → find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main.gd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Double-click → Script editor opens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186" name="Google Shape;18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4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188" name="Google Shape;188;p24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189" name="Google Shape;189;p24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190" name="Google Shape;190;p24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13</a:t>
            </a:r>
            <a:endParaRPr sz="1100"/>
          </a:p>
        </p:txBody>
      </p:sp>
      <p:sp>
        <p:nvSpPr>
          <p:cNvPr id="191" name="Google Shape;191;p24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New today: TileSet and TileMapLayer</a:t>
            </a:r>
            <a:endParaRPr sz="1100"/>
          </a:p>
        </p:txBody>
      </p:sp>
      <p:sp>
        <p:nvSpPr>
          <p:cNvPr id="192" name="Google Shape;192;p24"/>
          <p:cNvSpPr txBox="1"/>
          <p:nvPr/>
        </p:nvSpPr>
        <p:spPr>
          <a:xfrm>
            <a:off x="342900" y="1611630"/>
            <a:ext cx="84579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TileSet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= the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palette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. A resource file that chops the Kenney atlas PNG into named 16×16 tiles.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TileMapLayer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= a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node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in the scene that paints tiles from the TileSet onto a 2D grid.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Think: TileSet = the box of crayons. TileMapLayer = the coloring page.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5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198" name="Google Shape;19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5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200" name="Google Shape;200;p25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201" name="Google Shape;201;p25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202" name="Google Shape;202;p25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14</a:t>
            </a:r>
            <a:endParaRPr sz="1100"/>
          </a:p>
        </p:txBody>
      </p:sp>
      <p:sp>
        <p:nvSpPr>
          <p:cNvPr id="203" name="Google Shape;203;p25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Two layers share one TileSet</a:t>
            </a:r>
            <a:endParaRPr sz="1100"/>
          </a:p>
        </p:txBody>
      </p:sp>
      <p:sp>
        <p:nvSpPr>
          <p:cNvPr id="204" name="Google Shape;204;p25"/>
          <p:cNvSpPr txBox="1"/>
          <p:nvPr/>
        </p:nvSpPr>
        <p:spPr>
          <a:xfrm>
            <a:off x="342900" y="1611630"/>
            <a:ext cx="84579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Walls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layer — collision tiles that block movement.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Dots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layer — the pellets to chomp.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Both layers use the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same TileSet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palette. Two painted canvases, one box of crayons.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Your chunk #6 call: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wall_layer.get_cell_source_id(cell)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→ returns tile ID or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-1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if empty.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210" name="Google Shape;21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6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212" name="Google Shape;212;p26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213" name="Google Shape;213;p26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214" name="Google Shape;214;p26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16</a:t>
            </a:r>
            <a:endParaRPr sz="1100"/>
          </a:p>
        </p:txBody>
      </p:sp>
      <p:sp>
        <p:nvSpPr>
          <p:cNvPr id="215" name="Google Shape;215;p26"/>
          <p:cNvSpPr/>
          <p:nvPr/>
        </p:nvSpPr>
        <p:spPr>
          <a:xfrm>
            <a:off x="342900" y="857250"/>
            <a:ext cx="5074800" cy="3874800"/>
          </a:xfrm>
          <a:prstGeom prst="rect">
            <a:avLst/>
          </a:prstGeom>
          <a:solidFill>
            <a:srgbClr val="EEEEEE"/>
          </a:solidFill>
          <a:ln cap="flat" cmpd="sng" w="19050">
            <a:solidFill>
              <a:srgbClr val="E53A2C"/>
            </a:solidFill>
            <a:prstDash val="solid"/>
            <a:round/>
            <a:headEnd len="sm" w="sm" type="none"/>
            <a:tailEnd len="sm" w="sm" type="none"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[ MISSING: D2TileSet2.png ]</a:t>
            </a:r>
            <a:endParaRPr sz="1100"/>
          </a:p>
        </p:txBody>
      </p:sp>
      <p:sp>
        <p:nvSpPr>
          <p:cNvPr id="216" name="Google Shape;216;p26"/>
          <p:cNvSpPr txBox="1"/>
          <p:nvPr/>
        </p:nvSpPr>
        <p:spPr>
          <a:xfrm>
            <a:off x="5623423" y="2529178"/>
            <a:ext cx="31773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Doube click the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PacmanTileSet.tres 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file</a:t>
            </a:r>
            <a:endParaRPr b="1" i="0" sz="1500" u="none" cap="none" strike="noStrike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A screenshot of a computer&#10;&#10;AI-generated content may be incorrect." id="217" name="Google Shape;21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4066" y="481965"/>
            <a:ext cx="3876675" cy="435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7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223" name="Google Shape;22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7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225" name="Google Shape;225;p27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226" name="Google Shape;226;p27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227" name="Google Shape;227;p27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17</a:t>
            </a:r>
            <a:endParaRPr sz="1100"/>
          </a:p>
        </p:txBody>
      </p:sp>
      <p:sp>
        <p:nvSpPr>
          <p:cNvPr id="228" name="Google Shape;228;p27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Step T.3 — TileSet panel at the bottom</a:t>
            </a:r>
            <a:endParaRPr sz="1100"/>
          </a:p>
        </p:txBody>
      </p:sp>
      <p:sp>
        <p:nvSpPr>
          <p:cNvPr id="229" name="Google Shape;229;p27"/>
          <p:cNvSpPr txBox="1"/>
          <p:nvPr/>
        </p:nvSpPr>
        <p:spPr>
          <a:xfrm>
            <a:off x="342900" y="1611630"/>
            <a:ext cx="84579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TileSet panel appears at the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bottom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of the editor.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Left side =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Sources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— one source: the Kenney atlas (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tilemap_packed.png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8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235" name="Google Shape;23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8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237" name="Google Shape;237;p28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238" name="Google Shape;238;p28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239" name="Google Shape;239;p28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18</a:t>
            </a:r>
            <a:endParaRPr sz="1100"/>
          </a:p>
        </p:txBody>
      </p:sp>
      <p:sp>
        <p:nvSpPr>
          <p:cNvPr id="240" name="Google Shape;240;p28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Step T.4 — Click the source row</a:t>
            </a:r>
            <a:endParaRPr sz="1100"/>
          </a:p>
        </p:txBody>
      </p:sp>
      <p:sp>
        <p:nvSpPr>
          <p:cNvPr id="241" name="Google Shape;241;p28"/>
          <p:cNvSpPr txBox="1"/>
          <p:nvPr/>
        </p:nvSpPr>
        <p:spPr>
          <a:xfrm>
            <a:off x="342900" y="1611630"/>
            <a:ext cx="84579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Click the source row in the Sources list.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The atlas appears on the right,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chopped into 16×16 tiles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Each tile has an ID — that's what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get_cell_source_id()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returns.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9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247" name="Google Shape;24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9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249" name="Google Shape;249;p29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250" name="Google Shape;250;p29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251" name="Google Shape;251;p29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19</a:t>
            </a:r>
            <a:endParaRPr sz="1100"/>
          </a:p>
        </p:txBody>
      </p:sp>
      <p:sp>
        <p:nvSpPr>
          <p:cNvPr id="252" name="Google Shape;252;p29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get_cell_source_id(cell)</a:t>
            </a: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— your one TileSet call</a:t>
            </a:r>
            <a:endParaRPr sz="1100"/>
          </a:p>
        </p:txBody>
      </p:sp>
      <p:sp>
        <p:nvSpPr>
          <p:cNvPr id="253" name="Google Shape;253;p29"/>
          <p:cNvSpPr/>
          <p:nvPr/>
        </p:nvSpPr>
        <p:spPr>
          <a:xfrm>
            <a:off x="1188697" y="1474470"/>
            <a:ext cx="6766500" cy="3394800"/>
          </a:xfrm>
          <a:prstGeom prst="roundRect">
            <a:avLst>
              <a:gd fmla="val 16667" name="adj"/>
            </a:avLst>
          </a:prstGeom>
          <a:solidFill>
            <a:srgbClr val="2D2D2D"/>
          </a:solidFill>
          <a:ln>
            <a:noFill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102875" lIns="137150" spcFirstLastPara="1" rIns="137150" wrap="square" tIns="10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" sz="14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Returns the tile's source ID, or -1 if no tile is painted there.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" sz="14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id = wall_layer.get_cell_source_id(cell)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" sz="14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id == -</a:t>
            </a:r>
            <a:r>
              <a:rPr b="0" i="0" lang="en" sz="14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0" i="0" lang="en" sz="14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" sz="14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"open floor"</a:t>
            </a: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0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259" name="Google Shape;25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0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261" name="Google Shape;261;p30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262" name="Google Shape;262;p30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263" name="Google Shape;263;p30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20</a:t>
            </a:r>
            <a:endParaRPr sz="1100"/>
          </a:p>
        </p:txBody>
      </p:sp>
      <p:sp>
        <p:nvSpPr>
          <p:cNvPr id="264" name="Google Shape;264;p30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Step T.6 — Back to the 2D view</a:t>
            </a:r>
            <a:endParaRPr sz="1100"/>
          </a:p>
        </p:txBody>
      </p:sp>
      <p:sp>
        <p:nvSpPr>
          <p:cNvPr id="265" name="Google Shape;265;p30"/>
          <p:cNvSpPr txBox="1"/>
          <p:nvPr/>
        </p:nvSpPr>
        <p:spPr>
          <a:xfrm>
            <a:off x="342900" y="1611630"/>
            <a:ext cx="84579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Click the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2D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button at the top of the editor.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You've seen the full TileSet pipeline. Now you know what the grid is made of.</a:t>
            </a:r>
            <a:endParaRPr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1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271" name="Google Shape;27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1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273" name="Google Shape;273;p31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274" name="Google Shape;274;p31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275" name="Google Shape;275;p31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22</a:t>
            </a:r>
            <a:endParaRPr sz="1100"/>
          </a:p>
        </p:txBody>
      </p:sp>
      <p:sp>
        <p:nvSpPr>
          <p:cNvPr id="276" name="Google Shape;276;p31"/>
          <p:cNvSpPr txBox="1"/>
          <p:nvPr/>
        </p:nvSpPr>
        <p:spPr>
          <a:xfrm>
            <a:off x="342900" y="1611630"/>
            <a:ext cx="84579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1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Loop</a:t>
            </a:r>
            <a:endParaRPr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2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282" name="Google Shape;28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2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284" name="Google Shape;284;p32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285" name="Google Shape;285;p32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286" name="Google Shape;286;p32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23</a:t>
            </a:r>
            <a:endParaRPr sz="1100"/>
          </a:p>
        </p:txBody>
      </p:sp>
      <p:sp>
        <p:nvSpPr>
          <p:cNvPr id="287" name="Google Shape;287;p32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What does 'loop' mean?</a:t>
            </a:r>
            <a:endParaRPr sz="1100"/>
          </a:p>
        </p:txBody>
      </p:sp>
      <p:sp>
        <p:nvSpPr>
          <p:cNvPr id="288" name="Google Shape;288;p32"/>
          <p:cNvSpPr txBox="1"/>
          <p:nvPr/>
        </p:nvSpPr>
        <p:spPr>
          <a:xfrm>
            <a:off x="342900" y="1611630"/>
            <a:ext cx="84579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Roller coaster loop — the track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comes back around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A rope tied in a loop —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no beginning, no end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In code: a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loop = code that repeats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3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294" name="Google Shape;29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3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296" name="Google Shape;296;p33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297" name="Google Shape;297;p33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298" name="Google Shape;298;p33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24</a:t>
            </a:r>
            <a:endParaRPr sz="1100"/>
          </a:p>
        </p:txBody>
      </p:sp>
      <p:sp>
        <p:nvSpPr>
          <p:cNvPr id="299" name="Google Shape;299;p33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A loop runs the same code again and again</a:t>
            </a:r>
            <a:endParaRPr sz="1100"/>
          </a:p>
        </p:txBody>
      </p:sp>
      <p:sp>
        <p:nvSpPr>
          <p:cNvPr id="300" name="Google Shape;300;p33"/>
          <p:cNvSpPr txBox="1"/>
          <p:nvPr/>
        </p:nvSpPr>
        <p:spPr>
          <a:xfrm>
            <a:off x="342900" y="1611630"/>
            <a:ext cx="84579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You write the action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once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The loop runs it as many times as you say.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No copy-paste. No 50 lines of the same thing.</a:t>
            </a:r>
            <a:endParaRPr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4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306" name="Google Shape;30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4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308" name="Google Shape;308;p34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309" name="Google Shape;309;p34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310" name="Google Shape;310;p34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25</a:t>
            </a:r>
            <a:endParaRPr sz="1100"/>
          </a:p>
        </p:txBody>
      </p:sp>
      <p:sp>
        <p:nvSpPr>
          <p:cNvPr id="311" name="Google Shape;311;p34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for i in range(3):</a:t>
            </a: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— the shape</a:t>
            </a:r>
            <a:endParaRPr sz="1100"/>
          </a:p>
        </p:txBody>
      </p:sp>
      <p:sp>
        <p:nvSpPr>
          <p:cNvPr id="312" name="Google Shape;312;p34"/>
          <p:cNvSpPr/>
          <p:nvPr/>
        </p:nvSpPr>
        <p:spPr>
          <a:xfrm>
            <a:off x="1188697" y="1474470"/>
            <a:ext cx="6766500" cy="3394800"/>
          </a:xfrm>
          <a:prstGeom prst="roundRect">
            <a:avLst>
              <a:gd fmla="val 16667" name="adj"/>
            </a:avLst>
          </a:prstGeom>
          <a:solidFill>
            <a:srgbClr val="2D2D2D"/>
          </a:solidFill>
          <a:ln>
            <a:noFill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102875" lIns="137150" spcFirstLastPara="1" rIns="137150" wrap="square" tIns="10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" sz="14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i in </a:t>
            </a:r>
            <a:r>
              <a:rPr b="0" i="0" lang="en" sz="14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" sz="14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0" i="0" lang="en" sz="14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(i)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" sz="14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prints: 0  1  2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5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318" name="Google Shape;31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5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320" name="Google Shape;320;p35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321" name="Google Shape;321;p35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322" name="Google Shape;322;p35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26</a:t>
            </a:r>
            <a:endParaRPr sz="1100"/>
          </a:p>
        </p:txBody>
      </p:sp>
      <p:sp>
        <p:nvSpPr>
          <p:cNvPr id="323" name="Google Shape;323;p35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14 stairs to your bedroom</a:t>
            </a:r>
            <a:endParaRPr sz="1100"/>
          </a:p>
        </p:txBody>
      </p:sp>
      <p:sp>
        <p:nvSpPr>
          <p:cNvPr id="324" name="Google Shape;324;p35"/>
          <p:cNvSpPr txBox="1"/>
          <p:nvPr/>
        </p:nvSpPr>
        <p:spPr>
          <a:xfrm>
            <a:off x="342900" y="1611630"/>
            <a:ext cx="84579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Every night: step, step, step —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14 times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. Same motion. Known count.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for i in range(14):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→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   climb_one_stair()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You know exactly how many stairs. The loop counts for you.</a:t>
            </a:r>
            <a:endParaRPr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330" name="Google Shape;33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6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332" name="Google Shape;332;p36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333" name="Google Shape;333;p36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334" name="Google Shape;334;p36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27</a:t>
            </a:r>
            <a:endParaRPr sz="1100"/>
          </a:p>
        </p:txBody>
      </p:sp>
      <p:sp>
        <p:nvSpPr>
          <p:cNvPr id="335" name="Google Shape;335;p36"/>
          <p:cNvSpPr txBox="1"/>
          <p:nvPr/>
        </p:nvSpPr>
        <p:spPr>
          <a:xfrm>
            <a:off x="342900" y="1611630"/>
            <a:ext cx="8457900" cy="13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1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How many times does </a:t>
            </a:r>
            <a:r>
              <a:rPr b="1" i="0" lang="en" sz="41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range(5)</a:t>
            </a:r>
            <a:r>
              <a:rPr b="1" i="0" lang="en" sz="41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run?</a:t>
            </a:r>
            <a:endParaRPr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7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341" name="Google Shape;3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7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343" name="Google Shape;343;p37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344" name="Google Shape;344;p37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345" name="Google Shape;345;p37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28</a:t>
            </a:r>
            <a:endParaRPr sz="1100"/>
          </a:p>
        </p:txBody>
      </p:sp>
      <p:sp>
        <p:nvSpPr>
          <p:cNvPr id="346" name="Google Shape;346;p37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range(N)</a:t>
            </a: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= N runs</a:t>
            </a:r>
            <a:endParaRPr sz="1100"/>
          </a:p>
        </p:txBody>
      </p:sp>
      <p:sp>
        <p:nvSpPr>
          <p:cNvPr id="347" name="Google Shape;347;p37"/>
          <p:cNvSpPr txBox="1"/>
          <p:nvPr/>
        </p:nvSpPr>
        <p:spPr>
          <a:xfrm>
            <a:off x="342900" y="1611630"/>
            <a:ext cx="84579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range(3)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→ runs 3 times (i = 0, 1, 2).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range(10)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→ runs 10 times.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range(0)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→ runs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zero times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— no stairs to climb.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Rule: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`range(N)` gives you N stairs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8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353" name="Google Shape;35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8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355" name="Google Shape;355;p38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356" name="Google Shape;356;p38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357" name="Google Shape;357;p38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29</a:t>
            </a:r>
            <a:endParaRPr sz="1100"/>
          </a:p>
        </p:txBody>
      </p:sp>
      <p:sp>
        <p:nvSpPr>
          <p:cNvPr id="358" name="Google Shape;358;p38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Games loop all the time</a:t>
            </a:r>
            <a:endParaRPr sz="1100"/>
          </a:p>
        </p:txBody>
      </p:sp>
      <p:sp>
        <p:nvSpPr>
          <p:cNvPr id="359" name="Google Shape;359;p38"/>
          <p:cNvSpPr txBox="1"/>
          <p:nvPr/>
        </p:nvSpPr>
        <p:spPr>
          <a:xfrm>
            <a:off x="342900" y="1611630"/>
            <a:ext cx="84579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Spawn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50 trees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in a forest level →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for i in range(50):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Deal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4 cards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at game start →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for i in range(4):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Create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12 enemies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in the first wave →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for i in range(12):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Write the action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once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. The loop handles the rest.</a:t>
            </a:r>
            <a:endParaRPr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9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365" name="Google Shape;36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9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367" name="Google Shape;367;p39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368" name="Google Shape;368;p39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369" name="Google Shape;369;p39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30</a:t>
            </a:r>
            <a:endParaRPr sz="1100"/>
          </a:p>
        </p:txBody>
      </p:sp>
      <p:sp>
        <p:nvSpPr>
          <p:cNvPr id="370" name="Google Shape;370;p39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In our game: spawn 3 ghosts</a:t>
            </a:r>
            <a:endParaRPr sz="1100"/>
          </a:p>
        </p:txBody>
      </p:sp>
      <p:sp>
        <p:nvSpPr>
          <p:cNvPr id="371" name="Google Shape;371;p39"/>
          <p:cNvSpPr txBox="1"/>
          <p:nvPr/>
        </p:nvSpPr>
        <p:spPr>
          <a:xfrm>
            <a:off x="342900" y="1611630"/>
            <a:ext cx="84579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At startup, 3 ghosts need to appear in the pen.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Without a loop: write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spawn_ghost_at(...)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three times. Copy-paste.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With a loop: write it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once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for i in range(3):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handles 3.</a:t>
            </a:r>
            <a:endParaRPr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0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377" name="Google Shape;37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40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379" name="Google Shape;379;p40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380" name="Google Shape;380;p40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381" name="Google Shape;381;p40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31</a:t>
            </a:r>
            <a:endParaRPr sz="1100"/>
          </a:p>
        </p:txBody>
      </p:sp>
      <p:sp>
        <p:nvSpPr>
          <p:cNvPr id="382" name="Google Shape;382;p40"/>
          <p:cNvSpPr/>
          <p:nvPr/>
        </p:nvSpPr>
        <p:spPr>
          <a:xfrm>
            <a:off x="342900" y="857250"/>
            <a:ext cx="5074800" cy="3874800"/>
          </a:xfrm>
          <a:prstGeom prst="rect">
            <a:avLst/>
          </a:prstGeom>
          <a:solidFill>
            <a:srgbClr val="EEEEEE"/>
          </a:solidFill>
          <a:ln cap="flat" cmpd="sng" w="19050">
            <a:solidFill>
              <a:srgbClr val="E53A2C"/>
            </a:solidFill>
            <a:prstDash val="solid"/>
            <a:round/>
            <a:headEnd len="sm" w="sm" type="none"/>
            <a:tailEnd len="sm" w="sm" type="none"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[ MISSING: D2C1.png ]</a:t>
            </a:r>
            <a:endParaRPr sz="1100"/>
          </a:p>
        </p:txBody>
      </p:sp>
      <p:sp>
        <p:nvSpPr>
          <p:cNvPr id="383" name="Google Shape;383;p40"/>
          <p:cNvSpPr txBox="1"/>
          <p:nvPr/>
        </p:nvSpPr>
        <p:spPr>
          <a:xfrm>
            <a:off x="5623423" y="857250"/>
            <a:ext cx="3177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At the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 TODO #1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marker inside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_ready()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. This runs once when the game starts.</a:t>
            </a:r>
            <a:endParaRPr sz="1100"/>
          </a:p>
        </p:txBody>
      </p:sp>
      <p:pic>
        <p:nvPicPr>
          <p:cNvPr descr="A screenshot of a computer program&#10;&#10;AI-generated content may be incorrect." id="384" name="Google Shape;384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382" y="1083918"/>
            <a:ext cx="5452044" cy="3421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1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390" name="Google Shape;39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41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392" name="Google Shape;392;p41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393" name="Google Shape;393;p41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394" name="Google Shape;394;p41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32</a:t>
            </a:r>
            <a:endParaRPr sz="1100"/>
          </a:p>
        </p:txBody>
      </p:sp>
      <p:sp>
        <p:nvSpPr>
          <p:cNvPr id="395" name="Google Shape;395;p41"/>
          <p:cNvSpPr/>
          <p:nvPr/>
        </p:nvSpPr>
        <p:spPr>
          <a:xfrm>
            <a:off x="342900" y="788670"/>
            <a:ext cx="8457900" cy="960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102875" lIns="205725" spcFirstLastPara="1" rIns="205725" wrap="square" tIns="10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Spawn three ghosts in the pen — but write the spawn call only once.</a:t>
            </a:r>
            <a:endParaRPr sz="1100"/>
          </a:p>
        </p:txBody>
      </p:sp>
      <p:sp>
        <p:nvSpPr>
          <p:cNvPr id="396" name="Google Shape;396;p41"/>
          <p:cNvSpPr txBox="1"/>
          <p:nvPr/>
        </p:nvSpPr>
        <p:spPr>
          <a:xfrm>
            <a:off x="342900" y="1954530"/>
            <a:ext cx="4126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Pattern (board example):</a:t>
            </a:r>
            <a:endParaRPr sz="1100"/>
          </a:p>
        </p:txBody>
      </p:sp>
      <p:sp>
        <p:nvSpPr>
          <p:cNvPr id="397" name="Google Shape;397;p41"/>
          <p:cNvSpPr/>
          <p:nvPr/>
        </p:nvSpPr>
        <p:spPr>
          <a:xfrm>
            <a:off x="342900" y="2228850"/>
            <a:ext cx="4126200" cy="2640300"/>
          </a:xfrm>
          <a:prstGeom prst="roundRect">
            <a:avLst>
              <a:gd fmla="val 16667" name="adj"/>
            </a:avLst>
          </a:prstGeom>
          <a:solidFill>
            <a:srgbClr val="2D2D2D"/>
          </a:solidFill>
          <a:ln>
            <a:noFill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102875" lIns="137150" spcFirstLastPara="1" rIns="137150" wrap="square" tIns="10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" sz="14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i in </a:t>
            </a:r>
            <a:r>
              <a:rPr b="0" i="0" lang="en" sz="14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" sz="14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14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create_at</a:t>
            </a:r>
            <a:r>
              <a:rPr lang="en" sz="14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4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desired_position</a:t>
            </a:r>
            <a:r>
              <a:rPr lang="en" sz="14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4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4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100"/>
          </a:p>
        </p:txBody>
      </p:sp>
      <p:sp>
        <p:nvSpPr>
          <p:cNvPr id="398" name="Google Shape;398;p41"/>
          <p:cNvSpPr txBox="1"/>
          <p:nvPr/>
        </p:nvSpPr>
        <p:spPr>
          <a:xfrm>
            <a:off x="4674755" y="1954530"/>
            <a:ext cx="4126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Where in your code (Godot):</a:t>
            </a:r>
            <a:endParaRPr sz="1100"/>
          </a:p>
        </p:txBody>
      </p:sp>
      <p:pic>
        <p:nvPicPr>
          <p:cNvPr descr="A screenshot of a computer program&#10;&#10;AI-generated content may be incorrect." id="399" name="Google Shape;399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0524" y="2264434"/>
            <a:ext cx="4314577" cy="27076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2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405" name="Google Shape;40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42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407" name="Google Shape;407;p42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408" name="Google Shape;408;p42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409" name="Google Shape;409;p42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33</a:t>
            </a:r>
            <a:endParaRPr sz="1100"/>
          </a:p>
        </p:txBody>
      </p:sp>
      <p:sp>
        <p:nvSpPr>
          <p:cNvPr id="410" name="Google Shape;410;p42"/>
          <p:cNvSpPr txBox="1"/>
          <p:nvPr/>
        </p:nvSpPr>
        <p:spPr>
          <a:xfrm>
            <a:off x="342900" y="1611630"/>
            <a:ext cx="84579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1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Run your game</a:t>
            </a:r>
            <a:endParaRPr sz="1100"/>
          </a:p>
        </p:txBody>
      </p:sp>
      <p:sp>
        <p:nvSpPr>
          <p:cNvPr id="411" name="Google Shape;411;p42"/>
          <p:cNvSpPr txBox="1"/>
          <p:nvPr/>
        </p:nvSpPr>
        <p:spPr>
          <a:xfrm>
            <a:off x="342900" y="3120390"/>
            <a:ext cx="8457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Press the same key you used yesterday to start the project.</a:t>
            </a:r>
            <a:endParaRPr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3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417" name="Google Shape;417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43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419" name="Google Shape;419;p43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420" name="Google Shape;420;p43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421" name="Google Shape;421;p43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35</a:t>
            </a:r>
            <a:endParaRPr sz="1100"/>
          </a:p>
        </p:txBody>
      </p:sp>
      <p:sp>
        <p:nvSpPr>
          <p:cNvPr id="422" name="Google Shape;422;p43"/>
          <p:cNvSpPr txBox="1"/>
          <p:nvPr/>
        </p:nvSpPr>
        <p:spPr>
          <a:xfrm>
            <a:off x="342900" y="1639558"/>
            <a:ext cx="8457900" cy="13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1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If your game didn't open, what does the error say?</a:t>
            </a:r>
            <a:endParaRPr b="1" i="0" sz="4100" u="none" cap="none" strike="noStrike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3" name="Google Shape;423;p43"/>
          <p:cNvSpPr txBox="1"/>
          <p:nvPr/>
        </p:nvSpPr>
        <p:spPr>
          <a:xfrm>
            <a:off x="342900" y="3120390"/>
            <a:ext cx="8457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Error locations are always given as the line number (line 22)</a:t>
            </a:r>
            <a:endParaRPr b="0" i="0" sz="1800" u="none" cap="none" strike="noStrike">
              <a:solidFill>
                <a:srgbClr val="8A8A8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4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429" name="Google Shape;42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44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431" name="Google Shape;431;p44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432" name="Google Shape;432;p44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433" name="Google Shape;433;p44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36</a:t>
            </a:r>
            <a:endParaRPr sz="1100"/>
          </a:p>
        </p:txBody>
      </p:sp>
      <p:sp>
        <p:nvSpPr>
          <p:cNvPr id="434" name="Google Shape;434;p44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Walk D — Hint</a:t>
            </a:r>
            <a:endParaRPr sz="1100"/>
          </a:p>
        </p:txBody>
      </p:sp>
      <p:sp>
        <p:nvSpPr>
          <p:cNvPr id="435" name="Google Shape;435;p44"/>
          <p:cNvSpPr txBox="1"/>
          <p:nvPr/>
        </p:nvSpPr>
        <p:spPr>
          <a:xfrm>
            <a:off x="342900" y="1611630"/>
            <a:ext cx="84579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Look at the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Output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panel at the bottom of the editor.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Find the error line → click the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blue line number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→ editor jumps to it.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Fix the typo →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Ctrl+S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→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F5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again.</a:t>
            </a:r>
            <a:endParaRPr sz="1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5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441" name="Google Shape;44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45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443" name="Google Shape;443;p45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444" name="Google Shape;444;p45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445" name="Google Shape;445;p45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37</a:t>
            </a:r>
            <a:endParaRPr sz="1100"/>
          </a:p>
        </p:txBody>
      </p:sp>
      <p:sp>
        <p:nvSpPr>
          <p:cNvPr id="446" name="Google Shape;446;p45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Same </a:t>
            </a:r>
            <a:r>
              <a:rPr b="1" i="0" lang="en" sz="27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. New shape.</a:t>
            </a:r>
            <a:endParaRPr sz="1100"/>
          </a:p>
        </p:txBody>
      </p:sp>
      <p:sp>
        <p:nvSpPr>
          <p:cNvPr id="447" name="Google Shape;447;p45"/>
          <p:cNvSpPr txBox="1"/>
          <p:nvPr/>
        </p:nvSpPr>
        <p:spPr>
          <a:xfrm>
            <a:off x="342900" y="1611630"/>
            <a:ext cx="84579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Last chunk: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for i in range(3)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— you wrote a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number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after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. Known count.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This chunk: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for ghost in ghosts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— you write the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name of a list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you already have.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The loop visits every item in the list, one by one.</a:t>
            </a:r>
            <a:endParaRPr sz="11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6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453" name="Google Shape;45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6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455" name="Google Shape;455;p46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456" name="Google Shape;456;p46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457" name="Google Shape;457;p46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38</a:t>
            </a:r>
            <a:endParaRPr sz="1100"/>
          </a:p>
        </p:txBody>
      </p:sp>
      <p:sp>
        <p:nvSpPr>
          <p:cNvPr id="458" name="Google Shape;458;p46"/>
          <p:cNvSpPr/>
          <p:nvPr/>
        </p:nvSpPr>
        <p:spPr>
          <a:xfrm>
            <a:off x="342900" y="788670"/>
            <a:ext cx="8457900" cy="960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102875" lIns="205725" spcFirstLastPara="1" rIns="205725" wrap="square" tIns="10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Each frame, walk through all the ghosts and move each one.</a:t>
            </a:r>
            <a:endParaRPr sz="1100"/>
          </a:p>
        </p:txBody>
      </p:sp>
      <p:sp>
        <p:nvSpPr>
          <p:cNvPr id="459" name="Google Shape;459;p46"/>
          <p:cNvSpPr txBox="1"/>
          <p:nvPr/>
        </p:nvSpPr>
        <p:spPr>
          <a:xfrm>
            <a:off x="342900" y="1954530"/>
            <a:ext cx="4126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Pattern (board example):</a:t>
            </a:r>
            <a:endParaRPr sz="1100"/>
          </a:p>
        </p:txBody>
      </p:sp>
      <p:sp>
        <p:nvSpPr>
          <p:cNvPr id="460" name="Google Shape;460;p46"/>
          <p:cNvSpPr/>
          <p:nvPr/>
        </p:nvSpPr>
        <p:spPr>
          <a:xfrm>
            <a:off x="342900" y="2228850"/>
            <a:ext cx="4126200" cy="2640300"/>
          </a:xfrm>
          <a:prstGeom prst="roundRect">
            <a:avLst>
              <a:gd fmla="val 16667" name="adj"/>
            </a:avLst>
          </a:prstGeom>
          <a:solidFill>
            <a:srgbClr val="2D2D2D"/>
          </a:solidFill>
          <a:ln>
            <a:noFill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102875" lIns="137150" spcFirstLastPara="1" rIns="137150" wrap="square" tIns="10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" sz="14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color in </a:t>
            </a:r>
            <a:r>
              <a:rPr lang="en" sz="14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colors</a:t>
            </a: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14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step</a:t>
            </a: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(color)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100"/>
          </a:p>
        </p:txBody>
      </p:sp>
      <p:sp>
        <p:nvSpPr>
          <p:cNvPr id="461" name="Google Shape;461;p46"/>
          <p:cNvSpPr txBox="1"/>
          <p:nvPr/>
        </p:nvSpPr>
        <p:spPr>
          <a:xfrm>
            <a:off x="4674755" y="1954530"/>
            <a:ext cx="4126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Where in your code (Godot):</a:t>
            </a:r>
            <a:endParaRPr sz="1100"/>
          </a:p>
        </p:txBody>
      </p:sp>
      <p:sp>
        <p:nvSpPr>
          <p:cNvPr id="462" name="Google Shape;462;p46"/>
          <p:cNvSpPr/>
          <p:nvPr/>
        </p:nvSpPr>
        <p:spPr>
          <a:xfrm>
            <a:off x="4674755" y="2228850"/>
            <a:ext cx="4126200" cy="2640300"/>
          </a:xfrm>
          <a:prstGeom prst="rect">
            <a:avLst/>
          </a:prstGeom>
          <a:solidFill>
            <a:srgbClr val="EEEEEE"/>
          </a:solidFill>
          <a:ln cap="flat" cmpd="sng" w="19050">
            <a:solidFill>
              <a:srgbClr val="E53A2C"/>
            </a:solidFill>
            <a:prstDash val="solid"/>
            <a:round/>
            <a:headEnd len="sm" w="sm" type="none"/>
            <a:tailEnd len="sm" w="sm" type="none"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[ MISSING: D2C2.png ]</a:t>
            </a:r>
            <a:endParaRPr sz="1100"/>
          </a:p>
        </p:txBody>
      </p:sp>
      <p:pic>
        <p:nvPicPr>
          <p:cNvPr descr="A screenshot of a computer&#10;&#10;AI-generated content may be incorrect." id="463" name="Google Shape;463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606881"/>
            <a:ext cx="4469246" cy="1918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7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469" name="Google Shape;46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7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471" name="Google Shape;471;p47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472" name="Google Shape;472;p47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473" name="Google Shape;473;p47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40</a:t>
            </a:r>
            <a:endParaRPr sz="1100"/>
          </a:p>
        </p:txBody>
      </p:sp>
      <p:sp>
        <p:nvSpPr>
          <p:cNvPr id="474" name="Google Shape;474;p47"/>
          <p:cNvSpPr txBox="1"/>
          <p:nvPr/>
        </p:nvSpPr>
        <p:spPr>
          <a:xfrm>
            <a:off x="342900" y="1639558"/>
            <a:ext cx="8457900" cy="13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1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Loops have a cousin named </a:t>
            </a:r>
            <a:r>
              <a:rPr b="1" i="0" lang="en" sz="41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endParaRPr sz="1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8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480" name="Google Shape;48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48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482" name="Google Shape;482;p48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483" name="Google Shape;483;p48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484" name="Google Shape;484;p48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42</a:t>
            </a:r>
            <a:endParaRPr sz="1100"/>
          </a:p>
        </p:txBody>
      </p:sp>
      <p:sp>
        <p:nvSpPr>
          <p:cNvPr id="485" name="Google Shape;485;p48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while = as long as</a:t>
            </a:r>
            <a:endParaRPr sz="1100"/>
          </a:p>
        </p:txBody>
      </p:sp>
      <p:sp>
        <p:nvSpPr>
          <p:cNvPr id="486" name="Google Shape;486;p48"/>
          <p:cNvSpPr txBox="1"/>
          <p:nvPr/>
        </p:nvSpPr>
        <p:spPr>
          <a:xfrm>
            <a:off x="342900" y="1611630"/>
            <a:ext cx="84579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While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it's raining, stay inside.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While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there's food on the plate, keep eating.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In code: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runs the block again and again —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as long as the condition is true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9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492" name="Google Shape;49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49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494" name="Google Shape;494;p49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495" name="Google Shape;495;p49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496" name="Google Shape;496;p49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43</a:t>
            </a:r>
            <a:endParaRPr sz="1100"/>
          </a:p>
        </p:txBody>
      </p:sp>
      <p:sp>
        <p:nvSpPr>
          <p:cNvPr id="497" name="Google Shape;497;p49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— the shape</a:t>
            </a:r>
            <a:endParaRPr sz="1100"/>
          </a:p>
        </p:txBody>
      </p:sp>
      <p:sp>
        <p:nvSpPr>
          <p:cNvPr id="498" name="Google Shape;498;p49"/>
          <p:cNvSpPr/>
          <p:nvPr/>
        </p:nvSpPr>
        <p:spPr>
          <a:xfrm>
            <a:off x="1188697" y="1474470"/>
            <a:ext cx="6766500" cy="3394800"/>
          </a:xfrm>
          <a:prstGeom prst="roundRect">
            <a:avLst>
              <a:gd fmla="val 16667" name="adj"/>
            </a:avLst>
          </a:prstGeom>
          <a:solidFill>
            <a:srgbClr val="2D2D2D"/>
          </a:solidFill>
          <a:ln>
            <a:noFill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102875" lIns="137150" spcFirstLastPara="1" rIns="137150" wrap="square" tIns="10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" sz="14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n := </a:t>
            </a:r>
            <a:r>
              <a:rPr b="0" i="0" lang="en" sz="14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" sz="14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n &lt; </a:t>
            </a:r>
            <a:r>
              <a:rPr b="0" i="0" lang="en" sz="14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0" i="0" lang="en" sz="14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(n)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    n += </a:t>
            </a:r>
            <a:r>
              <a:rPr b="0" i="0" lang="en" sz="14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1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0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504" name="Google Shape;50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50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506" name="Google Shape;506;p50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507" name="Google Shape;507;p50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508" name="Google Shape;508;p50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44</a:t>
            </a:r>
            <a:endParaRPr sz="1100"/>
          </a:p>
        </p:txBody>
      </p:sp>
      <p:sp>
        <p:nvSpPr>
          <p:cNvPr id="509" name="Google Shape;509;p50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vs </a:t>
            </a:r>
            <a:r>
              <a:rPr b="1" i="0" lang="en" sz="27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— same stairs, different light</a:t>
            </a:r>
            <a:endParaRPr sz="1100"/>
          </a:p>
        </p:txBody>
      </p:sp>
      <p:sp>
        <p:nvSpPr>
          <p:cNvPr id="510" name="Google Shape;510;p50"/>
          <p:cNvSpPr txBox="1"/>
          <p:nvPr/>
        </p:nvSpPr>
        <p:spPr>
          <a:xfrm>
            <a:off x="342900" y="1611630"/>
            <a:ext cx="845790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`for`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— you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KNOW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the count. (14 stairs to your bedroom — you've climbed them 1000 times.)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`while`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— you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DON'T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know the count. (Stairs in the dark — step up, stop when your foot finds no stair.)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Same repeated motion. Different stopping rule.</a:t>
            </a:r>
            <a:endParaRPr sz="11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1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516" name="Google Shape;516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51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518" name="Google Shape;518;p51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519" name="Google Shape;519;p51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520" name="Google Shape;520;p51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45</a:t>
            </a:r>
            <a:endParaRPr sz="1100"/>
          </a:p>
        </p:txBody>
      </p:sp>
      <p:sp>
        <p:nvSpPr>
          <p:cNvPr id="521" name="Google Shape;521;p51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Stairs in the dark</a:t>
            </a:r>
            <a:endParaRPr sz="1100"/>
          </a:p>
        </p:txBody>
      </p:sp>
      <p:sp>
        <p:nvSpPr>
          <p:cNvPr id="522" name="Google Shape;522;p51"/>
          <p:cNvSpPr txBox="1"/>
          <p:nvPr/>
        </p:nvSpPr>
        <p:spPr>
          <a:xfrm>
            <a:off x="342900" y="1611630"/>
            <a:ext cx="84579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Power's out. You're climbing stairs. You can't see the top.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Step. Step. Step. Each time: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is there another stair?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Yes → keep going. No → stop.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You don't know the count in advance. You stop when the condition is false.</a:t>
            </a:r>
            <a:endParaRPr sz="11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52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528" name="Google Shape;528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52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530" name="Google Shape;530;p52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531" name="Google Shape;531;p52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532" name="Google Shape;532;p52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46</a:t>
            </a:r>
            <a:endParaRPr sz="1100"/>
          </a:p>
        </p:txBody>
      </p:sp>
      <p:sp>
        <p:nvSpPr>
          <p:cNvPr id="533" name="Google Shape;533;p52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How many times does n get printed?</a:t>
            </a:r>
            <a:endParaRPr sz="1100"/>
          </a:p>
        </p:txBody>
      </p:sp>
      <p:sp>
        <p:nvSpPr>
          <p:cNvPr id="534" name="Google Shape;534;p52"/>
          <p:cNvSpPr/>
          <p:nvPr/>
        </p:nvSpPr>
        <p:spPr>
          <a:xfrm>
            <a:off x="1188697" y="1474470"/>
            <a:ext cx="6766500" cy="3394800"/>
          </a:xfrm>
          <a:prstGeom prst="roundRect">
            <a:avLst>
              <a:gd fmla="val 16667" name="adj"/>
            </a:avLst>
          </a:prstGeom>
          <a:solidFill>
            <a:srgbClr val="2D2D2D"/>
          </a:solidFill>
          <a:ln>
            <a:noFill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102875" lIns="137150" spcFirstLastPara="1" rIns="137150" wrap="square" tIns="10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" sz="14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n := </a:t>
            </a:r>
            <a:r>
              <a:rPr b="0" i="0" lang="en" sz="14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" sz="14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n &gt; </a:t>
            </a:r>
            <a:r>
              <a:rPr b="0" i="0" lang="en" sz="14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0" i="0" lang="en" sz="14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(n)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    n -= </a:t>
            </a:r>
            <a:r>
              <a:rPr b="0" i="0" lang="en" sz="14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1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3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540" name="Google Shape;540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53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542" name="Google Shape;542;p53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543" name="Google Shape;543;p53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544" name="Google Shape;544;p53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47</a:t>
            </a:r>
            <a:endParaRPr sz="1100"/>
          </a:p>
        </p:txBody>
      </p:sp>
      <p:sp>
        <p:nvSpPr>
          <p:cNvPr id="545" name="Google Shape;545;p53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= keep going until the condition is false</a:t>
            </a:r>
            <a:endParaRPr sz="1100"/>
          </a:p>
        </p:txBody>
      </p:sp>
      <p:sp>
        <p:nvSpPr>
          <p:cNvPr id="546" name="Google Shape;546;p53"/>
          <p:cNvSpPr txBox="1"/>
          <p:nvPr/>
        </p:nvSpPr>
        <p:spPr>
          <a:xfrm>
            <a:off x="342900" y="1611630"/>
            <a:ext cx="84579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while n &lt; 5: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→ stop when n reaches 5.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while lives &gt; 0: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→ stop when lives hit 0.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while has_more_dots():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→ stop when no dots remain.</a:t>
            </a:r>
            <a:endParaRPr sz="11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54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552" name="Google Shape;55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54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554" name="Google Shape;554;p54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555" name="Google Shape;555;p54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556" name="Google Shape;556;p54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48</a:t>
            </a:r>
            <a:endParaRPr sz="1100"/>
          </a:p>
        </p:txBody>
      </p:sp>
      <p:sp>
        <p:nvSpPr>
          <p:cNvPr id="557" name="Google Shape;557;p54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in games</a:t>
            </a:r>
            <a:endParaRPr sz="1100"/>
          </a:p>
        </p:txBody>
      </p:sp>
      <p:sp>
        <p:nvSpPr>
          <p:cNvPr id="558" name="Google Shape;558;p54"/>
          <p:cNvSpPr txBox="1"/>
          <p:nvPr/>
        </p:nvSpPr>
        <p:spPr>
          <a:xfrm>
            <a:off x="342900" y="1611630"/>
            <a:ext cx="84579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Scan a grid for coins: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while x &lt; map_width: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Fall until you hit the floor: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while not on_ground: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Keep playing until lives run out: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while lives &gt; 0: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Anything where you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don't know the count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in advance.</a:t>
            </a:r>
            <a:endParaRPr sz="11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55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564" name="Google Shape;564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55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566" name="Google Shape;566;p55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567" name="Google Shape;567;p55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568" name="Google Shape;568;p55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49</a:t>
            </a:r>
            <a:endParaRPr sz="1100"/>
          </a:p>
        </p:txBody>
      </p:sp>
      <p:sp>
        <p:nvSpPr>
          <p:cNvPr id="569" name="Google Shape;569;p55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In our game: count every dot</a:t>
            </a:r>
            <a:endParaRPr sz="1100"/>
          </a:p>
        </p:txBody>
      </p:sp>
      <p:sp>
        <p:nvSpPr>
          <p:cNvPr id="570" name="Google Shape;570;p55"/>
          <p:cNvSpPr txBox="1"/>
          <p:nvPr/>
        </p:nvSpPr>
        <p:spPr>
          <a:xfrm>
            <a:off x="342900" y="1611630"/>
            <a:ext cx="84579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The maze is 28 × 31 =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868 tiles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At startup, count how many tiles have a dot — that's the win target.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Scan every column (x) → every row (y) → count the dots.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Neither loop knows the tile count in advance →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56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576" name="Google Shape;576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56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578" name="Google Shape;578;p56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579" name="Google Shape;579;p56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580" name="Google Shape;580;p56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50</a:t>
            </a:r>
            <a:endParaRPr sz="1100"/>
          </a:p>
        </p:txBody>
      </p:sp>
      <p:sp>
        <p:nvSpPr>
          <p:cNvPr id="581" name="Google Shape;581;p56"/>
          <p:cNvSpPr/>
          <p:nvPr/>
        </p:nvSpPr>
        <p:spPr>
          <a:xfrm>
            <a:off x="342900" y="857250"/>
            <a:ext cx="5074800" cy="3874800"/>
          </a:xfrm>
          <a:prstGeom prst="rect">
            <a:avLst/>
          </a:prstGeom>
          <a:solidFill>
            <a:srgbClr val="EEEEEE"/>
          </a:solidFill>
          <a:ln cap="flat" cmpd="sng" w="19050">
            <a:solidFill>
              <a:srgbClr val="E53A2C"/>
            </a:solidFill>
            <a:prstDash val="solid"/>
            <a:round/>
            <a:headEnd len="sm" w="sm" type="none"/>
            <a:tailEnd len="sm" w="sm" type="none"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[ MISSING: D2C3a.png ]</a:t>
            </a:r>
            <a:endParaRPr sz="1100"/>
          </a:p>
        </p:txBody>
      </p:sp>
      <p:sp>
        <p:nvSpPr>
          <p:cNvPr id="582" name="Google Shape;582;p56"/>
          <p:cNvSpPr txBox="1"/>
          <p:nvPr/>
        </p:nvSpPr>
        <p:spPr>
          <a:xfrm>
            <a:off x="5978477" y="2571750"/>
            <a:ext cx="27537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One line in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_ready()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: call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count_dots()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and store the result.</a:t>
            </a:r>
            <a:endParaRPr sz="1100"/>
          </a:p>
        </p:txBody>
      </p:sp>
      <p:pic>
        <p:nvPicPr>
          <p:cNvPr descr="A screenshot of a computer program&#10;&#10;AI-generated content may be incorrect." id="583" name="Google Shape;583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744" y="2237309"/>
            <a:ext cx="5749558" cy="1450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57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589" name="Google Shape;589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57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591" name="Google Shape;591;p57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592" name="Google Shape;592;p57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593" name="Google Shape;593;p57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52</a:t>
            </a:r>
            <a:endParaRPr sz="1100"/>
          </a:p>
        </p:txBody>
      </p:sp>
      <p:sp>
        <p:nvSpPr>
          <p:cNvPr id="594" name="Google Shape;594;p57"/>
          <p:cNvSpPr/>
          <p:nvPr/>
        </p:nvSpPr>
        <p:spPr>
          <a:xfrm>
            <a:off x="342900" y="788670"/>
            <a:ext cx="8457900" cy="960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102875" lIns="205725" spcFirstLastPara="1" rIns="205725" wrap="square" tIns="10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Get the dot total from </a:t>
            </a:r>
            <a:r>
              <a:rPr b="1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count_dots()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and store it in </a:t>
            </a:r>
            <a:r>
              <a:rPr b="1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dots_remaining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/>
          </a:p>
        </p:txBody>
      </p:sp>
      <p:sp>
        <p:nvSpPr>
          <p:cNvPr id="595" name="Google Shape;595;p57"/>
          <p:cNvSpPr txBox="1"/>
          <p:nvPr/>
        </p:nvSpPr>
        <p:spPr>
          <a:xfrm>
            <a:off x="342900" y="1954530"/>
            <a:ext cx="4126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Pattern (board example):</a:t>
            </a:r>
            <a:endParaRPr sz="1100"/>
          </a:p>
        </p:txBody>
      </p:sp>
      <p:sp>
        <p:nvSpPr>
          <p:cNvPr id="596" name="Google Shape;596;p57"/>
          <p:cNvSpPr/>
          <p:nvPr/>
        </p:nvSpPr>
        <p:spPr>
          <a:xfrm>
            <a:off x="342900" y="2228850"/>
            <a:ext cx="4126200" cy="2640300"/>
          </a:xfrm>
          <a:prstGeom prst="roundRect">
            <a:avLst>
              <a:gd fmla="val 16667" name="adj"/>
            </a:avLst>
          </a:prstGeom>
          <a:solidFill>
            <a:srgbClr val="2D2D2D"/>
          </a:solidFill>
          <a:ln>
            <a:noFill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102875" lIns="137150" spcFirstLastPara="1" rIns="137150" wrap="square" tIns="10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remaining =</a:t>
            </a:r>
            <a:r>
              <a:rPr lang="en" sz="14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find_whats_left</a:t>
            </a: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100"/>
          </a:p>
        </p:txBody>
      </p:sp>
      <p:sp>
        <p:nvSpPr>
          <p:cNvPr id="597" name="Google Shape;597;p57"/>
          <p:cNvSpPr txBox="1"/>
          <p:nvPr/>
        </p:nvSpPr>
        <p:spPr>
          <a:xfrm>
            <a:off x="4674755" y="1954530"/>
            <a:ext cx="4126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Where in your code (Godot):</a:t>
            </a:r>
            <a:endParaRPr sz="1100"/>
          </a:p>
        </p:txBody>
      </p:sp>
      <p:sp>
        <p:nvSpPr>
          <p:cNvPr id="598" name="Google Shape;598;p57"/>
          <p:cNvSpPr/>
          <p:nvPr/>
        </p:nvSpPr>
        <p:spPr>
          <a:xfrm>
            <a:off x="4674755" y="2228850"/>
            <a:ext cx="4126200" cy="2640300"/>
          </a:xfrm>
          <a:prstGeom prst="rect">
            <a:avLst/>
          </a:prstGeom>
          <a:solidFill>
            <a:srgbClr val="EEEEEE"/>
          </a:solidFill>
          <a:ln cap="flat" cmpd="sng" w="19050">
            <a:solidFill>
              <a:srgbClr val="E53A2C"/>
            </a:solidFill>
            <a:prstDash val="solid"/>
            <a:round/>
            <a:headEnd len="sm" w="sm" type="none"/>
            <a:tailEnd len="sm" w="sm" type="none"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[ MISSING: D2C3a.png ]</a:t>
            </a:r>
            <a:endParaRPr sz="1100"/>
          </a:p>
        </p:txBody>
      </p:sp>
      <p:sp>
        <p:nvSpPr>
          <p:cNvPr id="599" name="Google Shape;599;p57"/>
          <p:cNvSpPr/>
          <p:nvPr/>
        </p:nvSpPr>
        <p:spPr>
          <a:xfrm>
            <a:off x="5293673" y="3218974"/>
            <a:ext cx="2888400" cy="660300"/>
          </a:xfrm>
          <a:prstGeom prst="rect">
            <a:avLst/>
          </a:prstGeom>
          <a:noFill/>
          <a:ln cap="flat" cmpd="sng" w="38100">
            <a:solidFill>
              <a:srgbClr val="E53A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 program&#10;&#10;AI-generated content may be incorrect." id="600" name="Google Shape;600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0593" y="2963400"/>
            <a:ext cx="4369983" cy="1102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58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606" name="Google Shape;606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58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608" name="Google Shape;608;p58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609" name="Google Shape;609;p58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610" name="Google Shape;610;p58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51</a:t>
            </a:r>
            <a:endParaRPr sz="1100"/>
          </a:p>
        </p:txBody>
      </p:sp>
      <p:sp>
        <p:nvSpPr>
          <p:cNvPr id="611" name="Google Shape;611;p58"/>
          <p:cNvSpPr/>
          <p:nvPr/>
        </p:nvSpPr>
        <p:spPr>
          <a:xfrm>
            <a:off x="342900" y="857250"/>
            <a:ext cx="5074800" cy="3874800"/>
          </a:xfrm>
          <a:prstGeom prst="rect">
            <a:avLst/>
          </a:prstGeom>
          <a:solidFill>
            <a:srgbClr val="EEEEEE"/>
          </a:solidFill>
          <a:ln cap="flat" cmpd="sng" w="19050">
            <a:solidFill>
              <a:srgbClr val="E53A2C"/>
            </a:solidFill>
            <a:prstDash val="solid"/>
            <a:round/>
            <a:headEnd len="sm" w="sm" type="none"/>
            <a:tailEnd len="sm" w="sm" type="none"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[ MISSING: D2C3b.png ]</a:t>
            </a:r>
            <a:endParaRPr sz="1100"/>
          </a:p>
        </p:txBody>
      </p:sp>
      <p:sp>
        <p:nvSpPr>
          <p:cNvPr id="612" name="Google Shape;612;p58"/>
          <p:cNvSpPr txBox="1"/>
          <p:nvPr/>
        </p:nvSpPr>
        <p:spPr>
          <a:xfrm>
            <a:off x="5623423" y="857250"/>
            <a:ext cx="3177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The whole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count_dots()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function body. You'll write the nested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loops inside.</a:t>
            </a:r>
            <a:endParaRPr sz="1100"/>
          </a:p>
        </p:txBody>
      </p:sp>
      <p:pic>
        <p:nvPicPr>
          <p:cNvPr descr="A screenshot of a computer program&#10;&#10;AI-generated content may be incorrect." id="613" name="Google Shape;613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328" y="1247159"/>
            <a:ext cx="5486401" cy="3307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59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619" name="Google Shape;619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59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621" name="Google Shape;621;p59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622" name="Google Shape;622;p59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623" name="Google Shape;623;p59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53</a:t>
            </a:r>
            <a:endParaRPr sz="1100"/>
          </a:p>
        </p:txBody>
      </p:sp>
      <p:sp>
        <p:nvSpPr>
          <p:cNvPr id="624" name="Google Shape;624;p59"/>
          <p:cNvSpPr/>
          <p:nvPr/>
        </p:nvSpPr>
        <p:spPr>
          <a:xfrm>
            <a:off x="342900" y="788670"/>
            <a:ext cx="8457900" cy="960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102875" lIns="205725" spcFirstLastPara="1" rIns="205725" wrap="square" tIns="10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Scan the whole maze with a </a:t>
            </a:r>
            <a:r>
              <a:rPr b="1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loop. Count the dots. Return the count.</a:t>
            </a:r>
            <a:endParaRPr sz="1100"/>
          </a:p>
        </p:txBody>
      </p:sp>
      <p:sp>
        <p:nvSpPr>
          <p:cNvPr id="625" name="Google Shape;625;p59"/>
          <p:cNvSpPr txBox="1"/>
          <p:nvPr/>
        </p:nvSpPr>
        <p:spPr>
          <a:xfrm>
            <a:off x="342900" y="1954530"/>
            <a:ext cx="4126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Pattern (board example):</a:t>
            </a:r>
            <a:endParaRPr sz="1100"/>
          </a:p>
        </p:txBody>
      </p:sp>
      <p:sp>
        <p:nvSpPr>
          <p:cNvPr id="626" name="Google Shape;626;p59"/>
          <p:cNvSpPr/>
          <p:nvPr/>
        </p:nvSpPr>
        <p:spPr>
          <a:xfrm>
            <a:off x="78650" y="2248725"/>
            <a:ext cx="4795500" cy="2922600"/>
          </a:xfrm>
          <a:prstGeom prst="roundRect">
            <a:avLst>
              <a:gd fmla="val 16667" name="adj"/>
            </a:avLst>
          </a:prstGeom>
          <a:solidFill>
            <a:srgbClr val="2D2D2D"/>
          </a:solidFill>
          <a:ln>
            <a:noFill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102875" lIns="137150" spcFirstLastPara="1" rIns="137150" wrap="square" tIns="10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4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 </a:t>
            </a:r>
            <a:r>
              <a:rPr lang="en" sz="14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count() -&gt; int:</a:t>
            </a:r>
            <a:endParaRPr sz="1400">
              <a:solidFill>
                <a:srgbClr val="569CD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4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	var </a:t>
            </a:r>
            <a:r>
              <a:rPr lang="en" sz="14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number := 0	</a:t>
            </a:r>
            <a:endParaRPr sz="1400">
              <a:solidFill>
                <a:srgbClr val="569CD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14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	var </a:t>
            </a:r>
            <a:r>
              <a:rPr lang="en" sz="14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x := 0</a:t>
            </a:r>
            <a:endParaRPr sz="1400">
              <a:solidFill>
                <a:srgbClr val="E6E6E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sz="1400">
              <a:solidFill>
                <a:srgbClr val="E6E6E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4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	while </a:t>
            </a:r>
            <a:r>
              <a:rPr lang="en" sz="14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x &lt; width:</a:t>
            </a:r>
            <a:endParaRPr sz="1400">
              <a:solidFill>
                <a:srgbClr val="569CD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4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		var </a:t>
            </a:r>
            <a:r>
              <a:rPr lang="en" sz="14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y := 0</a:t>
            </a:r>
            <a:endParaRPr sz="1400">
              <a:solidFill>
                <a:srgbClr val="569CD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4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		while </a:t>
            </a:r>
            <a:r>
              <a:rPr lang="en" sz="14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y &lt; height:</a:t>
            </a:r>
            <a:endParaRPr sz="1400">
              <a:solidFill>
                <a:srgbClr val="569CD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4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			if </a:t>
            </a:r>
            <a:r>
              <a:rPr lang="en" sz="14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location_has_piece(x, y):</a:t>
            </a:r>
            <a:endParaRPr sz="1400">
              <a:solidFill>
                <a:srgbClr val="569CD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4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				</a:t>
            </a:r>
            <a:r>
              <a:rPr lang="en" sz="14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number += 1</a:t>
            </a:r>
            <a:endParaRPr sz="1400">
              <a:solidFill>
                <a:srgbClr val="569CD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4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			</a:t>
            </a:r>
            <a:r>
              <a:rPr lang="en" sz="14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y += 1</a:t>
            </a:r>
            <a:endParaRPr sz="1400">
              <a:solidFill>
                <a:srgbClr val="569CD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4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lang="en" sz="14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x += 1</a:t>
            </a:r>
            <a:endParaRPr sz="1400">
              <a:solidFill>
                <a:srgbClr val="569CD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4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	return </a:t>
            </a:r>
            <a:r>
              <a:rPr lang="en" sz="14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 sz="1100"/>
          </a:p>
        </p:txBody>
      </p:sp>
      <p:sp>
        <p:nvSpPr>
          <p:cNvPr id="627" name="Google Shape;627;p59"/>
          <p:cNvSpPr txBox="1"/>
          <p:nvPr/>
        </p:nvSpPr>
        <p:spPr>
          <a:xfrm>
            <a:off x="4674755" y="1954530"/>
            <a:ext cx="4126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Where in your code (Godot): # 3b TODO</a:t>
            </a:r>
            <a:endParaRPr sz="1100"/>
          </a:p>
        </p:txBody>
      </p:sp>
      <p:sp>
        <p:nvSpPr>
          <p:cNvPr id="628" name="Google Shape;628;p59"/>
          <p:cNvSpPr/>
          <p:nvPr/>
        </p:nvSpPr>
        <p:spPr>
          <a:xfrm>
            <a:off x="4572000" y="2248725"/>
            <a:ext cx="4795500" cy="2922600"/>
          </a:xfrm>
          <a:prstGeom prst="roundRect">
            <a:avLst>
              <a:gd fmla="val 16667" name="adj"/>
            </a:avLst>
          </a:prstGeom>
          <a:solidFill>
            <a:srgbClr val="2D2D2D"/>
          </a:solidFill>
          <a:ln>
            <a:noFill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102875" lIns="137150" spcFirstLastPara="1" rIns="137150" wrap="square" tIns="10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4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 </a:t>
            </a:r>
            <a:r>
              <a:rPr lang="en" sz="14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count_dots() -&gt; int:</a:t>
            </a:r>
            <a:endParaRPr sz="1400">
              <a:solidFill>
                <a:srgbClr val="E6E6E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	# declare count and x to 0</a:t>
            </a:r>
            <a:endParaRPr>
              <a:solidFill>
                <a:srgbClr val="E6E6E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6E6E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	# while x is less than MAZE_W</a:t>
            </a:r>
            <a:endParaRPr>
              <a:solidFill>
                <a:srgbClr val="E6E6E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		# declare y to 0</a:t>
            </a:r>
            <a:endParaRPr>
              <a:solidFill>
                <a:srgbClr val="E6E6E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		# while y is less than MAZE_H</a:t>
            </a:r>
            <a:endParaRPr>
              <a:solidFill>
                <a:srgbClr val="E6E6E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			# if cell has dot, +1 count</a:t>
            </a:r>
            <a:endParaRPr>
              <a:solidFill>
                <a:srgbClr val="E6E6E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		# +1 y (iterates)</a:t>
            </a:r>
            <a:endParaRPr>
              <a:solidFill>
                <a:srgbClr val="E6E6E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	# +1 x (iterates)</a:t>
            </a:r>
            <a:endParaRPr>
              <a:solidFill>
                <a:srgbClr val="E6E6E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# return the count</a:t>
            </a:r>
            <a:endParaRPr>
              <a:solidFill>
                <a:srgbClr val="E6E6E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4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 sz="11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60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634" name="Google Shape;634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60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636" name="Google Shape;636;p60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637" name="Google Shape;637;p60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638" name="Google Shape;638;p60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54</a:t>
            </a:r>
            <a:endParaRPr sz="1100"/>
          </a:p>
        </p:txBody>
      </p:sp>
      <p:sp>
        <p:nvSpPr>
          <p:cNvPr id="639" name="Google Shape;639;p60"/>
          <p:cNvSpPr txBox="1"/>
          <p:nvPr/>
        </p:nvSpPr>
        <p:spPr>
          <a:xfrm>
            <a:off x="342900" y="1611630"/>
            <a:ext cx="84579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1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Function</a:t>
            </a:r>
            <a:endParaRPr sz="11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61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645" name="Google Shape;645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61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647" name="Google Shape;647;p61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648" name="Google Shape;648;p61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649" name="Google Shape;649;p61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55</a:t>
            </a:r>
            <a:endParaRPr sz="1100"/>
          </a:p>
        </p:txBody>
      </p:sp>
      <p:sp>
        <p:nvSpPr>
          <p:cNvPr id="650" name="Google Shape;650;p61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What's the function of…?</a:t>
            </a:r>
            <a:endParaRPr sz="1100"/>
          </a:p>
        </p:txBody>
      </p:sp>
      <p:sp>
        <p:nvSpPr>
          <p:cNvPr id="651" name="Google Shape;651;p61"/>
          <p:cNvSpPr txBox="1"/>
          <p:nvPr/>
        </p:nvSpPr>
        <p:spPr>
          <a:xfrm>
            <a:off x="342900" y="1611630"/>
            <a:ext cx="84579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A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remote control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→ change the channel. That's its function.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A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calculator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→ do math. That's its function.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A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door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→ let you through (or keep you out). That's its function.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Function =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the thing it DOES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62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657" name="Google Shape;657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62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659" name="Google Shape;659;p62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660" name="Google Shape;660;p62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661" name="Google Shape;661;p62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56</a:t>
            </a:r>
            <a:endParaRPr sz="1100"/>
          </a:p>
        </p:txBody>
      </p:sp>
      <p:sp>
        <p:nvSpPr>
          <p:cNvPr id="662" name="Google Shape;662;p62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Function = a name for a block of code</a:t>
            </a:r>
            <a:endParaRPr sz="1100"/>
          </a:p>
        </p:txBody>
      </p:sp>
      <p:sp>
        <p:nvSpPr>
          <p:cNvPr id="663" name="Google Shape;663;p62"/>
          <p:cNvSpPr txBox="1"/>
          <p:nvPr/>
        </p:nvSpPr>
        <p:spPr>
          <a:xfrm>
            <a:off x="342900" y="1611630"/>
            <a:ext cx="84579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func say_hi():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→ defines the function named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say_hi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say_hi()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→ </a:t>
            </a:r>
            <a:r>
              <a:rPr b="0" i="1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calls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it — runs the block.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Define the recipe once. Call it any number of times.</a:t>
            </a:r>
            <a:endParaRPr sz="11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63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669" name="Google Shape;669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63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671" name="Google Shape;671;p63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672" name="Google Shape;672;p63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673" name="Google Shape;673;p63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57</a:t>
            </a:r>
            <a:endParaRPr sz="1100"/>
          </a:p>
        </p:txBody>
      </p:sp>
      <p:sp>
        <p:nvSpPr>
          <p:cNvPr id="674" name="Google Shape;674;p63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func say_hi():</a:t>
            </a: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— the shape</a:t>
            </a:r>
            <a:endParaRPr sz="1100"/>
          </a:p>
        </p:txBody>
      </p:sp>
      <p:sp>
        <p:nvSpPr>
          <p:cNvPr id="675" name="Google Shape;675;p63"/>
          <p:cNvSpPr/>
          <p:nvPr/>
        </p:nvSpPr>
        <p:spPr>
          <a:xfrm>
            <a:off x="1188697" y="1474470"/>
            <a:ext cx="6766500" cy="3394800"/>
          </a:xfrm>
          <a:prstGeom prst="roundRect">
            <a:avLst>
              <a:gd fmla="val 16667" name="adj"/>
            </a:avLst>
          </a:prstGeom>
          <a:solidFill>
            <a:srgbClr val="2D2D2D"/>
          </a:solidFill>
          <a:ln>
            <a:noFill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102875" lIns="137150" spcFirstLastPara="1" rIns="137150" wrap="square" tIns="10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" sz="14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</a:t>
            </a: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say_hi():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0" i="0" lang="en" sz="14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" sz="14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"hi!"</a:t>
            </a: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say_hi()   </a:t>
            </a:r>
            <a:r>
              <a:rPr b="0" i="0" lang="en" sz="14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→ hi!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say_hi()   </a:t>
            </a:r>
            <a:r>
              <a:rPr b="0" i="0" lang="en" sz="14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→ hi!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1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64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681" name="Google Shape;681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64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683" name="Google Shape;683;p64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684" name="Google Shape;684;p64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685" name="Google Shape;685;p64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58</a:t>
            </a:r>
            <a:endParaRPr sz="1100"/>
          </a:p>
        </p:txBody>
      </p:sp>
      <p:sp>
        <p:nvSpPr>
          <p:cNvPr id="686" name="Google Shape;686;p64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The pizza order</a:t>
            </a:r>
            <a:endParaRPr sz="1100"/>
          </a:p>
        </p:txBody>
      </p:sp>
      <p:sp>
        <p:nvSpPr>
          <p:cNvPr id="687" name="Google Shape;687;p64"/>
          <p:cNvSpPr txBox="1"/>
          <p:nvPr/>
        </p:nvSpPr>
        <p:spPr>
          <a:xfrm>
            <a:off x="342900" y="1611630"/>
            <a:ext cx="84579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You walk into a pizza shop. You say: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"Margherita."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The kitchen makes dough → adds tomato → adds cheese → bakes → cuts → boxes.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You didn't say any of that. You just said the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name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. The recipe ran.</a:t>
            </a:r>
            <a:endParaRPr sz="11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65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693" name="Google Shape;693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65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695" name="Google Shape;695;p65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696" name="Google Shape;696;p65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697" name="Google Shape;697;p65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59</a:t>
            </a:r>
            <a:endParaRPr sz="1100"/>
          </a:p>
        </p:txBody>
      </p:sp>
      <p:sp>
        <p:nvSpPr>
          <p:cNvPr id="698" name="Google Shape;698;p65"/>
          <p:cNvSpPr txBox="1"/>
          <p:nvPr/>
        </p:nvSpPr>
        <p:spPr>
          <a:xfrm>
            <a:off x="342900" y="1611630"/>
            <a:ext cx="8457900" cy="13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1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How many times does </a:t>
            </a:r>
            <a:r>
              <a:rPr b="1" i="0" lang="en" sz="41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say_hi()</a:t>
            </a:r>
            <a:r>
              <a:rPr b="1" i="0" lang="en" sz="41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print if you call it 3 times?</a:t>
            </a:r>
            <a:endParaRPr sz="11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66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704" name="Google Shape;704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66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706" name="Google Shape;706;p66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707" name="Google Shape;707;p66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708" name="Google Shape;708;p66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60</a:t>
            </a:r>
            <a:endParaRPr sz="1100"/>
          </a:p>
        </p:txBody>
      </p:sp>
      <p:sp>
        <p:nvSpPr>
          <p:cNvPr id="709" name="Google Shape;709;p66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Define once. Call anywhere.</a:t>
            </a:r>
            <a:endParaRPr sz="1100"/>
          </a:p>
        </p:txBody>
      </p:sp>
      <p:sp>
        <p:nvSpPr>
          <p:cNvPr id="710" name="Google Shape;710;p66"/>
          <p:cNvSpPr txBox="1"/>
          <p:nvPr/>
        </p:nvSpPr>
        <p:spPr>
          <a:xfrm>
            <a:off x="342900" y="1611630"/>
            <a:ext cx="84579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Without functions: copy-paste the same 5 lines every time you need them.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With functions: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write once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, call by name from anywhere in the file.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Change the recipe once → every call gets the update automatically.</a:t>
            </a:r>
            <a:endParaRPr sz="11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67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716" name="Google Shape;716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67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718" name="Google Shape;718;p67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719" name="Google Shape;719;p67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720" name="Google Shape;720;p67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61</a:t>
            </a:r>
            <a:endParaRPr sz="1100"/>
          </a:p>
        </p:txBody>
      </p:sp>
      <p:sp>
        <p:nvSpPr>
          <p:cNvPr id="721" name="Google Shape;721;p67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Functions are everywhere in games</a:t>
            </a:r>
            <a:endParaRPr sz="1100"/>
          </a:p>
        </p:txBody>
      </p:sp>
      <p:sp>
        <p:nvSpPr>
          <p:cNvPr id="722" name="Google Shape;722;p67"/>
          <p:cNvSpPr txBox="1"/>
          <p:nvPr/>
        </p:nvSpPr>
        <p:spPr>
          <a:xfrm>
            <a:off x="342900" y="1611630"/>
            <a:ext cx="84579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jump()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— called whenever player presses space.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die()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— called when health hits 0.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spawn_enemy()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— called at the start of each wave.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Define once. Call from many places. No copy-paste.</a:t>
            </a:r>
            <a:endParaRPr sz="11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68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728" name="Google Shape;728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729" name="Google Shape;729;p68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730" name="Google Shape;730;p68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731" name="Google Shape;731;p68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732" name="Google Shape;732;p68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62</a:t>
            </a:r>
            <a:endParaRPr sz="1100"/>
          </a:p>
        </p:txBody>
      </p:sp>
      <p:sp>
        <p:nvSpPr>
          <p:cNvPr id="733" name="Google Shape;733;p68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In our game: </a:t>
            </a:r>
            <a:r>
              <a:rPr b="1" i="0" lang="en" sz="27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reset_player()</a:t>
            </a:r>
            <a:endParaRPr sz="1100"/>
          </a:p>
        </p:txBody>
      </p:sp>
      <p:sp>
        <p:nvSpPr>
          <p:cNvPr id="734" name="Google Shape;734;p68"/>
          <p:cNvSpPr txBox="1"/>
          <p:nvPr/>
        </p:nvSpPr>
        <p:spPr>
          <a:xfrm>
            <a:off x="342900" y="1611630"/>
            <a:ext cx="84579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When a ghost catches the player, we need to: send them home, clear movement, wipe direction.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That's 5 lines. We wrap them in a function called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reset_player()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The game calls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reset_player()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every time a ghost catches the player.</a:t>
            </a:r>
            <a:endParaRPr sz="11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69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740" name="Google Shape;740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69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742" name="Google Shape;742;p69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743" name="Google Shape;743;p69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744" name="Google Shape;744;p69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63</a:t>
            </a:r>
            <a:endParaRPr sz="1100"/>
          </a:p>
        </p:txBody>
      </p:sp>
      <p:sp>
        <p:nvSpPr>
          <p:cNvPr id="745" name="Google Shape;745;p69"/>
          <p:cNvSpPr/>
          <p:nvPr/>
        </p:nvSpPr>
        <p:spPr>
          <a:xfrm>
            <a:off x="342900" y="857250"/>
            <a:ext cx="5074800" cy="3874800"/>
          </a:xfrm>
          <a:prstGeom prst="rect">
            <a:avLst/>
          </a:prstGeom>
          <a:solidFill>
            <a:srgbClr val="EEEEEE"/>
          </a:solidFill>
          <a:ln cap="flat" cmpd="sng" w="19050">
            <a:solidFill>
              <a:srgbClr val="E53A2C"/>
            </a:solidFill>
            <a:prstDash val="solid"/>
            <a:round/>
            <a:headEnd len="sm" w="sm" type="none"/>
            <a:tailEnd len="sm" w="sm" type="none"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[ MISSING: D2C4.png ]</a:t>
            </a:r>
            <a:endParaRPr sz="1100"/>
          </a:p>
        </p:txBody>
      </p:sp>
      <p:sp>
        <p:nvSpPr>
          <p:cNvPr id="746" name="Google Shape;746;p69"/>
          <p:cNvSpPr txBox="1"/>
          <p:nvPr/>
        </p:nvSpPr>
        <p:spPr>
          <a:xfrm>
            <a:off x="5623423" y="857250"/>
            <a:ext cx="3177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The function body is at main.gd:153-160. You'll write the contents.</a:t>
            </a:r>
            <a:endParaRPr sz="1100"/>
          </a:p>
        </p:txBody>
      </p:sp>
      <p:pic>
        <p:nvPicPr>
          <p:cNvPr id="747" name="Google Shape;747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6468" y="1105507"/>
            <a:ext cx="5307649" cy="3378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70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753" name="Google Shape;753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70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755" name="Google Shape;755;p70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756" name="Google Shape;756;p70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757" name="Google Shape;757;p70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64</a:t>
            </a:r>
            <a:endParaRPr sz="1100"/>
          </a:p>
        </p:txBody>
      </p:sp>
      <p:sp>
        <p:nvSpPr>
          <p:cNvPr id="758" name="Google Shape;758;p70"/>
          <p:cNvSpPr/>
          <p:nvPr/>
        </p:nvSpPr>
        <p:spPr>
          <a:xfrm>
            <a:off x="342900" y="788670"/>
            <a:ext cx="8457900" cy="960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102875" lIns="205725" spcFirstLastPara="1" rIns="205725" wrap="square" tIns="10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Send the player back to the starting tile.</a:t>
            </a:r>
            <a:endParaRPr sz="1100"/>
          </a:p>
        </p:txBody>
      </p:sp>
      <p:sp>
        <p:nvSpPr>
          <p:cNvPr id="759" name="Google Shape;759;p70"/>
          <p:cNvSpPr txBox="1"/>
          <p:nvPr/>
        </p:nvSpPr>
        <p:spPr>
          <a:xfrm>
            <a:off x="342900" y="1861868"/>
            <a:ext cx="4126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Pattern (board example):</a:t>
            </a:r>
            <a:endParaRPr sz="1100"/>
          </a:p>
        </p:txBody>
      </p:sp>
      <p:sp>
        <p:nvSpPr>
          <p:cNvPr id="760" name="Google Shape;760;p70"/>
          <p:cNvSpPr/>
          <p:nvPr/>
        </p:nvSpPr>
        <p:spPr>
          <a:xfrm>
            <a:off x="-270000" y="2115675"/>
            <a:ext cx="5531400" cy="2911500"/>
          </a:xfrm>
          <a:prstGeom prst="roundRect">
            <a:avLst>
              <a:gd fmla="val 16667" name="adj"/>
            </a:avLst>
          </a:prstGeom>
          <a:solidFill>
            <a:srgbClr val="2D2D2D"/>
          </a:solidFill>
          <a:ln>
            <a:noFill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102875" lIns="137150" spcFirstLastPara="1" rIns="137150" wrap="square" tIns="10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" sz="14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</a:t>
            </a: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reset_player</a:t>
            </a: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() </a:t>
            </a:r>
            <a:r>
              <a:rPr lang="en" sz="14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-&gt; void</a:t>
            </a: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0" i="0" sz="1400" u="none" cap="none" strike="noStrike">
              <a:solidFill>
                <a:srgbClr val="E6E6E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	# set the player cell to the start coord</a:t>
            </a:r>
            <a:endParaRPr sz="1400">
              <a:solidFill>
                <a:srgbClr val="E6E6E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	# set the player position with coord to</a:t>
            </a:r>
            <a:r>
              <a:rPr lang="en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world</a:t>
            </a:r>
            <a:endParaRPr sz="1400">
              <a:solidFill>
                <a:srgbClr val="E6E6E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14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# set moving to false</a:t>
            </a:r>
            <a:endParaRPr sz="1400">
              <a:solidFill>
                <a:srgbClr val="E6E6E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14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	# set current direction to 0</a:t>
            </a:r>
            <a:endParaRPr sz="1400">
              <a:solidFill>
                <a:srgbClr val="E6E6E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14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	# set queued direction to 0</a:t>
            </a:r>
            <a:endParaRPr>
              <a:solidFill>
                <a:srgbClr val="E6E6E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761" name="Google Shape;761;p70"/>
          <p:cNvSpPr txBox="1"/>
          <p:nvPr/>
        </p:nvSpPr>
        <p:spPr>
          <a:xfrm>
            <a:off x="4674755" y="1954530"/>
            <a:ext cx="4126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Where in your code (Godot):</a:t>
            </a:r>
            <a:endParaRPr sz="1100"/>
          </a:p>
        </p:txBody>
      </p:sp>
      <p:sp>
        <p:nvSpPr>
          <p:cNvPr id="762" name="Google Shape;762;p70"/>
          <p:cNvSpPr/>
          <p:nvPr/>
        </p:nvSpPr>
        <p:spPr>
          <a:xfrm>
            <a:off x="5293673" y="3218974"/>
            <a:ext cx="2888400" cy="660300"/>
          </a:xfrm>
          <a:prstGeom prst="rect">
            <a:avLst/>
          </a:prstGeom>
          <a:noFill/>
          <a:ln cap="flat" cmpd="sng" w="38100">
            <a:solidFill>
              <a:srgbClr val="E53A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3" name="Google Shape;763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5524" y="2228847"/>
            <a:ext cx="4239507" cy="2698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71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769" name="Google Shape;769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71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771" name="Google Shape;771;p71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772" name="Google Shape;772;p71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773" name="Google Shape;773;p71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67</a:t>
            </a:r>
            <a:endParaRPr sz="1100"/>
          </a:p>
        </p:txBody>
      </p:sp>
      <p:sp>
        <p:nvSpPr>
          <p:cNvPr id="774" name="Google Shape;774;p71"/>
          <p:cNvSpPr txBox="1"/>
          <p:nvPr/>
        </p:nvSpPr>
        <p:spPr>
          <a:xfrm>
            <a:off x="342900" y="1611630"/>
            <a:ext cx="84579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1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Parameter</a:t>
            </a:r>
            <a:endParaRPr sz="11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72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780" name="Google Shape;780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72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782" name="Google Shape;782;p72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783" name="Google Shape;783;p72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784" name="Google Shape;784;p72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70</a:t>
            </a:r>
            <a:endParaRPr sz="1100"/>
          </a:p>
        </p:txBody>
      </p:sp>
      <p:sp>
        <p:nvSpPr>
          <p:cNvPr id="785" name="Google Shape;785;p72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Margherita — large or small?</a:t>
            </a:r>
            <a:endParaRPr sz="1100"/>
          </a:p>
        </p:txBody>
      </p:sp>
      <p:sp>
        <p:nvSpPr>
          <p:cNvPr id="786" name="Google Shape;786;p72"/>
          <p:cNvSpPr txBox="1"/>
          <p:nvPr/>
        </p:nvSpPr>
        <p:spPr>
          <a:xfrm>
            <a:off x="342900" y="1611630"/>
            <a:ext cx="84579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You say: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"Margherita large."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Kitchen runs the same recipe. Big ball of dough.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You say: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"Margherita small."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Same recipe. Small ball of dough.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The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size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is the parameter. One recipe, different inputs.</a:t>
            </a:r>
            <a:endParaRPr sz="11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73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792" name="Google Shape;792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73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794" name="Google Shape;794;p73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795" name="Google Shape;795;p73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796" name="Google Shape;796;p73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66</a:t>
            </a:r>
            <a:endParaRPr sz="1100"/>
          </a:p>
        </p:txBody>
      </p:sp>
      <p:sp>
        <p:nvSpPr>
          <p:cNvPr id="797" name="Google Shape;797;p73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Functions can take INPUTS</a:t>
            </a:r>
            <a:endParaRPr sz="1100"/>
          </a:p>
        </p:txBody>
      </p:sp>
      <p:sp>
        <p:nvSpPr>
          <p:cNvPr id="798" name="Google Shape;798;p73"/>
          <p:cNvSpPr txBox="1"/>
          <p:nvPr/>
        </p:nvSpPr>
        <p:spPr>
          <a:xfrm>
            <a:off x="342900" y="1611630"/>
            <a:ext cx="84579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Last chunk: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func reset_player()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— no inputs. Same thing every time.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This chunk: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func move_player(direction)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— something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between the parentheses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That thing is called a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parameter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— an input you hand to the function.</a:t>
            </a:r>
            <a:endParaRPr sz="11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74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804" name="Google Shape;804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74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806" name="Google Shape;806;p74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807" name="Google Shape;807;p74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808" name="Google Shape;808;p74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68</a:t>
            </a:r>
            <a:endParaRPr sz="1100"/>
          </a:p>
        </p:txBody>
      </p:sp>
      <p:sp>
        <p:nvSpPr>
          <p:cNvPr id="809" name="Google Shape;809;p74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A parameter is info you hand to the function</a:t>
            </a:r>
            <a:endParaRPr sz="1100"/>
          </a:p>
        </p:txBody>
      </p:sp>
      <p:sp>
        <p:nvSpPr>
          <p:cNvPr id="810" name="Google Shape;810;p74"/>
          <p:cNvSpPr txBox="1"/>
          <p:nvPr/>
        </p:nvSpPr>
        <p:spPr>
          <a:xfrm>
            <a:off x="342900" y="1611630"/>
            <a:ext cx="84579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func add_points(amount):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—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amount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is the parameter.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Call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add_points(10)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→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amount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is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inside the function.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Call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add_points(50)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→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amount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is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50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Same function. Different input each time.</a:t>
            </a:r>
            <a:endParaRPr sz="11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75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816" name="Google Shape;816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75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818" name="Google Shape;818;p75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819" name="Google Shape;819;p75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820" name="Google Shape;820;p75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69</a:t>
            </a:r>
            <a:endParaRPr sz="1100"/>
          </a:p>
        </p:txBody>
      </p:sp>
      <p:sp>
        <p:nvSpPr>
          <p:cNvPr id="821" name="Google Shape;821;p75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func add_points(amount):</a:t>
            </a: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— the shape</a:t>
            </a:r>
            <a:endParaRPr sz="1100"/>
          </a:p>
        </p:txBody>
      </p:sp>
      <p:sp>
        <p:nvSpPr>
          <p:cNvPr id="822" name="Google Shape;822;p75"/>
          <p:cNvSpPr/>
          <p:nvPr/>
        </p:nvSpPr>
        <p:spPr>
          <a:xfrm>
            <a:off x="1188697" y="1474470"/>
            <a:ext cx="6766500" cy="3394800"/>
          </a:xfrm>
          <a:prstGeom prst="roundRect">
            <a:avLst>
              <a:gd fmla="val 16667" name="adj"/>
            </a:avLst>
          </a:prstGeom>
          <a:solidFill>
            <a:srgbClr val="2D2D2D"/>
          </a:solidFill>
          <a:ln>
            <a:noFill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102875" lIns="137150" spcFirstLastPara="1" rIns="137150" wrap="square" tIns="10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" sz="14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</a:t>
            </a: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add_points(amount):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    score += amount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add_points(</a:t>
            </a:r>
            <a:r>
              <a:rPr b="0" i="0" lang="en" sz="14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)   </a:t>
            </a:r>
            <a:r>
              <a:rPr b="0" i="0" lang="en" sz="14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score goes up 10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add_points(</a:t>
            </a:r>
            <a:r>
              <a:rPr b="0" i="0" lang="en" sz="14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50</a:t>
            </a: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)   </a:t>
            </a:r>
            <a:r>
              <a:rPr b="0" i="0" lang="en" sz="14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score goes up 50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1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76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828" name="Google Shape;828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76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830" name="Google Shape;830;p76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831" name="Google Shape;831;p76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832" name="Google Shape;832;p76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71</a:t>
            </a:r>
            <a:endParaRPr sz="1100"/>
          </a:p>
        </p:txBody>
      </p:sp>
      <p:sp>
        <p:nvSpPr>
          <p:cNvPr id="833" name="Google Shape;833;p76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One function. Different inputs each time.</a:t>
            </a:r>
            <a:endParaRPr sz="1100"/>
          </a:p>
        </p:txBody>
      </p:sp>
      <p:sp>
        <p:nvSpPr>
          <p:cNvPr id="834" name="Google Shape;834;p76"/>
          <p:cNvSpPr txBox="1"/>
          <p:nvPr/>
        </p:nvSpPr>
        <p:spPr>
          <a:xfrm>
            <a:off x="342900" y="1611630"/>
            <a:ext cx="84579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move_player(Vector2i.UP)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→ moves up.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move_player(Vector2i.DOWN)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→ moves down.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Same function, called 4 times a second with whatever key is pressed.</a:t>
            </a:r>
            <a:endParaRPr sz="11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77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840" name="Google Shape;840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77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842" name="Google Shape;842;p77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843" name="Google Shape;843;p77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844" name="Google Shape;844;p77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72</a:t>
            </a:r>
            <a:endParaRPr sz="1100"/>
          </a:p>
        </p:txBody>
      </p:sp>
      <p:sp>
        <p:nvSpPr>
          <p:cNvPr id="845" name="Google Shape;845;p77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In our game: </a:t>
            </a:r>
            <a:r>
              <a:rPr b="1" i="0" lang="en" sz="27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move_player(direction)</a:t>
            </a:r>
            <a:endParaRPr sz="1100"/>
          </a:p>
        </p:txBody>
      </p:sp>
      <p:sp>
        <p:nvSpPr>
          <p:cNvPr id="846" name="Google Shape;846;p77"/>
          <p:cNvSpPr txBox="1"/>
          <p:nvPr/>
        </p:nvSpPr>
        <p:spPr>
          <a:xfrm>
            <a:off x="342900" y="1611630"/>
            <a:ext cx="84579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direction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is the parameter — a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Vector2i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for up, down, left, or right.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Arrow key pressed →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direction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is set →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move_player(direction)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is called.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The function moves the player one tile in that direction (if no wall is in the way).</a:t>
            </a:r>
            <a:endParaRPr sz="11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78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852" name="Google Shape;852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853" name="Google Shape;853;p78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854" name="Google Shape;854;p78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855" name="Google Shape;855;p78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856" name="Google Shape;856;p78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73</a:t>
            </a:r>
            <a:endParaRPr sz="1100"/>
          </a:p>
        </p:txBody>
      </p:sp>
      <p:sp>
        <p:nvSpPr>
          <p:cNvPr id="857" name="Google Shape;857;p78"/>
          <p:cNvSpPr/>
          <p:nvPr/>
        </p:nvSpPr>
        <p:spPr>
          <a:xfrm>
            <a:off x="343129" y="857250"/>
            <a:ext cx="5074800" cy="3874800"/>
          </a:xfrm>
          <a:prstGeom prst="rect">
            <a:avLst/>
          </a:prstGeom>
          <a:solidFill>
            <a:srgbClr val="EEEEEE"/>
          </a:solidFill>
          <a:ln cap="flat" cmpd="sng" w="19050">
            <a:solidFill>
              <a:srgbClr val="E53A2C"/>
            </a:solidFill>
            <a:prstDash val="solid"/>
            <a:round/>
            <a:headEnd len="sm" w="sm" type="none"/>
            <a:tailEnd len="sm" w="sm" type="none"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[ MISSING: D2C5.png ]</a:t>
            </a:r>
            <a:endParaRPr sz="1100"/>
          </a:p>
        </p:txBody>
      </p:sp>
      <p:sp>
        <p:nvSpPr>
          <p:cNvPr id="858" name="Google Shape;858;p78"/>
          <p:cNvSpPr txBox="1"/>
          <p:nvPr/>
        </p:nvSpPr>
        <p:spPr>
          <a:xfrm>
            <a:off x="5623423" y="2182929"/>
            <a:ext cx="31773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Inside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move_player(direction)</a:t>
            </a:r>
            <a:endParaRPr b="0" i="0" sz="1500" u="none" cap="none" strike="noStrike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direction: Vector2i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in the signature is today's lesson — that's the parameter.</a:t>
            </a:r>
            <a:endParaRPr sz="1100"/>
          </a:p>
        </p:txBody>
      </p:sp>
      <p:pic>
        <p:nvPicPr>
          <p:cNvPr id="859" name="Google Shape;859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0373" y="1681054"/>
            <a:ext cx="5280296" cy="2227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79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865" name="Google Shape;865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79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867" name="Google Shape;867;p79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868" name="Google Shape;868;p79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869" name="Google Shape;869;p79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74</a:t>
            </a:r>
            <a:endParaRPr sz="1100"/>
          </a:p>
        </p:txBody>
      </p:sp>
      <p:sp>
        <p:nvSpPr>
          <p:cNvPr id="870" name="Google Shape;870;p79"/>
          <p:cNvSpPr/>
          <p:nvPr/>
        </p:nvSpPr>
        <p:spPr>
          <a:xfrm>
            <a:off x="342900" y="788670"/>
            <a:ext cx="8457900" cy="960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102875" lIns="205725" spcFirstLastPara="1" rIns="205725" wrap="square" tIns="10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Move the player one tile in the direction they pressed — but only if a wall isn't in the way.</a:t>
            </a:r>
            <a:endParaRPr sz="1100"/>
          </a:p>
        </p:txBody>
      </p:sp>
      <p:sp>
        <p:nvSpPr>
          <p:cNvPr id="871" name="Google Shape;871;p79"/>
          <p:cNvSpPr txBox="1"/>
          <p:nvPr/>
        </p:nvSpPr>
        <p:spPr>
          <a:xfrm>
            <a:off x="342900" y="1954530"/>
            <a:ext cx="4126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Pattern (board example):</a:t>
            </a:r>
            <a:endParaRPr sz="1100"/>
          </a:p>
        </p:txBody>
      </p:sp>
      <p:sp>
        <p:nvSpPr>
          <p:cNvPr id="872" name="Google Shape;872;p79"/>
          <p:cNvSpPr/>
          <p:nvPr/>
        </p:nvSpPr>
        <p:spPr>
          <a:xfrm>
            <a:off x="-406800" y="2228975"/>
            <a:ext cx="5735700" cy="2640300"/>
          </a:xfrm>
          <a:prstGeom prst="roundRect">
            <a:avLst>
              <a:gd fmla="val 16667" name="adj"/>
            </a:avLst>
          </a:prstGeom>
          <a:solidFill>
            <a:srgbClr val="2D2D2D"/>
          </a:solidFill>
          <a:ln>
            <a:noFill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102875" lIns="137150" spcFirstLastPara="1" rIns="137150" wrap="square" tIns="10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" sz="14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</a:t>
            </a: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move_player(direction: Vector2i) -&gt; void:</a:t>
            </a:r>
            <a:endParaRPr sz="1400">
              <a:solidFill>
                <a:srgbClr val="E6E6E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ar next_cell</a:t>
            </a:r>
            <a:endParaRPr>
              <a:solidFill>
                <a:srgbClr val="E6E6E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	# set the next cell to player_cell + direction</a:t>
            </a:r>
            <a:endParaRPr sz="1400">
              <a:solidFill>
                <a:srgbClr val="E6E6E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	next_cell = </a:t>
            </a:r>
            <a:r>
              <a:rPr lang="en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player_cell + direction</a:t>
            </a:r>
            <a:endParaRPr>
              <a:solidFill>
                <a:srgbClr val="E6E6E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14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	# if hit_wall returns false on next cell, return</a:t>
            </a:r>
            <a:endParaRPr sz="1400">
              <a:solidFill>
                <a:srgbClr val="E6E6E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	if(something == somethingElse):</a:t>
            </a:r>
            <a:endParaRPr>
              <a:solidFill>
                <a:srgbClr val="E6E6E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14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	# set next cell to the world cell with wrap_cell</a:t>
            </a:r>
            <a:endParaRPr sz="1400">
              <a:solidFill>
                <a:srgbClr val="E6E6E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14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	# step player to that next cell</a:t>
            </a:r>
            <a:endParaRPr>
              <a:solidFill>
                <a:srgbClr val="E6E6E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73" name="Google Shape;873;p79"/>
          <p:cNvSpPr txBox="1"/>
          <p:nvPr/>
        </p:nvSpPr>
        <p:spPr>
          <a:xfrm>
            <a:off x="4674755" y="1954530"/>
            <a:ext cx="4126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Where in your code (Godot):</a:t>
            </a:r>
            <a:endParaRPr sz="1100"/>
          </a:p>
        </p:txBody>
      </p:sp>
      <p:sp>
        <p:nvSpPr>
          <p:cNvPr id="874" name="Google Shape;874;p79"/>
          <p:cNvSpPr/>
          <p:nvPr/>
        </p:nvSpPr>
        <p:spPr>
          <a:xfrm>
            <a:off x="5293673" y="3218974"/>
            <a:ext cx="2888400" cy="660300"/>
          </a:xfrm>
          <a:prstGeom prst="rect">
            <a:avLst/>
          </a:prstGeom>
          <a:noFill/>
          <a:ln cap="flat" cmpd="sng" w="38100">
            <a:solidFill>
              <a:srgbClr val="E53A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5" name="Google Shape;875;p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094" y="2181092"/>
            <a:ext cx="4223609" cy="178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80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881" name="Google Shape;881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80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883" name="Google Shape;883;p80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884" name="Google Shape;884;p80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885" name="Google Shape;885;p80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76</a:t>
            </a:r>
            <a:endParaRPr sz="1100"/>
          </a:p>
        </p:txBody>
      </p:sp>
      <p:sp>
        <p:nvSpPr>
          <p:cNvPr id="886" name="Google Shape;886;p80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Functions can HAND BACK an answer</a:t>
            </a:r>
            <a:endParaRPr sz="1100"/>
          </a:p>
        </p:txBody>
      </p:sp>
      <p:sp>
        <p:nvSpPr>
          <p:cNvPr id="887" name="Google Shape;887;p80"/>
          <p:cNvSpPr txBox="1"/>
          <p:nvPr/>
        </p:nvSpPr>
        <p:spPr>
          <a:xfrm>
            <a:off x="342900" y="1611630"/>
            <a:ext cx="84579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So far: functions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do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something.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reset_player()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moves the player.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move_player(dir)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slides them.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New idea: a function can also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return a value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— hand an answer back to the caller.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That answer has a name: the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return value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81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893" name="Google Shape;893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81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895" name="Google Shape;895;p81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896" name="Google Shape;896;p81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897" name="Google Shape;897;p81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77</a:t>
            </a:r>
            <a:endParaRPr sz="1100"/>
          </a:p>
        </p:txBody>
      </p:sp>
      <p:sp>
        <p:nvSpPr>
          <p:cNvPr id="898" name="Google Shape;898;p81"/>
          <p:cNvSpPr txBox="1"/>
          <p:nvPr/>
        </p:nvSpPr>
        <p:spPr>
          <a:xfrm>
            <a:off x="342900" y="1611630"/>
            <a:ext cx="84579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1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return</a:t>
            </a:r>
            <a:endParaRPr sz="11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82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904" name="Google Shape;904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905" name="Google Shape;905;p82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906" name="Google Shape;906;p82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907" name="Google Shape;907;p82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908" name="Google Shape;908;p82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78</a:t>
            </a:r>
            <a:endParaRPr sz="1100"/>
          </a:p>
        </p:txBody>
      </p:sp>
      <p:sp>
        <p:nvSpPr>
          <p:cNvPr id="909" name="Google Shape;909;p82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hands a value back to the caller</a:t>
            </a:r>
            <a:endParaRPr sz="1100"/>
          </a:p>
        </p:txBody>
      </p:sp>
      <p:sp>
        <p:nvSpPr>
          <p:cNvPr id="910" name="Google Shape;910;p82"/>
          <p:cNvSpPr txBox="1"/>
          <p:nvPr/>
        </p:nvSpPr>
        <p:spPr>
          <a:xfrm>
            <a:off x="342900" y="1611630"/>
            <a:ext cx="84579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= "here's your answer."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The caller gets the value and can use it.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var y = double(5)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→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returns 10 →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is 10.</a:t>
            </a:r>
            <a:endParaRPr sz="11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83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916" name="Google Shape;916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83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918" name="Google Shape;918;p83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919" name="Google Shape;919;p83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920" name="Google Shape;920;p83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79</a:t>
            </a:r>
            <a:endParaRPr sz="1100"/>
          </a:p>
        </p:txBody>
      </p:sp>
      <p:sp>
        <p:nvSpPr>
          <p:cNvPr id="921" name="Google Shape;921;p83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func double(n) -&gt; int:</a:t>
            </a: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— the shape</a:t>
            </a:r>
            <a:endParaRPr sz="1100"/>
          </a:p>
        </p:txBody>
      </p:sp>
      <p:sp>
        <p:nvSpPr>
          <p:cNvPr id="922" name="Google Shape;922;p83"/>
          <p:cNvSpPr/>
          <p:nvPr/>
        </p:nvSpPr>
        <p:spPr>
          <a:xfrm>
            <a:off x="1188697" y="1474470"/>
            <a:ext cx="6766500" cy="3394800"/>
          </a:xfrm>
          <a:prstGeom prst="roundRect">
            <a:avLst>
              <a:gd fmla="val 16667" name="adj"/>
            </a:avLst>
          </a:prstGeom>
          <a:solidFill>
            <a:srgbClr val="2D2D2D"/>
          </a:solidFill>
          <a:ln>
            <a:noFill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102875" lIns="137150" spcFirstLastPara="1" rIns="137150" wrap="square" tIns="10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" sz="14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</a:t>
            </a: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double(n) -&gt; </a:t>
            </a:r>
            <a:r>
              <a:rPr b="0" i="0" lang="en" sz="14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0" i="0" lang="en" sz="14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n * </a:t>
            </a:r>
            <a:r>
              <a:rPr b="0" i="0" lang="en" sz="14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" sz="14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y = double(</a:t>
            </a:r>
            <a:r>
              <a:rPr b="0" i="0" lang="en" sz="14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)   </a:t>
            </a:r>
            <a:r>
              <a:rPr b="0" i="0" lang="en" sz="14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y = 10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" sz="14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z = double(</a:t>
            </a:r>
            <a:r>
              <a:rPr b="0" i="0" lang="en" sz="14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)   </a:t>
            </a:r>
            <a:r>
              <a:rPr b="0" i="0" lang="en" sz="14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z = 6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1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84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928" name="Google Shape;928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p84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930" name="Google Shape;930;p84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931" name="Google Shape;931;p84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932" name="Google Shape;932;p84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80</a:t>
            </a:r>
            <a:endParaRPr sz="1100"/>
          </a:p>
        </p:txBody>
      </p:sp>
      <p:sp>
        <p:nvSpPr>
          <p:cNvPr id="933" name="Google Shape;933;p84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Remember booleans from Day 1?</a:t>
            </a:r>
            <a:endParaRPr sz="1100"/>
          </a:p>
        </p:txBody>
      </p:sp>
      <p:sp>
        <p:nvSpPr>
          <p:cNvPr id="934" name="Google Shape;934;p84"/>
          <p:cNvSpPr txBox="1"/>
          <p:nvPr/>
        </p:nvSpPr>
        <p:spPr>
          <a:xfrm>
            <a:off x="342900" y="1611630"/>
            <a:ext cx="84579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A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boolean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is a true/false value — the light switch.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= on.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= off.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Today: our function hands back a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boolean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— "yes this is a wall" or "no it isn't."</a:t>
            </a:r>
            <a:endParaRPr sz="11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85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940" name="Google Shape;940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85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942" name="Google Shape;942;p85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943" name="Google Shape;943;p85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944" name="Google Shape;944;p85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81</a:t>
            </a:r>
            <a:endParaRPr sz="1100"/>
          </a:p>
        </p:txBody>
      </p:sp>
      <p:sp>
        <p:nvSpPr>
          <p:cNvPr id="945" name="Google Shape;945;p85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The kitchen hands the pizza BACK</a:t>
            </a:r>
            <a:endParaRPr sz="1100"/>
          </a:p>
        </p:txBody>
      </p:sp>
      <p:sp>
        <p:nvSpPr>
          <p:cNvPr id="946" name="Google Shape;946;p85"/>
          <p:cNvSpPr txBox="1"/>
          <p:nvPr/>
        </p:nvSpPr>
        <p:spPr>
          <a:xfrm>
            <a:off x="342900" y="1611630"/>
            <a:ext cx="84579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Old version: you say "margherita", kitchen makes it. No pizza in your hands.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New version: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var dinner = margherita("large")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— kitchen makes it AND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hands it to you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dinner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IS the pizza. That's the return value.</a:t>
            </a:r>
            <a:endParaRPr sz="11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86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952" name="Google Shape;952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953" name="Google Shape;953;p86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954" name="Google Shape;954;p86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955" name="Google Shape;955;p86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956" name="Google Shape;956;p86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82</a:t>
            </a:r>
            <a:endParaRPr sz="1100"/>
          </a:p>
        </p:txBody>
      </p:sp>
      <p:sp>
        <p:nvSpPr>
          <p:cNvPr id="957" name="Google Shape;957;p86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-&gt; bool</a:t>
            </a: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= this function answers yes or no</a:t>
            </a:r>
            <a:endParaRPr sz="1100"/>
          </a:p>
        </p:txBody>
      </p:sp>
      <p:sp>
        <p:nvSpPr>
          <p:cNvPr id="958" name="Google Shape;958;p86"/>
          <p:cNvSpPr txBox="1"/>
          <p:nvPr/>
        </p:nvSpPr>
        <p:spPr>
          <a:xfrm>
            <a:off x="342900" y="1611630"/>
            <a:ext cx="84579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hit_wall(cell) -&gt; bool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— "is there a wall at this cell?"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is_alive() -&gt; bool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— "is the player still alive?"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in_range(target) -&gt; bool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— "is the enemy close enough to shoot?"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Every yes/no check in a game is a bool-returning function.</a:t>
            </a:r>
            <a:endParaRPr sz="11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87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964" name="Google Shape;964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87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966" name="Google Shape;966;p87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967" name="Google Shape;967;p87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968" name="Google Shape;968;p87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83</a:t>
            </a:r>
            <a:endParaRPr sz="1100"/>
          </a:p>
        </p:txBody>
      </p:sp>
      <p:sp>
        <p:nvSpPr>
          <p:cNvPr id="969" name="Google Shape;969;p87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In our game: </a:t>
            </a:r>
            <a:r>
              <a:rPr b="1" i="0" lang="en" sz="27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hit_wall(cell)</a:t>
            </a:r>
            <a:endParaRPr sz="1100"/>
          </a:p>
        </p:txBody>
      </p:sp>
      <p:sp>
        <p:nvSpPr>
          <p:cNvPr id="970" name="Google Shape;970;p87"/>
          <p:cNvSpPr txBox="1"/>
          <p:nvPr/>
        </p:nvSpPr>
        <p:spPr>
          <a:xfrm>
            <a:off x="342900" y="1611630"/>
            <a:ext cx="84579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move_player(direction)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needs to know: "is the next tile a wall?"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It calls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hit_wall(next_cell)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→ gets back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or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If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→ don't move. If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→ move.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One question. One yes/no answer.</a:t>
            </a:r>
            <a:endParaRPr sz="110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88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976" name="Google Shape;976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88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978" name="Google Shape;978;p88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979" name="Google Shape;979;p88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980" name="Google Shape;980;p88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84</a:t>
            </a:r>
            <a:endParaRPr sz="1100"/>
          </a:p>
        </p:txBody>
      </p:sp>
      <p:sp>
        <p:nvSpPr>
          <p:cNvPr id="981" name="Google Shape;981;p88"/>
          <p:cNvSpPr/>
          <p:nvPr/>
        </p:nvSpPr>
        <p:spPr>
          <a:xfrm>
            <a:off x="342900" y="857250"/>
            <a:ext cx="5074800" cy="3874800"/>
          </a:xfrm>
          <a:prstGeom prst="rect">
            <a:avLst/>
          </a:prstGeom>
          <a:solidFill>
            <a:srgbClr val="EEEEEE"/>
          </a:solidFill>
          <a:ln cap="flat" cmpd="sng" w="19050">
            <a:solidFill>
              <a:srgbClr val="E53A2C"/>
            </a:solidFill>
            <a:prstDash val="solid"/>
            <a:round/>
            <a:headEnd len="sm" w="sm" type="none"/>
            <a:tailEnd len="sm" w="sm" type="none"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[ MISSING: D2C6.png ]</a:t>
            </a:r>
            <a:endParaRPr sz="1100"/>
          </a:p>
        </p:txBody>
      </p:sp>
      <p:sp>
        <p:nvSpPr>
          <p:cNvPr id="982" name="Google Shape;982;p88"/>
          <p:cNvSpPr txBox="1"/>
          <p:nvPr/>
        </p:nvSpPr>
        <p:spPr>
          <a:xfrm>
            <a:off x="5623423" y="857250"/>
            <a:ext cx="31773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Inside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hit_wall(cell)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at main.gd:201-204. Off-grid + tunnel guards are pre-given. You write only the in-grid wall query.</a:t>
            </a:r>
            <a:endParaRPr sz="1100"/>
          </a:p>
        </p:txBody>
      </p:sp>
      <p:pic>
        <p:nvPicPr>
          <p:cNvPr id="983" name="Google Shape;983;p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960" y="1252358"/>
            <a:ext cx="5425593" cy="3245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89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989" name="Google Shape;989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89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991" name="Google Shape;991;p89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992" name="Google Shape;992;p89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993" name="Google Shape;993;p89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85</a:t>
            </a:r>
            <a:endParaRPr sz="1100"/>
          </a:p>
        </p:txBody>
      </p:sp>
      <p:sp>
        <p:nvSpPr>
          <p:cNvPr id="994" name="Google Shape;994;p89"/>
          <p:cNvSpPr/>
          <p:nvPr/>
        </p:nvSpPr>
        <p:spPr>
          <a:xfrm>
            <a:off x="342900" y="788670"/>
            <a:ext cx="8457900" cy="960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102875" lIns="205725" spcFirstLastPara="1" rIns="205725" wrap="square" tIns="10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Given a cell, hand back </a:t>
            </a:r>
            <a:r>
              <a:rPr b="1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if it's blocked, </a:t>
            </a:r>
            <a:r>
              <a:rPr b="1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if it's open. </a:t>
            </a:r>
            <a:r>
              <a:rPr b="1" i="1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(off-grid + tunnel pre-given)</a:t>
            </a:r>
            <a:endParaRPr sz="1100"/>
          </a:p>
        </p:txBody>
      </p:sp>
      <p:sp>
        <p:nvSpPr>
          <p:cNvPr id="995" name="Google Shape;995;p89"/>
          <p:cNvSpPr txBox="1"/>
          <p:nvPr/>
        </p:nvSpPr>
        <p:spPr>
          <a:xfrm>
            <a:off x="342900" y="1954530"/>
            <a:ext cx="4126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Pattern (board example):</a:t>
            </a:r>
            <a:endParaRPr sz="1100"/>
          </a:p>
        </p:txBody>
      </p:sp>
      <p:sp>
        <p:nvSpPr>
          <p:cNvPr id="996" name="Google Shape;996;p89"/>
          <p:cNvSpPr/>
          <p:nvPr/>
        </p:nvSpPr>
        <p:spPr>
          <a:xfrm>
            <a:off x="0" y="2228831"/>
            <a:ext cx="4537500" cy="2640300"/>
          </a:xfrm>
          <a:prstGeom prst="roundRect">
            <a:avLst>
              <a:gd fmla="val 16667" name="adj"/>
            </a:avLst>
          </a:prstGeom>
          <a:solidFill>
            <a:srgbClr val="2D2D2D"/>
          </a:solidFill>
          <a:ln>
            <a:noFill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102875" lIns="137150" spcFirstLastPara="1" rIns="137150" wrap="square" tIns="10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" sz="14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</a:t>
            </a: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hit_wall(cell: Vector2i) -&gt; bool: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—-----</a:t>
            </a:r>
            <a:endParaRPr>
              <a:solidFill>
                <a:srgbClr val="569CD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pre-given code </a:t>
            </a:r>
            <a:endParaRPr sz="1400">
              <a:solidFill>
                <a:srgbClr val="569CD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—-----</a:t>
            </a:r>
            <a:endParaRPr>
              <a:solidFill>
                <a:srgbClr val="569CD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" sz="14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# set source_id to given line</a:t>
            </a:r>
            <a:endParaRPr sz="1400">
              <a:solidFill>
                <a:srgbClr val="E6E6E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	# return source_id</a:t>
            </a:r>
            <a:endParaRPr sz="1400">
              <a:solidFill>
                <a:srgbClr val="E6E6E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100"/>
          </a:p>
        </p:txBody>
      </p:sp>
      <p:sp>
        <p:nvSpPr>
          <p:cNvPr id="997" name="Google Shape;997;p89"/>
          <p:cNvSpPr txBox="1"/>
          <p:nvPr/>
        </p:nvSpPr>
        <p:spPr>
          <a:xfrm>
            <a:off x="4674755" y="1954530"/>
            <a:ext cx="4126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Where in your code (Godot):</a:t>
            </a:r>
            <a:endParaRPr sz="1100"/>
          </a:p>
        </p:txBody>
      </p:sp>
      <p:sp>
        <p:nvSpPr>
          <p:cNvPr id="998" name="Google Shape;998;p89"/>
          <p:cNvSpPr/>
          <p:nvPr/>
        </p:nvSpPr>
        <p:spPr>
          <a:xfrm>
            <a:off x="4674755" y="2228850"/>
            <a:ext cx="4126200" cy="2640300"/>
          </a:xfrm>
          <a:prstGeom prst="rect">
            <a:avLst/>
          </a:prstGeom>
          <a:solidFill>
            <a:srgbClr val="EEEEEE"/>
          </a:solidFill>
          <a:ln cap="flat" cmpd="sng" w="19050">
            <a:solidFill>
              <a:srgbClr val="E53A2C"/>
            </a:solidFill>
            <a:prstDash val="solid"/>
            <a:round/>
            <a:headEnd len="sm" w="sm" type="none"/>
            <a:tailEnd len="sm" w="sm" type="none"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[ MISSING: D2C6.png ]</a:t>
            </a:r>
            <a:endParaRPr sz="1100"/>
          </a:p>
        </p:txBody>
      </p:sp>
      <p:sp>
        <p:nvSpPr>
          <p:cNvPr id="999" name="Google Shape;999;p89"/>
          <p:cNvSpPr/>
          <p:nvPr/>
        </p:nvSpPr>
        <p:spPr>
          <a:xfrm>
            <a:off x="5293673" y="3218974"/>
            <a:ext cx="2888400" cy="660300"/>
          </a:xfrm>
          <a:prstGeom prst="rect">
            <a:avLst/>
          </a:prstGeom>
          <a:noFill/>
          <a:ln cap="flat" cmpd="sng" w="38100">
            <a:solidFill>
              <a:srgbClr val="E53A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0" name="Google Shape;1000;p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1885" y="2209122"/>
            <a:ext cx="4537596" cy="2714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90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1006" name="Google Shape;1006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p90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1008" name="Google Shape;1008;p90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1009" name="Google Shape;1009;p90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1010" name="Google Shape;1010;p90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87</a:t>
            </a:r>
            <a:endParaRPr sz="1100"/>
          </a:p>
        </p:txBody>
      </p:sp>
      <p:sp>
        <p:nvSpPr>
          <p:cNvPr id="1011" name="Google Shape;1011;p90"/>
          <p:cNvSpPr txBox="1"/>
          <p:nvPr/>
        </p:nvSpPr>
        <p:spPr>
          <a:xfrm>
            <a:off x="342900" y="1611630"/>
            <a:ext cx="84579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1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Final Challenge</a:t>
            </a:r>
            <a:endParaRPr sz="1100"/>
          </a:p>
        </p:txBody>
      </p:sp>
      <p:sp>
        <p:nvSpPr>
          <p:cNvPr id="1012" name="Google Shape;1012;p90"/>
          <p:cNvSpPr txBox="1"/>
          <p:nvPr/>
        </p:nvSpPr>
        <p:spPr>
          <a:xfrm>
            <a:off x="342900" y="3120390"/>
            <a:ext cx="8457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OG Pacman has each ghost having it’s own </a:t>
            </a:r>
            <a:r>
              <a:rPr b="1" i="0" lang="en" sz="1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personality</a:t>
            </a:r>
            <a:endParaRPr b="1" i="0" sz="1800" u="none" cap="none" strike="noStrike">
              <a:solidFill>
                <a:srgbClr val="8A8A8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91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1018" name="Google Shape;1018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1019" name="Google Shape;1019;p91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1020" name="Google Shape;1020;p91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1021" name="Google Shape;1021;p91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1022" name="Google Shape;1022;p91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90</a:t>
            </a:r>
            <a:endParaRPr sz="1100"/>
          </a:p>
        </p:txBody>
      </p:sp>
      <p:sp>
        <p:nvSpPr>
          <p:cNvPr id="1023" name="Google Shape;1023;p91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The 4 personalities</a:t>
            </a:r>
            <a:endParaRPr sz="1100"/>
          </a:p>
        </p:txBody>
      </p:sp>
      <p:sp>
        <p:nvSpPr>
          <p:cNvPr id="1024" name="Google Shape;1024;p91"/>
          <p:cNvSpPr txBox="1"/>
          <p:nvPr/>
        </p:nvSpPr>
        <p:spPr>
          <a:xfrm>
            <a:off x="342900" y="1611630"/>
            <a:ext cx="84579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Each ghost actually has it’s own personality (algorithm)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47650" lvl="0" marL="2540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Blinky (Red) – Heads straight for the player no matter what</a:t>
            </a:r>
            <a:endParaRPr sz="1100"/>
          </a:p>
          <a:p>
            <a:pPr indent="-247650" lvl="0" marL="2540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Pinky (Pink) – Aims 4 tiles ahead of the player to ambush</a:t>
            </a:r>
            <a:endParaRPr sz="1100"/>
          </a:p>
          <a:p>
            <a:pPr indent="-247650" lvl="0" marL="2540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Inky (Cyan) – Uses Blink’s position to flank from the opposite side</a:t>
            </a:r>
            <a:endParaRPr sz="1100"/>
          </a:p>
          <a:p>
            <a:pPr indent="-247650" lvl="0" marL="2540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Clyde (Orange) – Chases when far, scatters to corner when close</a:t>
            </a:r>
            <a:endParaRPr sz="1100"/>
          </a:p>
          <a:p>
            <a:pPr indent="-152400" lvl="0" marL="2540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92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1030" name="Google Shape;1030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p92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1032" name="Google Shape;1032;p92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1033" name="Google Shape;1033;p92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1034" name="Google Shape;1034;p92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88</a:t>
            </a:r>
            <a:endParaRPr sz="1100"/>
          </a:p>
        </p:txBody>
      </p:sp>
      <p:sp>
        <p:nvSpPr>
          <p:cNvPr id="1035" name="Google Shape;1035;p92"/>
          <p:cNvSpPr txBox="1"/>
          <p:nvPr/>
        </p:nvSpPr>
        <p:spPr>
          <a:xfrm>
            <a:off x="342900" y="78867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You already know how to do this.</a:t>
            </a:r>
            <a:endParaRPr sz="1100"/>
          </a:p>
        </p:txBody>
      </p:sp>
      <p:sp>
        <p:nvSpPr>
          <p:cNvPr id="1036" name="Google Shape;1036;p92"/>
          <p:cNvSpPr txBox="1"/>
          <p:nvPr/>
        </p:nvSpPr>
        <p:spPr>
          <a:xfrm>
            <a:off x="342900" y="1611630"/>
            <a:ext cx="84579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Each TODO in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ghost_personalities.gd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mirrors a chunk you wrote this morning. If you get stuck, scroll up to that chunk in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main.gd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and copy the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shape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(not the words).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FC-1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← Chunk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#1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for i in range(N)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FC-2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← Chunk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#2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for item in list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FC-3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← Chunk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#3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loop + count + return)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FC-4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← Chunk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#4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func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no params)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FC-5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← Chunk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#5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func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with a parameter)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• 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FC-6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← Chunk </a:t>
            </a:r>
            <a:r>
              <a:rPr b="1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#6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func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returning a bool)</a:t>
            </a:r>
            <a:endParaRPr sz="110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93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1042" name="Google Shape;1042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1043" name="Google Shape;1043;p93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1044" name="Google Shape;1044;p93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1045" name="Google Shape;1045;p93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1046" name="Google Shape;1046;p93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89</a:t>
            </a:r>
            <a:endParaRPr sz="1100"/>
          </a:p>
        </p:txBody>
      </p:sp>
      <p:sp>
        <p:nvSpPr>
          <p:cNvPr id="1047" name="Google Shape;1047;p93"/>
          <p:cNvSpPr/>
          <p:nvPr/>
        </p:nvSpPr>
        <p:spPr>
          <a:xfrm>
            <a:off x="342900" y="857250"/>
            <a:ext cx="5074800" cy="3874800"/>
          </a:xfrm>
          <a:prstGeom prst="rect">
            <a:avLst/>
          </a:prstGeom>
          <a:solidFill>
            <a:srgbClr val="EEEEEE"/>
          </a:solidFill>
          <a:ln cap="flat" cmpd="sng" w="19050">
            <a:solidFill>
              <a:srgbClr val="E53A2C"/>
            </a:solidFill>
            <a:prstDash val="solid"/>
            <a:round/>
            <a:headEnd len="sm" w="sm" type="none"/>
            <a:tailEnd len="sm" w="sm" type="none"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[ MISSING: D2FC3.png ]</a:t>
            </a:r>
            <a:endParaRPr sz="1100"/>
          </a:p>
        </p:txBody>
      </p:sp>
      <p:sp>
        <p:nvSpPr>
          <p:cNvPr id="1048" name="Google Shape;1048;p93"/>
          <p:cNvSpPr txBox="1"/>
          <p:nvPr/>
        </p:nvSpPr>
        <p:spPr>
          <a:xfrm>
            <a:off x="5623423" y="857250"/>
            <a:ext cx="31773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Replace 3 identical ghosts with 4 authentic Pac-Man personalities — Blinky, Pinky, Inky, Clyde. Each one targets the player differently.</a:t>
            </a:r>
            <a:endParaRPr sz="1100"/>
          </a:p>
        </p:txBody>
      </p:sp>
      <p:pic>
        <p:nvPicPr>
          <p:cNvPr id="1049" name="Google Shape;1049;p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410" y="1287304"/>
            <a:ext cx="5431761" cy="2911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94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1055" name="Google Shape;1055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1056" name="Google Shape;1056;p94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1057" name="Google Shape;1057;p94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1058" name="Google Shape;1058;p94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1059" name="Google Shape;1059;p94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91</a:t>
            </a:r>
            <a:endParaRPr sz="1100"/>
          </a:p>
        </p:txBody>
      </p:sp>
      <p:sp>
        <p:nvSpPr>
          <p:cNvPr id="1060" name="Google Shape;1060;p94"/>
          <p:cNvSpPr/>
          <p:nvPr/>
        </p:nvSpPr>
        <p:spPr>
          <a:xfrm>
            <a:off x="342900" y="857250"/>
            <a:ext cx="5074800" cy="3874800"/>
          </a:xfrm>
          <a:prstGeom prst="rect">
            <a:avLst/>
          </a:prstGeom>
          <a:solidFill>
            <a:srgbClr val="EEEEEE"/>
          </a:solidFill>
          <a:ln cap="flat" cmpd="sng" w="19050">
            <a:solidFill>
              <a:srgbClr val="E53A2C"/>
            </a:solidFill>
            <a:prstDash val="solid"/>
            <a:round/>
            <a:headEnd len="sm" w="sm" type="none"/>
            <a:tailEnd len="sm" w="sm" type="none"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[ MISSING: D2FC1.png ]</a:t>
            </a:r>
            <a:endParaRPr sz="1100"/>
          </a:p>
        </p:txBody>
      </p:sp>
      <p:sp>
        <p:nvSpPr>
          <p:cNvPr id="1061" name="Google Shape;1061;p94"/>
          <p:cNvSpPr txBox="1"/>
          <p:nvPr/>
        </p:nvSpPr>
        <p:spPr>
          <a:xfrm>
            <a:off x="5643777" y="857255"/>
            <a:ext cx="3177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Open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final_challenge.gd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. Find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const FC_ENABLED := false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near the top.</a:t>
            </a:r>
            <a:endParaRPr sz="1100"/>
          </a:p>
        </p:txBody>
      </p:sp>
      <p:pic>
        <p:nvPicPr>
          <p:cNvPr id="1062" name="Google Shape;1062;p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410" y="1287304"/>
            <a:ext cx="5431761" cy="2911793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Google Shape;1063;p94"/>
          <p:cNvSpPr txBox="1"/>
          <p:nvPr/>
        </p:nvSpPr>
        <p:spPr>
          <a:xfrm>
            <a:off x="5643777" y="1966918"/>
            <a:ext cx="31773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Edit the line to </a:t>
            </a:r>
            <a:r>
              <a:rPr b="0" i="0" lang="en" sz="15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const FC_ENABLED := true</a:t>
            </a:r>
            <a:r>
              <a:rPr b="0" i="0" lang="en" sz="15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. Save with Ctrl+S. The personality mode is now live.</a:t>
            </a:r>
            <a:endParaRPr sz="110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95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1069" name="Google Shape;1069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95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1071" name="Google Shape;1071;p95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1072" name="Google Shape;1072;p95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1073" name="Google Shape;1073;p95"/>
          <p:cNvSpPr txBox="1"/>
          <p:nvPr/>
        </p:nvSpPr>
        <p:spPr>
          <a:xfrm>
            <a:off x="2057400" y="123444"/>
            <a:ext cx="51435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Final Challenge — Board Examples</a:t>
            </a:r>
            <a:endParaRPr sz="1100"/>
          </a:p>
        </p:txBody>
      </p:sp>
      <p:sp>
        <p:nvSpPr>
          <p:cNvPr id="1074" name="Google Shape;1074;p95"/>
          <p:cNvSpPr/>
          <p:nvPr/>
        </p:nvSpPr>
        <p:spPr>
          <a:xfrm>
            <a:off x="240030" y="774954"/>
            <a:ext cx="2796600" cy="20541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95"/>
          <p:cNvSpPr/>
          <p:nvPr/>
        </p:nvSpPr>
        <p:spPr>
          <a:xfrm>
            <a:off x="240030" y="774954"/>
            <a:ext cx="2796600" cy="274200"/>
          </a:xfrm>
          <a:prstGeom prst="rect">
            <a:avLst/>
          </a:prstGeom>
          <a:solidFill>
            <a:srgbClr val="E53A2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95"/>
          <p:cNvSpPr txBox="1"/>
          <p:nvPr/>
        </p:nvSpPr>
        <p:spPr>
          <a:xfrm>
            <a:off x="315468" y="774954"/>
            <a:ext cx="2645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6857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FC-1  </a:t>
            </a:r>
            <a:r>
              <a:rPr b="0" i="0" lang="en" sz="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 i in range(N)</a:t>
            </a:r>
            <a:endParaRPr sz="1100"/>
          </a:p>
        </p:txBody>
      </p:sp>
      <p:sp>
        <p:nvSpPr>
          <p:cNvPr id="1077" name="Google Shape;1077;p95"/>
          <p:cNvSpPr txBox="1"/>
          <p:nvPr/>
        </p:nvSpPr>
        <p:spPr>
          <a:xfrm>
            <a:off x="315468" y="1124712"/>
            <a:ext cx="2645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6857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1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i in </a:t>
            </a:r>
            <a:r>
              <a:rPr lang="en" sz="11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n" sz="11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1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 sz="11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n" sz="11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create_at</a:t>
            </a:r>
            <a:r>
              <a:rPr lang="en" sz="11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1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desired_position</a:t>
            </a:r>
            <a:r>
              <a:rPr lang="en" sz="11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1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1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sz="1100">
              <a:solidFill>
                <a:srgbClr val="569CD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8" name="Google Shape;1078;p95"/>
          <p:cNvSpPr/>
          <p:nvPr/>
        </p:nvSpPr>
        <p:spPr>
          <a:xfrm>
            <a:off x="3173654" y="774954"/>
            <a:ext cx="2796600" cy="20541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95"/>
          <p:cNvSpPr/>
          <p:nvPr/>
        </p:nvSpPr>
        <p:spPr>
          <a:xfrm>
            <a:off x="3173654" y="774954"/>
            <a:ext cx="2796600" cy="274200"/>
          </a:xfrm>
          <a:prstGeom prst="rect">
            <a:avLst/>
          </a:prstGeom>
          <a:solidFill>
            <a:srgbClr val="E53A2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95"/>
          <p:cNvSpPr txBox="1"/>
          <p:nvPr/>
        </p:nvSpPr>
        <p:spPr>
          <a:xfrm>
            <a:off x="3249092" y="774954"/>
            <a:ext cx="2645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6857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FC-2  </a:t>
            </a:r>
            <a:r>
              <a:rPr b="0"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 item in list</a:t>
            </a:r>
            <a:endParaRPr sz="1100"/>
          </a:p>
        </p:txBody>
      </p:sp>
      <p:sp>
        <p:nvSpPr>
          <p:cNvPr id="1081" name="Google Shape;1081;p95"/>
          <p:cNvSpPr txBox="1"/>
          <p:nvPr/>
        </p:nvSpPr>
        <p:spPr>
          <a:xfrm>
            <a:off x="3249092" y="1124712"/>
            <a:ext cx="2645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6857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1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color in colors: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11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step</a:t>
            </a:r>
            <a:r>
              <a:rPr lang="en" sz="11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(color)</a:t>
            </a:r>
            <a:endParaRPr sz="1100">
              <a:solidFill>
                <a:srgbClr val="569CD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82" name="Google Shape;1082;p95"/>
          <p:cNvSpPr/>
          <p:nvPr/>
        </p:nvSpPr>
        <p:spPr>
          <a:xfrm>
            <a:off x="6107277" y="774954"/>
            <a:ext cx="2796600" cy="20541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95"/>
          <p:cNvSpPr/>
          <p:nvPr/>
        </p:nvSpPr>
        <p:spPr>
          <a:xfrm>
            <a:off x="6107277" y="774954"/>
            <a:ext cx="2796600" cy="274200"/>
          </a:xfrm>
          <a:prstGeom prst="rect">
            <a:avLst/>
          </a:prstGeom>
          <a:solidFill>
            <a:srgbClr val="E53A2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95"/>
          <p:cNvSpPr txBox="1"/>
          <p:nvPr/>
        </p:nvSpPr>
        <p:spPr>
          <a:xfrm>
            <a:off x="6182715" y="774954"/>
            <a:ext cx="2645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6857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FC-3  </a:t>
            </a:r>
            <a:r>
              <a:rPr b="0"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while + count + return</a:t>
            </a:r>
            <a:endParaRPr sz="1100"/>
          </a:p>
        </p:txBody>
      </p:sp>
      <p:sp>
        <p:nvSpPr>
          <p:cNvPr id="1085" name="Google Shape;1085;p95"/>
          <p:cNvSpPr txBox="1"/>
          <p:nvPr/>
        </p:nvSpPr>
        <p:spPr>
          <a:xfrm>
            <a:off x="6182715" y="1124712"/>
            <a:ext cx="26457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6857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lang="en" sz="11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ghost := </a:t>
            </a:r>
            <a:r>
              <a:rPr lang="en" sz="11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" sz="11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ghost &lt; </a:t>
            </a:r>
            <a:r>
              <a:rPr lang="en" sz="11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 sz="11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1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1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(ghost)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1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  ghost += </a:t>
            </a:r>
            <a:r>
              <a:rPr lang="en" sz="11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100"/>
          </a:p>
        </p:txBody>
      </p:sp>
      <p:sp>
        <p:nvSpPr>
          <p:cNvPr id="1086" name="Google Shape;1086;p95"/>
          <p:cNvSpPr/>
          <p:nvPr/>
        </p:nvSpPr>
        <p:spPr>
          <a:xfrm>
            <a:off x="240030" y="2966085"/>
            <a:ext cx="2796600" cy="20541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95"/>
          <p:cNvSpPr/>
          <p:nvPr/>
        </p:nvSpPr>
        <p:spPr>
          <a:xfrm>
            <a:off x="240030" y="2966085"/>
            <a:ext cx="2796600" cy="274200"/>
          </a:xfrm>
          <a:prstGeom prst="rect">
            <a:avLst/>
          </a:prstGeom>
          <a:solidFill>
            <a:srgbClr val="E53A2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95"/>
          <p:cNvSpPr txBox="1"/>
          <p:nvPr/>
        </p:nvSpPr>
        <p:spPr>
          <a:xfrm>
            <a:off x="315468" y="2966085"/>
            <a:ext cx="2645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6857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FC-4  </a:t>
            </a:r>
            <a:r>
              <a:rPr b="0"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func, no params</a:t>
            </a:r>
            <a:endParaRPr sz="1100"/>
          </a:p>
        </p:txBody>
      </p:sp>
      <p:sp>
        <p:nvSpPr>
          <p:cNvPr id="1089" name="Google Shape;1089;p95"/>
          <p:cNvSpPr txBox="1"/>
          <p:nvPr/>
        </p:nvSpPr>
        <p:spPr>
          <a:xfrm>
            <a:off x="315468" y="3315843"/>
            <a:ext cx="2645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6857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</a:t>
            </a:r>
            <a:r>
              <a:rPr lang="en" sz="11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1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say_hi</a:t>
            </a:r>
            <a:r>
              <a:rPr lang="en" sz="11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():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1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1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1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"hi!"</a:t>
            </a:r>
            <a:r>
              <a:rPr lang="en" sz="11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00"/>
          </a:p>
        </p:txBody>
      </p:sp>
      <p:sp>
        <p:nvSpPr>
          <p:cNvPr id="1090" name="Google Shape;1090;p95"/>
          <p:cNvSpPr/>
          <p:nvPr/>
        </p:nvSpPr>
        <p:spPr>
          <a:xfrm>
            <a:off x="3173654" y="2966085"/>
            <a:ext cx="2796600" cy="20541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95"/>
          <p:cNvSpPr/>
          <p:nvPr/>
        </p:nvSpPr>
        <p:spPr>
          <a:xfrm>
            <a:off x="3173654" y="2966085"/>
            <a:ext cx="2796600" cy="274200"/>
          </a:xfrm>
          <a:prstGeom prst="rect">
            <a:avLst/>
          </a:prstGeom>
          <a:solidFill>
            <a:srgbClr val="E53A2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95"/>
          <p:cNvSpPr txBox="1"/>
          <p:nvPr/>
        </p:nvSpPr>
        <p:spPr>
          <a:xfrm>
            <a:off x="3249092" y="2966085"/>
            <a:ext cx="2645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6857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FC-5  </a:t>
            </a:r>
            <a:r>
              <a:rPr b="0"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func with a parameter</a:t>
            </a:r>
            <a:endParaRPr sz="1100"/>
          </a:p>
        </p:txBody>
      </p:sp>
      <p:sp>
        <p:nvSpPr>
          <p:cNvPr id="1093" name="Google Shape;1093;p95"/>
          <p:cNvSpPr txBox="1"/>
          <p:nvPr/>
        </p:nvSpPr>
        <p:spPr>
          <a:xfrm>
            <a:off x="3249092" y="3315843"/>
            <a:ext cx="2645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6857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</a:t>
            </a:r>
            <a:r>
              <a:rPr lang="en" sz="11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1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add_points</a:t>
            </a:r>
            <a:r>
              <a:rPr lang="en" sz="11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(amount):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  score += amount</a:t>
            </a:r>
            <a:endParaRPr sz="1100"/>
          </a:p>
        </p:txBody>
      </p:sp>
      <p:sp>
        <p:nvSpPr>
          <p:cNvPr id="1094" name="Google Shape;1094;p95"/>
          <p:cNvSpPr/>
          <p:nvPr/>
        </p:nvSpPr>
        <p:spPr>
          <a:xfrm>
            <a:off x="6107277" y="2966085"/>
            <a:ext cx="2796600" cy="20541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95"/>
          <p:cNvSpPr/>
          <p:nvPr/>
        </p:nvSpPr>
        <p:spPr>
          <a:xfrm>
            <a:off x="6107277" y="2966085"/>
            <a:ext cx="2796600" cy="274200"/>
          </a:xfrm>
          <a:prstGeom prst="rect">
            <a:avLst/>
          </a:prstGeom>
          <a:solidFill>
            <a:srgbClr val="E53A2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95"/>
          <p:cNvSpPr txBox="1"/>
          <p:nvPr/>
        </p:nvSpPr>
        <p:spPr>
          <a:xfrm>
            <a:off x="6182715" y="2966085"/>
            <a:ext cx="2645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6857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FC-6  </a:t>
            </a:r>
            <a:r>
              <a:rPr b="0"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func returning bool</a:t>
            </a:r>
            <a:endParaRPr sz="1100"/>
          </a:p>
        </p:txBody>
      </p:sp>
      <p:sp>
        <p:nvSpPr>
          <p:cNvPr id="1097" name="Google Shape;1097;p95"/>
          <p:cNvSpPr txBox="1"/>
          <p:nvPr/>
        </p:nvSpPr>
        <p:spPr>
          <a:xfrm>
            <a:off x="6182715" y="3315843"/>
            <a:ext cx="2645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6857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en" sz="11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unc</a:t>
            </a:r>
            <a:r>
              <a:rPr lang="en" sz="11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1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hit_wall</a:t>
            </a:r>
            <a:r>
              <a:rPr lang="en" sz="11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(n) -&gt; </a:t>
            </a:r>
            <a:r>
              <a:rPr lang="en" sz="11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n" sz="11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1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1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(*some condition*)</a:t>
            </a:r>
            <a:endParaRPr sz="1100">
              <a:solidFill>
                <a:srgbClr val="E6E6E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" sz="11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100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true</a:t>
            </a:r>
            <a:endParaRPr sz="1100">
              <a:solidFill>
                <a:srgbClr val="E6E6E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098" name="Google Shape;1098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96"/>
          <p:cNvSpPr/>
          <p:nvPr/>
        </p:nvSpPr>
        <p:spPr>
          <a:xfrm>
            <a:off x="0" y="0"/>
            <a:ext cx="9143700" cy="65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de_logo_red.png" id="1104" name="Google Shape;1104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" y="102870"/>
            <a:ext cx="588326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1105" name="Google Shape;1105;p96"/>
          <p:cNvSpPr txBox="1"/>
          <p:nvPr/>
        </p:nvSpPr>
        <p:spPr>
          <a:xfrm>
            <a:off x="788670" y="3429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iCode</a:t>
            </a:r>
            <a:endParaRPr sz="1100"/>
          </a:p>
        </p:txBody>
      </p:sp>
      <p:sp>
        <p:nvSpPr>
          <p:cNvPr id="1106" name="Google Shape;1106;p96"/>
          <p:cNvSpPr txBox="1"/>
          <p:nvPr/>
        </p:nvSpPr>
        <p:spPr>
          <a:xfrm>
            <a:off x="788670" y="411480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EMPOWERING FUTURE INNOVATORS</a:t>
            </a:r>
            <a:endParaRPr sz="1100"/>
          </a:p>
        </p:txBody>
      </p:sp>
      <p:sp>
        <p:nvSpPr>
          <p:cNvPr id="1107" name="Google Shape;1107;p96"/>
          <p:cNvSpPr txBox="1"/>
          <p:nvPr/>
        </p:nvSpPr>
        <p:spPr>
          <a:xfrm>
            <a:off x="7840751" y="171450"/>
            <a:ext cx="109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E53A2C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endParaRPr sz="1100"/>
          </a:p>
        </p:txBody>
      </p:sp>
      <p:sp>
        <p:nvSpPr>
          <p:cNvPr id="1108" name="Google Shape;1108;p96"/>
          <p:cNvSpPr txBox="1"/>
          <p:nvPr/>
        </p:nvSpPr>
        <p:spPr>
          <a:xfrm>
            <a:off x="8457971" y="4834890"/>
            <a:ext cx="54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87</a:t>
            </a:r>
            <a:endParaRPr sz="1100"/>
          </a:p>
        </p:txBody>
      </p:sp>
      <p:sp>
        <p:nvSpPr>
          <p:cNvPr id="1109" name="Google Shape;1109;p96"/>
          <p:cNvSpPr txBox="1"/>
          <p:nvPr/>
        </p:nvSpPr>
        <p:spPr>
          <a:xfrm>
            <a:off x="342900" y="1951181"/>
            <a:ext cx="84579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1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Well done broskis</a:t>
            </a:r>
            <a:endParaRPr b="1" i="0" sz="41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10" name="Google Shape;1110;p96"/>
          <p:cNvSpPr txBox="1"/>
          <p:nvPr/>
        </p:nvSpPr>
        <p:spPr>
          <a:xfrm>
            <a:off x="342900" y="3120390"/>
            <a:ext cx="8457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>
                <a:solidFill>
                  <a:srgbClr val="8A8A8A"/>
                </a:solidFill>
                <a:latin typeface="Poppins"/>
                <a:ea typeface="Poppins"/>
                <a:cs typeface="Poppins"/>
                <a:sym typeface="Poppins"/>
              </a:rPr>
              <a:t>See you tomorrow</a:t>
            </a:r>
            <a:endParaRPr b="0" i="0" sz="1800">
              <a:solidFill>
                <a:srgbClr val="8A8A8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