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3" r:id="rId36"/>
    <p:sldId id="294" r:id="rId37"/>
    <p:sldId id="295" r:id="rId38"/>
    <p:sldId id="296" r:id="rId39"/>
    <p:sldId id="298" r:id="rId40"/>
    <p:sldId id="299" r:id="rId41"/>
    <p:sldId id="300" r:id="rId42"/>
    <p:sldId id="301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3" r:id="rId53"/>
    <p:sldId id="314" r:id="rId54"/>
    <p:sldId id="315" r:id="rId55"/>
    <p:sldId id="316" r:id="rId56"/>
    <p:sldId id="317" r:id="rId57"/>
    <p:sldId id="319" r:id="rId58"/>
    <p:sldId id="320" r:id="rId59"/>
    <p:sldId id="321" r:id="rId60"/>
    <p:sldId id="322" r:id="rId61"/>
    <p:sldId id="324" r:id="rId62"/>
    <p:sldId id="326" r:id="rId63"/>
    <p:sldId id="327" r:id="rId64"/>
    <p:sldId id="328" r:id="rId65"/>
    <p:sldId id="329" r:id="rId66"/>
    <p:sldId id="330" r:id="rId67"/>
    <p:sldId id="332" r:id="rId68"/>
    <p:sldId id="333" r:id="rId69"/>
    <p:sldId id="334" r:id="rId70"/>
    <p:sldId id="335" r:id="rId71"/>
    <p:sldId id="336" r:id="rId72"/>
    <p:sldId id="337" r:id="rId73"/>
    <p:sldId id="338" r:id="rId74"/>
    <p:sldId id="339" r:id="rId75"/>
    <p:sldId id="340" r:id="rId76"/>
    <p:sldId id="341" r:id="rId77"/>
    <p:sldId id="342" r:id="rId78"/>
    <p:sldId id="343" r:id="rId79"/>
    <p:sldId id="345" r:id="rId80"/>
    <p:sldId id="346" r:id="rId81"/>
    <p:sldId id="347" r:id="rId82"/>
    <p:sldId id="348" r:id="rId83"/>
    <p:sldId id="349" r:id="rId84"/>
    <p:sldId id="350" r:id="rId85"/>
    <p:sldId id="351" r:id="rId86"/>
    <p:sldId id="352" r:id="rId87"/>
    <p:sldId id="353" r:id="rId88"/>
    <p:sldId id="367" r:id="rId89"/>
    <p:sldId id="363" r:id="rId90"/>
    <p:sldId id="364" r:id="rId91"/>
    <p:sldId id="365" r:id="rId92"/>
    <p:sldId id="355" r:id="rId9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32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01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Day 3 — Base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whole genre — invented by modders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Rampart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(1990) — hybrid first attempt. Castle walls + cannonballs.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Warcraft III custom maps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(2002–2007) — entire genre invented by players tweaking someone else's game.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Plants vs Zombies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(2009) — mainstream breakout. 6 million copies in a year.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Bloons / Kingdom Rush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mobile-era boom. Still going.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Takeaway: every tower defense game you've ever played traces back to a Warcraft III modder.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Yesterday →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Day 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Loops + intro Functions. You made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loops and named blocks of code.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Day 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Lists + Deeper 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-loop shape, new things to loop over.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Today's two new ideas: a list is a collection of things. A deeper function scans a list, returns something, and calls other functions.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1 ✓ Pong — Vars + Conditions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2 ✓ Pac-Man — Loops + Functions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Day 3 ← Base Defense — Lists + Deeper Functions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4 Fighter — Objects + State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5 Escape Room — Showcase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Today: Lists + Deeper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Lists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collection of things your code can remember, walk through, add to, or remove from.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Deeper 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functions that scan lists, return something useful, and chain into each other.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Lists work the same. Functions look the same. The only two-word change: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.remove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.erase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len()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.size()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112772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11277295" cy="39776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Python:   enemies = []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GDScript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: </a:t>
            </a:r>
            <a:r>
              <a:rPr sz="180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enemies = []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Python:  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enemies.append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(</a:t>
            </a:r>
            <a:r>
              <a:rPr sz="1800" dirty="0">
                <a:solidFill>
                  <a:srgbClr val="CE9178"/>
                </a:solidFill>
                <a:latin typeface="Consolas"/>
              </a:rPr>
              <a:t>"grunt"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GDScript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: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enemies.append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(</a:t>
            </a:r>
            <a:r>
              <a:rPr sz="1800" dirty="0">
                <a:solidFill>
                  <a:srgbClr val="CE9178"/>
                </a:solidFill>
                <a:latin typeface="Consolas"/>
              </a:rPr>
              <a:t>"grunt"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Python:  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enemies.remove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(</a:t>
            </a:r>
            <a:r>
              <a:rPr sz="1800" dirty="0">
                <a:solidFill>
                  <a:srgbClr val="CE9178"/>
                </a:solidFill>
                <a:latin typeface="Consolas"/>
              </a:rPr>
              <a:t>"grunt"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GDScript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: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enemies.erase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(</a:t>
            </a:r>
            <a:r>
              <a:rPr sz="1800" dirty="0">
                <a:solidFill>
                  <a:srgbClr val="CE9178"/>
                </a:solidFill>
                <a:latin typeface="Consolas"/>
              </a:rPr>
              <a:t>"grunt"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Python:  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len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(enemies)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GDScript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: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enemies.size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()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Python:   def total(numbers):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GDScript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: </a:t>
            </a:r>
            <a:r>
              <a:rPr sz="1800" dirty="0" err="1">
                <a:solidFill>
                  <a:srgbClr val="569CD6"/>
                </a:solidFill>
                <a:latin typeface="Consolas"/>
              </a:rPr>
              <a:t>func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total(numbers):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Pre-coding setup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A — Open the Day 3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Open the Base Defense project the same way you did yesterday.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A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Godot Launcher → Import button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Navigate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Day3_BaseDef_Game/project.godot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 &amp; Edit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Open main.gd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the Script editor — same way as yesterday.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B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FileSystem panel (bottom-left) → 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Double-click → Script editor opens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pic>
        <p:nvPicPr>
          <p:cNvPr id="8" name="Picture 7" descr="D3WDK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41386"/>
            <a:ext cx="6766377" cy="296958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66537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3372237"/>
            <a:ext cx="4236598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Find the difficulty constant in </a:t>
            </a:r>
            <a:r>
              <a:rPr sz="2000" b="0" i="0" dirty="0" err="1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DK — Change it to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const DIFFICULTY := 2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Change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0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Ctrl+S to save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dirty="0">
                <a:solidFill>
                  <a:srgbClr val="1A1A1A"/>
                </a:solidFill>
                <a:latin typeface="Poppins"/>
              </a:rPr>
              <a:t>What just happened?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That's 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list used as a lookup table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DIFF_HP_MULT[DIFFICULTY]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picks the multiplier at index 0, 1, or 2.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You'll learn how lists work in a minute. Change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DIFFICULTY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back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for now.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1575"/>
            <a:ext cx="11277295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 dirty="0">
                <a:solidFill>
                  <a:srgbClr val="1A1A1A"/>
                </a:solidFill>
                <a:latin typeface="Poppins"/>
              </a:rPr>
              <a:t>List</a:t>
            </a:r>
            <a:r>
              <a:rPr lang="en-US" sz="5400" b="1" i="0" dirty="0">
                <a:solidFill>
                  <a:srgbClr val="1A1A1A"/>
                </a:solidFill>
                <a:latin typeface="Poppins"/>
              </a:rPr>
              <a:t>s</a:t>
            </a:r>
            <a:endParaRPr sz="5400" b="1" i="0" dirty="0">
              <a:solidFill>
                <a:srgbClr val="1A1A1A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list is things in a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Position 0 is the first slot. Position 4 is the last.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Each thing has a number — its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index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Five things you can do to a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add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something to the end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.append()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remove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something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.erase()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count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how many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.size()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walk through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them one at a time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x in list: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filter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for only the ones you care about — write a function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Each of these has a code word. You'll use all of them today.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a list looks like in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var games := []                      # empty list var fruits := ["apple", "banana"]    # list with two items var score := 0                       # not a list — just a counter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Adding to the library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New game. Slides into the next open slot.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 Base Defense: every time an enemy spawns, it slides into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Lists in every game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Pac-Man: a list of ghost positions — already used this in D2.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RPG: inventory list, quest list, party list.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Base Defense: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(who's alive),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towers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(what's placed),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enemies_to_spawn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(spawn queue for this wave).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Base Defense needs four things to remember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list of every enemy currently on the field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towers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list of every tower the player has placed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coins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how many coins the player has right now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base_hp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how much health the base has left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Nothing else in the file works without these four. They're the memory of the whole game.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these live at the top of the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Variables declared outside any function are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file-level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Every function can read and change them.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spawn_enemy()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will push into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kill_enemy()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will pull from it.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_process()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will walk it.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they weren't at the top, each function would have its own private copy — and they'd never talk to each other.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Two empty libraries and two counters. The whole game hangs on these four 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games := []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coins := </a:t>
            </a:r>
            <a:r>
              <a:rPr sz="1800">
                <a:solidFill>
                  <a:srgbClr val="B5CEA8"/>
                </a:solidFill>
                <a:latin typeface="Consolas"/>
              </a:rPr>
              <a:t>100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67AC0B-EC8A-C50E-0C10-B7FA0BF91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441" y="3036124"/>
            <a:ext cx="5814934" cy="345611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1E07EE2-A521-D1A0-262C-800C403AF194}"/>
              </a:ext>
            </a:extLst>
          </p:cNvPr>
          <p:cNvSpPr/>
          <p:nvPr/>
        </p:nvSpPr>
        <p:spPr>
          <a:xfrm>
            <a:off x="6481109" y="3884072"/>
            <a:ext cx="5158753" cy="807849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Declarations done — no fireworks yet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These variables are invisible until the rest of the chunks wire them up. Trust the process.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Quick check before running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Four vars declared at file level?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towers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empty lists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[]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coins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START_COINS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base_hp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START_BASE_HP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Yes to all three → let's run.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C — Run your game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Run the game and confirm it opens without errors.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C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F5 → "Set Main Scene?" → Select Current → game window opens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F8 to stop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D — Game didn't open?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Find the error in the Output panel.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D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Output panel (bottom of editor) → look for red text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Click the blue line number → editor jumps to the problem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Fix the typo → Ctrl+S → F5 again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You've got two empty libraries — time to fill and drain 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starts empty. The game needs to add enemies when they spawn, and remove them when they die or reach the base.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towers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starts empty. The game adds a tower when the player places one.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Two operations. One word each: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.append()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adds.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.erase()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removes.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.append()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.erase()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Left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row of 4 tiles, 5th tile slides in from right.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Right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: row of 5 tiles, one fades out, others shift left.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 Base Defense: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enemies.append(e)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when a new enemy spawns.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enemies.erase(e)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when it dies or gets through.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 — what's at position 2?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Library: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["Spider-Man", "FIFA", "Minecraft", "Stardew"]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delete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"Minecraft"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What's at position 2 now?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Answer: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"Stardew"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Erasing shifts everything after it forward by one.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Three places in Base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Enemy spawns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.append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Tower kills enemy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.erase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from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+ add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reward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coins.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Enemy reaches base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.erase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from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(no bounty — the enemy got through).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Three holes. Same idea.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append: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library.append(</a:t>
            </a:r>
            <a:r>
              <a:rPr sz="1800">
                <a:solidFill>
                  <a:srgbClr val="CE9178"/>
                </a:solidFill>
                <a:latin typeface="Consolas"/>
              </a:rPr>
              <a:t>"Hogwarts Legacy"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erase + pay: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library.erase(</a:t>
            </a:r>
            <a:r>
              <a:rPr sz="1800">
                <a:solidFill>
                  <a:srgbClr val="CE9178"/>
                </a:solidFill>
                <a:latin typeface="Consolas"/>
              </a:rPr>
              <a:t>"Old Game"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coins += </a:t>
            </a:r>
            <a:r>
              <a:rPr sz="1800">
                <a:solidFill>
                  <a:srgbClr val="B5CEA8"/>
                </a:solidFill>
                <a:latin typeface="Consolas"/>
              </a:rPr>
              <a:t>50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erase only: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library.erase(</a:t>
            </a:r>
            <a:r>
              <a:rPr sz="1800">
                <a:solidFill>
                  <a:srgbClr val="CE9178"/>
                </a:solidFill>
                <a:latin typeface="Consolas"/>
              </a:rPr>
              <a:t>"Bad Game"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3675329-A82E-8ADF-2253-CB0ECB474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7" y="3044597"/>
            <a:ext cx="5994816" cy="328340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1B62DEB-FFCB-C0DD-59A4-9E17EFBABFAE}"/>
              </a:ext>
            </a:extLst>
          </p:cNvPr>
          <p:cNvSpPr/>
          <p:nvPr/>
        </p:nvSpPr>
        <p:spPr>
          <a:xfrm>
            <a:off x="6193938" y="4221887"/>
            <a:ext cx="5798634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Same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for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. Same shape. New lists.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D2: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ghost in ghosts: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 walked every ghost.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D3: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enemy in enemies: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same.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tower in towers: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same again.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only new thing: you're doing it twice, once for each list.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D2 shape — you already wrote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for colour in ["red", "green", "blue"]: print(colour) Same shape you wrote yesterday. Today the list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The action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step_enemy(e)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Every frame: two sweeps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frame: walk every enemy → step it forward by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delta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It moves one tick toward the base.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frame: walk every tower → tick its cooldown. If cooldown hits zero, it tries to fire.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Without both loops: the field is frozen. Nothing moves, nothing shoots.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Two for-loops, back to back. Each sweeps one list.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for</a:t>
            </a:r>
            <a:r>
              <a:rPr sz="1800">
                <a:solidFill>
                  <a:srgbClr val="E6E6E6"/>
                </a:solidFill>
                <a:latin typeface="Consolas"/>
              </a:rPr>
              <a:t> game in library: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(game)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F8A9BDC-0EFF-5558-4911-1495A348A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125" y="2971800"/>
            <a:ext cx="4979538" cy="381602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B8FE574-C456-2DDA-3DDE-250CDCAFF90E}"/>
              </a:ext>
            </a:extLst>
          </p:cNvPr>
          <p:cNvSpPr/>
          <p:nvPr/>
        </p:nvSpPr>
        <p:spPr>
          <a:xfrm>
            <a:off x="6233007" y="4879814"/>
            <a:ext cx="4807249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Yesterday: one value in. Today: a whole list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D2: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add_points(amount):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 handed in one number.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D3: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move_all(enemy_list, delta):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 hand in a whole list.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function can take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anything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as input — including a list you've already built.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D2: one thing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func add_points(amount): score += amount Yesterday: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amount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was a number. Today: it can be a list.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Imagine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import_library(games)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hand the function your whole PS5 library at once.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Inside the function, it does something to every game in that list.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move_all(enemy_list, 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same idea — hand it the list, it steps every item.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Same shape as chunk #3 — just using the list that was handed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total(numbers):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s =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for</a:t>
            </a:r>
            <a:r>
              <a:rPr sz="1800">
                <a:solidFill>
                  <a:srgbClr val="E6E6E6"/>
                </a:solidFill>
                <a:latin typeface="Consolas"/>
              </a:rPr>
              <a:t> n in numbers: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s += n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  <a:r>
              <a:rPr sz="1800">
                <a:solidFill>
                  <a:srgbClr val="E6E6E6"/>
                </a:solidFill>
                <a:latin typeface="Consolas"/>
              </a:rPr>
              <a:t> 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E0F83DD-C215-3DBE-C02D-FCCFD95F1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7" y="3323123"/>
            <a:ext cx="6009253" cy="270292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Tool in the toolbox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move_all()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done but nothing calls it yet.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could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refactor your chunk #3 enemy loop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move_all(enemies, delta)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same result.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Concept: the same loop logic, but packaged so anyone can hand in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any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list, not just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Deeper Functions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function that hands something 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So far: functions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things.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step_enemy()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spawn_enemy()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move_all()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all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New: a function can also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answer a question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You call it → it gives you something back.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 "something back" is called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return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```gdscript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Image: none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Caption: "The function runs, does work, then hands the result back with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return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Notes: This is the D2 Chunk #6 callback (they wrote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hit_wall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which returned a bool). Lean on it: "You already did this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hit_wall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returned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Today the function returns a game node."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Return — code shape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func find_best(list): var best = null for item in list: # check if item is better than best best = item return best Three parts: start with nothing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null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), scan the list, hand back the winner.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backpack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You grab the snack. You put it in your backpack.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add_to_backpack(snack)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Another function. Input = snack, output = nothing (your backpack just changed).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Output of one feeds input of the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Diagram with arrow: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vend("B4")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returns snack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add_to_backpack(snack)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first function's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answer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second function's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question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Two ways to write the same 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# Long form (two lines): var snack = vend("B4") add_to_backpack(snack) # Short / nested form (one line): add_to_backpack(vend("B4")) Same exact result. The inside function runs first.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Best-so-far — the shape of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get_nearest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var best = null var best_d = 999999.0 for item in list: var d = pos.distance_to(item.position) if d &lt; best_d: best = item best_d = d return best Start with no winner. Walk the list. If this one is closer than the current best, it's the new best.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Base Defense — which enemy to shoot?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Cannon and Sniper both ask: which enemy is closest AND still in range?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get_nearest_enemy_in_range(pos, tower_range)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walks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tracks the closest one within range, and returns it.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vending machine drops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that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enemy. The backpack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fire_at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 will be chunk #6's job.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Walk every enemy. Track the closest one in range. The init and return are already written.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nearest(list, pos):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best = </a:t>
            </a:r>
            <a:r>
              <a:rPr sz="1800">
                <a:solidFill>
                  <a:srgbClr val="DCDCAA"/>
                </a:solidFill>
                <a:latin typeface="Consolas"/>
              </a:rPr>
              <a:t>null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best_d = </a:t>
            </a:r>
            <a:r>
              <a:rPr sz="1800">
                <a:solidFill>
                  <a:srgbClr val="B5CEA8"/>
                </a:solidFill>
                <a:latin typeface="Consolas"/>
              </a:rPr>
              <a:t>999999.0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for</a:t>
            </a:r>
            <a:r>
              <a:rPr sz="1800">
                <a:solidFill>
                  <a:srgbClr val="E6E6E6"/>
                </a:solidFill>
                <a:latin typeface="Consolas"/>
              </a:rPr>
              <a:t> item in list: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d = pos.distance_to(item.position)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d &lt; best_d: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    best = item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    best_d = d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  <a:r>
              <a:rPr sz="1800">
                <a:solidFill>
                  <a:srgbClr val="E6E6E6"/>
                </a:solidFill>
                <a:latin typeface="Consolas"/>
              </a:rPr>
              <a:t> best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25C58F3-6606-D725-12F8-7FDC43AAF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135" y="2938073"/>
            <a:ext cx="5116337" cy="3653563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#5a just gave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get_nearest_enemy_in_range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vending machine.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call it with a position and a range. It hands back the closest enemy —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null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if no one's in range.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Chunk #6 will be the backpack: take that enemy and fire at it.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No payoff yet — towers fire in chunk #6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The function is built. The vending machine is stocked. Next: plug it into the tower loop.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#5a returned </a:t>
            </a:r>
            <a:r>
              <a:rPr sz="3600" b="1" i="1">
                <a:solidFill>
                  <a:srgbClr val="1A1A1A"/>
                </a:solidFill>
                <a:latin typeface="Poppins"/>
              </a:rPr>
              <a:t>one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enemy. #5b returns </a:t>
            </a:r>
            <a:r>
              <a:rPr sz="3600" b="1" i="1">
                <a:solidFill>
                  <a:srgbClr val="1A1A1A"/>
                </a:solidFill>
                <a:latin typeface="Poppins"/>
              </a:rPr>
              <a:t>all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enemies in range.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Cannon: finds the nearest enemy. Returns one node.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Splash: finds every enemy in a radius. Returns a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list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of nodes.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Same vending machine idea — different output size.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Filter the list — keep only what you want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func filter_close(list, pos, radius): var result := [] for item in list: if pos.distance_to(item.position) &lt;= radius: result.append(item) return result Start with an empty list. Walk. If this item passes the test, add it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result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Return the full result at the end.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Build a fresh list. Add every enemy within radius. Return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result := []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for</a:t>
            </a:r>
            <a:r>
              <a:rPr sz="1800">
                <a:solidFill>
                  <a:srgbClr val="E6E6E6"/>
                </a:solidFill>
                <a:latin typeface="Consolas"/>
              </a:rPr>
              <a:t> e in enemies: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pos.distance_to(e.position) &lt;= radius: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result.append(e)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  <a:r>
              <a:rPr sz="1800">
                <a:solidFill>
                  <a:srgbClr val="E6E6E6"/>
                </a:solidFill>
                <a:latin typeface="Consolas"/>
              </a:rPr>
              <a:t> result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97F034A-1487-C44A-B519-787F75BFA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172" y="3243122"/>
            <a:ext cx="5781643" cy="283230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Three functions built. Time to plug them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steps every enemy. ✓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get_nearest_enemy_in_range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finds the closest target. ✓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get_enemies_in_radius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finds everyone in a blast zone. ✓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Chunk #6: connect the vending machines to the backpacks. This is the chunk that makes the game playable.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match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dispatcher is pre-given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match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a Day 4 concept — it routes based on what something equals.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Today: it's already written for you. It checks the tower type and jumps to the right branch.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fill in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what each branch does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Diagram: tower type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match t_type: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two paths: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"cannon"/"sniper"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branch → #6a,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"splash"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branch → #6b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Two tower types, two targeting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| Tower | Targeting | Function | </a:t>
            </a:r>
            <a:endParaRPr lang="en-US" sz="2000" b="0" i="0" dirty="0">
              <a:solidFill>
                <a:srgbClr val="1A1A1A"/>
              </a:solidFill>
              <a:latin typeface="Poppins"/>
            </a:endParaRPr>
          </a:p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|---|---|---| </a:t>
            </a:r>
            <a:endParaRPr lang="en-US" sz="2000" b="0" i="0" dirty="0">
              <a:solidFill>
                <a:srgbClr val="1A1A1A"/>
              </a:solidFill>
              <a:latin typeface="Poppins"/>
            </a:endParaRPr>
          </a:p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| Cannon, Sniper | Single nearest enemy </a:t>
            </a:r>
            <a:endParaRPr lang="en-US" sz="2000" b="0" i="0" dirty="0">
              <a:solidFill>
                <a:srgbClr val="1A1A1A"/>
              </a:solidFill>
              <a:latin typeface="Poppins"/>
            </a:endParaRPr>
          </a:p>
          <a:p>
            <a:pPr algn="l"/>
            <a:r>
              <a:rPr sz="2000" b="0" i="0" dirty="0" err="1">
                <a:solidFill>
                  <a:srgbClr val="1A1A1A"/>
                </a:solidFill>
                <a:latin typeface="Consolas"/>
              </a:rPr>
              <a:t>get_nearest_enemy_in_range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(#5a) </a:t>
            </a:r>
            <a:endParaRPr lang="en-US" sz="2000" dirty="0">
              <a:solidFill>
                <a:srgbClr val="1A1A1A"/>
              </a:solidFill>
              <a:latin typeface="Poppins"/>
            </a:endParaRPr>
          </a:p>
          <a:p>
            <a:pPr algn="l"/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	S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plash | All enemies in radius  </a:t>
            </a:r>
            <a:endParaRPr lang="en-US" sz="2000" b="0" i="0" dirty="0">
              <a:solidFill>
                <a:srgbClr val="1A1A1A"/>
              </a:solidFill>
              <a:latin typeface="Poppins"/>
            </a:endParaRPr>
          </a:p>
          <a:p>
            <a:pPr algn="l"/>
            <a:r>
              <a:rPr sz="2000" b="0" i="0" dirty="0" err="1">
                <a:solidFill>
                  <a:srgbClr val="1A1A1A"/>
                </a:solidFill>
                <a:latin typeface="Consolas"/>
              </a:rPr>
              <a:t>get_enemies_in_radius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(#5b) </a:t>
            </a:r>
            <a:endParaRPr lang="en-US" sz="2000" dirty="0">
              <a:solidFill>
                <a:srgbClr val="1A1A1A"/>
              </a:solidFill>
              <a:latin typeface="Poppins"/>
            </a:endParaRPr>
          </a:p>
          <a:p>
            <a:pPr algn="l"/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	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Each branch: pick the target, fire if something's there, reset the cooldown.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Vending machine drops the target. If something dropped, fire at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snack = vend(</a:t>
            </a:r>
            <a:r>
              <a:rPr sz="1800">
                <a:solidFill>
                  <a:srgbClr val="CE9178"/>
                </a:solidFill>
                <a:latin typeface="Consolas"/>
              </a:rPr>
              <a:t>"B4"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snack != </a:t>
            </a:r>
            <a:r>
              <a:rPr sz="1800">
                <a:solidFill>
                  <a:srgbClr val="DCDCAA"/>
                </a:solidFill>
                <a:latin typeface="Consolas"/>
              </a:rPr>
              <a:t>null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add_to_backpack(snack)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EBABA59-726E-5102-ACB6-023F203C5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859" y="2941617"/>
            <a:ext cx="5040622" cy="358080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340860A-001C-85B9-6746-F5EA33FDC7BA}"/>
              </a:ext>
            </a:extLst>
          </p:cNvPr>
          <p:cNvSpPr/>
          <p:nvPr/>
        </p:nvSpPr>
        <p:spPr>
          <a:xfrm>
            <a:off x="6603294" y="5612130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Quick playtest — place towers, start a wave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1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(Cannon),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2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(Sniper),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3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(Splash). Click to place.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Enter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to start the wave.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One more thing — how does the game know a wave is done?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just beat wave 1 (maybe). How did the game know it was over?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That's chunk #7 — the wave trigger check. Last chunk.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How does the game know a wave is done?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"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enemies.size()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how many enemies are alive on the field right now.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library.size()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how many games you own.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.size()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same idea.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enemies.size() == 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the field is empty. But is the wave actually done?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Quiz — is the wave done?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"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enemies.size() == 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is the wave done?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Trick question.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Maybe not.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There could still be enemies waiting to spawn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enemies_to_spawn.size() &gt; 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Both lists must be empty AND a wave must actually be in progress.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Answer: check three conditions together with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and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Wave done → what happens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Flip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wave_in_progress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off.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Bump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wave_index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wave_index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past the last wave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you_win()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Otherwise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start_next_wave()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lang="en-US" sz="2000" b="1" i="0" dirty="0">
                <a:solidFill>
                  <a:srgbClr val="1A1A1A"/>
                </a:solidFill>
                <a:latin typeface="Poppins"/>
              </a:rPr>
              <a:t>IF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Both lists empty AND wave in progress → end the wave.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library.size() ==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"buy a game!"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8597DBE-C114-0C52-4100-EEF19D63B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809" y="3020813"/>
            <a:ext cx="5704006" cy="321568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Make it yours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Seven ways to make Base Defense yours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1. Tune tower stats in code 2. Re-tint a tower with Modulate 3. Swap a tower's sprite tile 4. Drag a Kenney scenery prop into the scene 5. Flip the difficulty knob 6. (stretch) Edit the wave list 7. (stretch) Add a new wave entry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80</a:t>
            </a:r>
          </a:p>
        </p:txBody>
      </p:sp>
      <p:pic>
        <p:nvPicPr>
          <p:cNvPr id="8" name="Picture 7" descr="D3B1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14619"/>
            <a:ext cx="6766377" cy="482312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41284" y="4078972"/>
            <a:ext cx="4172925" cy="1062653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TOWER_STATS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It's near the top.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Beat 1 — Change the damage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Find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"damage"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key for Cannon (default: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Change it to something wild — try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30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Ctrl+S.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Beat 2 — Re-tint a tower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Cannon is orange by default. Find the color value 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TOWER_STATS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83</a:t>
            </a:r>
          </a:p>
        </p:txBody>
      </p:sp>
      <p:pic>
        <p:nvPicPr>
          <p:cNvPr id="8" name="Picture 7" descr="D3B2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23248"/>
            <a:ext cx="6766377" cy="340586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377840" y="3792510"/>
            <a:ext cx="5382723" cy="682053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Beat 2 — Change the color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84</a:t>
            </a:r>
          </a:p>
        </p:txBody>
      </p:sp>
      <p:pic>
        <p:nvPicPr>
          <p:cNvPr id="8" name="Picture 7" descr="D3B3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342" y="1143000"/>
            <a:ext cx="4446092" cy="5166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527085" y="318593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Browse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assets/kenney_td/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the FileSystem panel. Pick a tile number you like.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85</a:t>
            </a:r>
          </a:p>
        </p:txBody>
      </p:sp>
      <p:pic>
        <p:nvPicPr>
          <p:cNvPr id="8" name="Picture 7" descr="D3B3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46452"/>
            <a:ext cx="6766377" cy="115945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21902" y="3372786"/>
            <a:ext cx="1089132" cy="630711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Beat 3 — Edit the tile number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Beat 3 — New tile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Ctrl+S → F5. Your Cannon now has a different sprite.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87</a:t>
            </a:r>
          </a:p>
        </p:txBody>
      </p:sp>
      <p:pic>
        <p:nvPicPr>
          <p:cNvPr id="8" name="Picture 7" descr="D3B4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126" y="1143000"/>
            <a:ext cx="3708525" cy="5166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965960" y="3082128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Scene dock, find and 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Scenery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Beat 4 — Drag a prop from FileSystem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 the FileSystem panel, browse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assets/kenney_td/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Find a tree, rock, or decorative tile you like.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Drag it from FileSystem into the viewport (while Scenery is selected).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Beat 5 — Make it brutally hard (or easy)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Remember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DIFFICULTY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from Walk DK? Change it again. Try 0 (easy), 1 (medium), 2 (hard).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Beat 6 — Edit the wave list (stretch)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Find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WAVES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array near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Add a wave, change a count, change a type.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Beat 6 — Change a wave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Find a wave entry like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[5, "basic"]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Change the count: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[20, "basic"]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twenty basics!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Or change the type: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[5, "runner"]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fast runners.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Ctrl+S, F5.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Beat 7 — Add a boss wave (stretch)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At the end of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WAVES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array, add a new entry: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[20, \"runner\"]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That's your boss wave.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Final Challenge — Endless Mode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endless mode looks like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Rip out the 8 waves. Spawn forever. Everything ramps.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No win screen. The game ends only when the base falls.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Waves get harder every time you clear the field. The gap between spawns shrinks. Enemies get faster.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 already know how to do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(declare state vars)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FC-2a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#2a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.append()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a list)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FC-2b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#2b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.erase()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from a list + reward)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#3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(iterate two lists each frame)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(function takes a list as a parameter)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FC-5a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#5a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(function returns ONE from a list)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FC-5b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#5b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(function returns a LIST from a list)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FC-6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#6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match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+ per-branch nested calls)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FC-7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#7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list.size()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 + state transition)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scroll to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ENDLESS_MODE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constant near the top.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A764BBB-122A-0596-7863-A478B4A8C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05" y="2000265"/>
            <a:ext cx="6987501" cy="3553591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Enable endless mode — 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Change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const ENDLESS_MODE := false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const ENDLESS_MODE := true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Ctrl+S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4592"/>
            <a:ext cx="685800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Poppins"/>
              </a:rPr>
              <a:t>Final Challenge — Board Examples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33272"/>
            <a:ext cx="3740810" cy="1776984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033272"/>
            <a:ext cx="3740810" cy="310896"/>
          </a:xfrm>
          <a:prstGeom prst="rect">
            <a:avLst/>
          </a:prstGeom>
          <a:solidFill>
            <a:srgbClr val="E5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2336" y="1033272"/>
            <a:ext cx="3576218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Poppins"/>
              </a:rPr>
              <a:t>FC-1  </a:t>
            </a:r>
            <a:r>
              <a:rPr sz="1100" b="0">
                <a:solidFill>
                  <a:srgbClr val="FFFFFF"/>
                </a:solidFill>
                <a:latin typeface="Poppins"/>
              </a:rPr>
              <a:t>state vars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" y="1426464"/>
            <a:ext cx="3576218" cy="13014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5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050" dirty="0">
                <a:solidFill>
                  <a:srgbClr val="E6E6E6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E6E6E6"/>
                </a:solidFill>
                <a:latin typeface="Consolas"/>
              </a:rPr>
              <a:t>spawn_timer</a:t>
            </a:r>
            <a:r>
              <a:rPr sz="1050" dirty="0">
                <a:solidFill>
                  <a:srgbClr val="E6E6E6"/>
                </a:solidFill>
                <a:latin typeface="Consolas"/>
              </a:rPr>
              <a:t>: </a:t>
            </a:r>
            <a:r>
              <a:rPr sz="1050" dirty="0">
                <a:solidFill>
                  <a:srgbClr val="4EC9B0"/>
                </a:solidFill>
                <a:latin typeface="Consolas"/>
              </a:rPr>
              <a:t>float</a:t>
            </a:r>
            <a:r>
              <a:rPr sz="1050" dirty="0">
                <a:solidFill>
                  <a:srgbClr val="E6E6E6"/>
                </a:solidFill>
                <a:latin typeface="Consolas"/>
              </a:rPr>
              <a:t> = </a:t>
            </a:r>
            <a:r>
              <a:rPr sz="1050" dirty="0">
                <a:solidFill>
                  <a:srgbClr val="B5CEA8"/>
                </a:solidFill>
                <a:latin typeface="Consolas"/>
              </a:rPr>
              <a:t>0.0</a:t>
            </a:r>
          </a:p>
          <a:p>
            <a:r>
              <a:rPr sz="105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050" dirty="0">
                <a:solidFill>
                  <a:srgbClr val="E6E6E6"/>
                </a:solidFill>
                <a:latin typeface="Consolas"/>
              </a:rPr>
              <a:t> difficulty: </a:t>
            </a:r>
            <a:r>
              <a:rPr sz="1050" dirty="0">
                <a:solidFill>
                  <a:srgbClr val="4EC9B0"/>
                </a:solidFill>
                <a:latin typeface="Consolas"/>
              </a:rPr>
              <a:t>int</a:t>
            </a:r>
            <a:r>
              <a:rPr sz="1050" dirty="0">
                <a:solidFill>
                  <a:srgbClr val="E6E6E6"/>
                </a:solidFill>
                <a:latin typeface="Consolas"/>
              </a:rPr>
              <a:t> = </a:t>
            </a:r>
            <a:r>
              <a:rPr sz="1050" dirty="0">
                <a:solidFill>
                  <a:srgbClr val="B5CEA8"/>
                </a:solidFill>
                <a:latin typeface="Consolas"/>
              </a:rPr>
              <a:t>1</a:t>
            </a:r>
          </a:p>
          <a:p>
            <a:r>
              <a:rPr sz="105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050" dirty="0">
                <a:solidFill>
                  <a:srgbClr val="E6E6E6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E6E6E6"/>
                </a:solidFill>
                <a:latin typeface="Consolas"/>
              </a:rPr>
              <a:t>spawn_interval</a:t>
            </a:r>
            <a:r>
              <a:rPr sz="1050">
                <a:solidFill>
                  <a:srgbClr val="E6E6E6"/>
                </a:solidFill>
                <a:latin typeface="Consolas"/>
              </a:rPr>
              <a:t>: </a:t>
            </a:r>
            <a:r>
              <a:rPr sz="1050">
                <a:solidFill>
                  <a:srgbClr val="4EC9B0"/>
                </a:solidFill>
                <a:latin typeface="Consolas"/>
              </a:rPr>
              <a:t>float</a:t>
            </a:r>
            <a:r>
              <a:rPr sz="1050">
                <a:solidFill>
                  <a:srgbClr val="E6E6E6"/>
                </a:solidFill>
                <a:latin typeface="Consolas"/>
              </a:rPr>
              <a:t> = SPAWN_INTERVAL_START</a:t>
            </a:r>
          </a:p>
          <a:p>
            <a:r>
              <a:rPr sz="105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050" dirty="0">
                <a:solidFill>
                  <a:srgbClr val="E6E6E6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E6E6E6"/>
                </a:solidFill>
                <a:latin typeface="Consolas"/>
              </a:rPr>
              <a:t>spawn_queue</a:t>
            </a:r>
            <a:r>
              <a:rPr sz="1050" dirty="0">
                <a:solidFill>
                  <a:srgbClr val="E6E6E6"/>
                </a:solidFill>
                <a:latin typeface="Consolas"/>
              </a:rPr>
              <a:t>: </a:t>
            </a:r>
            <a:r>
              <a:rPr sz="1050" dirty="0">
                <a:solidFill>
                  <a:srgbClr val="4EC9B0"/>
                </a:solidFill>
                <a:latin typeface="Consolas"/>
              </a:rPr>
              <a:t>Array</a:t>
            </a:r>
            <a:r>
              <a:rPr sz="1050" dirty="0">
                <a:solidFill>
                  <a:srgbClr val="E6E6E6"/>
                </a:solidFill>
                <a:latin typeface="Consolas"/>
              </a:rPr>
              <a:t> = []</a:t>
            </a:r>
          </a:p>
          <a:p>
            <a:r>
              <a:rPr sz="105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050" dirty="0">
                <a:solidFill>
                  <a:srgbClr val="E6E6E6"/>
                </a:solidFill>
                <a:latin typeface="Consolas"/>
              </a:rPr>
              <a:t> </a:t>
            </a:r>
            <a:r>
              <a:rPr sz="1050" dirty="0" err="1">
                <a:solidFill>
                  <a:srgbClr val="E6E6E6"/>
                </a:solidFill>
                <a:latin typeface="Consolas"/>
              </a:rPr>
              <a:t>clear_streak</a:t>
            </a:r>
            <a:r>
              <a:rPr sz="1050" dirty="0">
                <a:solidFill>
                  <a:srgbClr val="E6E6E6"/>
                </a:solidFill>
                <a:latin typeface="Consolas"/>
              </a:rPr>
              <a:t>: </a:t>
            </a:r>
            <a:r>
              <a:rPr sz="1050" dirty="0">
                <a:solidFill>
                  <a:srgbClr val="4EC9B0"/>
                </a:solidFill>
                <a:latin typeface="Consolas"/>
              </a:rPr>
              <a:t>int</a:t>
            </a:r>
            <a:r>
              <a:rPr sz="1050" dirty="0">
                <a:solidFill>
                  <a:srgbClr val="E6E6E6"/>
                </a:solidFill>
                <a:latin typeface="Consolas"/>
              </a:rPr>
              <a:t> = </a:t>
            </a:r>
            <a:r>
              <a:rPr sz="1050" dirty="0">
                <a:solidFill>
                  <a:srgbClr val="B5CEA8"/>
                </a:solidFill>
                <a:latin typeface="Consola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5442" y="1033272"/>
            <a:ext cx="3740810" cy="1776984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25442" y="1033272"/>
            <a:ext cx="3740810" cy="310896"/>
          </a:xfrm>
          <a:prstGeom prst="rect">
            <a:avLst/>
          </a:prstGeom>
          <a:solidFill>
            <a:srgbClr val="E5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07738" y="1033272"/>
            <a:ext cx="3576218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Poppins"/>
              </a:rPr>
              <a:t>FC-2a  </a:t>
            </a:r>
            <a:r>
              <a:rPr sz="1100" b="0">
                <a:solidFill>
                  <a:srgbClr val="FFFFFF"/>
                </a:solidFill>
                <a:latin typeface="Poppins"/>
              </a:rPr>
              <a:t>.append()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7738" y="1426464"/>
            <a:ext cx="3576218" cy="13014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50">
                <a:solidFill>
                  <a:srgbClr val="E6E6E6"/>
                </a:solidFill>
                <a:latin typeface="Consolas"/>
              </a:rPr>
              <a:t>spawn_queue.</a:t>
            </a:r>
            <a:r>
              <a:rPr sz="1050">
                <a:solidFill>
                  <a:srgbClr val="DCDCAA"/>
                </a:solidFill>
                <a:latin typeface="Consolas"/>
              </a:rPr>
              <a:t>append</a:t>
            </a:r>
            <a:r>
              <a:rPr sz="1050">
                <a:solidFill>
                  <a:srgbClr val="E6E6E6"/>
                </a:solidFill>
                <a:latin typeface="Consolas"/>
              </a:rPr>
              <a:t>(t)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0844" y="1033272"/>
            <a:ext cx="3740810" cy="1776984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0844" y="1033272"/>
            <a:ext cx="3740810" cy="310896"/>
          </a:xfrm>
          <a:prstGeom prst="rect">
            <a:avLst/>
          </a:prstGeom>
          <a:solidFill>
            <a:srgbClr val="E5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3140" y="1033272"/>
            <a:ext cx="3576218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Poppins"/>
              </a:rPr>
              <a:t>FC-2b  </a:t>
            </a:r>
            <a:r>
              <a:rPr sz="1100" b="0">
                <a:solidFill>
                  <a:srgbClr val="FFFFFF"/>
                </a:solidFill>
                <a:latin typeface="Poppins"/>
              </a:rPr>
              <a:t>.pop_front() + reward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3140" y="1426464"/>
            <a:ext cx="3576218" cy="13014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50">
                <a:solidFill>
                  <a:srgbClr val="569CD6"/>
                </a:solidFill>
                <a:latin typeface="Consolas"/>
              </a:rPr>
              <a:t>var</a:t>
            </a:r>
            <a:r>
              <a:rPr sz="1050">
                <a:solidFill>
                  <a:srgbClr val="E6E6E6"/>
                </a:solidFill>
                <a:latin typeface="Consolas"/>
              </a:rPr>
              <a:t> t: </a:t>
            </a:r>
            <a:r>
              <a:rPr sz="1050">
                <a:solidFill>
                  <a:srgbClr val="4EC9B0"/>
                </a:solidFill>
                <a:latin typeface="Consolas"/>
              </a:rPr>
              <a:t>String</a:t>
            </a:r>
            <a:r>
              <a:rPr sz="1050">
                <a:solidFill>
                  <a:srgbClr val="E6E6E6"/>
                </a:solidFill>
                <a:latin typeface="Consolas"/>
              </a:rPr>
              <a:t> = spawn_queue.</a:t>
            </a:r>
            <a:r>
              <a:rPr sz="1050">
                <a:solidFill>
                  <a:srgbClr val="DCDCAA"/>
                </a:solidFill>
                <a:latin typeface="Consolas"/>
              </a:rPr>
              <a:t>pop_front</a:t>
            </a:r>
            <a:r>
              <a:rPr sz="1050">
                <a:solidFill>
                  <a:srgbClr val="E6E6E6"/>
                </a:solidFill>
                <a:latin typeface="Consolas"/>
              </a:rPr>
              <a:t>()</a:t>
            </a:r>
          </a:p>
          <a:p>
            <a:r>
              <a:rPr sz="1050">
                <a:solidFill>
                  <a:srgbClr val="E6E6E6"/>
                </a:solidFill>
                <a:latin typeface="Consolas"/>
              </a:rPr>
              <a:t>main.</a:t>
            </a:r>
            <a:r>
              <a:rPr sz="1050">
                <a:solidFill>
                  <a:srgbClr val="DCDCAA"/>
                </a:solidFill>
                <a:latin typeface="Consolas"/>
              </a:rPr>
              <a:t>spawn_enemy</a:t>
            </a:r>
            <a:r>
              <a:rPr sz="1050">
                <a:solidFill>
                  <a:srgbClr val="E6E6E6"/>
                </a:solidFill>
                <a:latin typeface="Consolas"/>
              </a:rPr>
              <a:t>(</a:t>
            </a:r>
            <a:r>
              <a:rPr sz="1050">
                <a:solidFill>
                  <a:srgbClr val="DCDCAA"/>
                </a:solidFill>
                <a:latin typeface="Consolas"/>
              </a:rPr>
              <a:t>random_edge</a:t>
            </a:r>
            <a:r>
              <a:rPr sz="1050">
                <a:solidFill>
                  <a:srgbClr val="E6E6E6"/>
                </a:solidFill>
                <a:latin typeface="Consolas"/>
              </a:rPr>
              <a:t>(), t)</a:t>
            </a:r>
          </a:p>
          <a:p>
            <a:r>
              <a:rPr sz="1050">
                <a:solidFill>
                  <a:srgbClr val="E6E6E6"/>
                </a:solidFill>
                <a:latin typeface="Consolas"/>
              </a:rPr>
              <a:t>main.coins += STREAK_BONUS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974848"/>
            <a:ext cx="3740810" cy="1776984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2974848"/>
            <a:ext cx="3740810" cy="310896"/>
          </a:xfrm>
          <a:prstGeom prst="rect">
            <a:avLst/>
          </a:prstGeom>
          <a:solidFill>
            <a:srgbClr val="E5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2336" y="2974848"/>
            <a:ext cx="3576218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Poppins"/>
              </a:rPr>
              <a:t>FC-3  </a:t>
            </a:r>
            <a:r>
              <a:rPr sz="1100" b="0">
                <a:solidFill>
                  <a:srgbClr val="FFFFFF"/>
                </a:solidFill>
                <a:latin typeface="Poppins"/>
              </a:rPr>
              <a:t>per-frame buff sweep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" y="3368040"/>
            <a:ext cx="3576218" cy="13014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50">
                <a:solidFill>
                  <a:srgbClr val="569CD6"/>
                </a:solidFill>
                <a:latin typeface="Consolas"/>
              </a:rPr>
              <a:t>for</a:t>
            </a:r>
            <a:r>
              <a:rPr sz="1050">
                <a:solidFill>
                  <a:srgbClr val="E6E6E6"/>
                </a:solidFill>
                <a:latin typeface="Consolas"/>
              </a:rPr>
              <a:t> e </a:t>
            </a:r>
            <a:r>
              <a:rPr sz="1050">
                <a:solidFill>
                  <a:srgbClr val="569CD6"/>
                </a:solidFill>
                <a:latin typeface="Consolas"/>
              </a:rPr>
              <a:t>in</a:t>
            </a:r>
            <a:r>
              <a:rPr sz="1050">
                <a:solidFill>
                  <a:srgbClr val="E6E6E6"/>
                </a:solidFill>
                <a:latin typeface="Consolas"/>
              </a:rPr>
              <a:t> main.enemies:</a:t>
            </a:r>
          </a:p>
          <a:p>
            <a:r>
              <a:rPr sz="1050">
                <a:solidFill>
                  <a:srgbClr val="E6E6E6"/>
                </a:solidFill>
                <a:latin typeface="Consolas"/>
              </a:rPr>
              <a:t>    </a:t>
            </a:r>
            <a:r>
              <a:rPr sz="1050">
                <a:solidFill>
                  <a:srgbClr val="DCDCAA"/>
                </a:solidFill>
                <a:latin typeface="Consolas"/>
              </a:rPr>
              <a:t>endless_buff</a:t>
            </a:r>
            <a:r>
              <a:rPr sz="1050">
                <a:solidFill>
                  <a:srgbClr val="E6E6E6"/>
                </a:solidFill>
                <a:latin typeface="Consolas"/>
              </a:rPr>
              <a:t>(e, delta)</a:t>
            </a:r>
          </a:p>
          <a:p>
            <a:r>
              <a:rPr sz="1050">
                <a:solidFill>
                  <a:srgbClr val="569CD6"/>
                </a:solidFill>
                <a:latin typeface="Consolas"/>
              </a:rPr>
              <a:t>for</a:t>
            </a:r>
            <a:r>
              <a:rPr sz="1050">
                <a:solidFill>
                  <a:srgbClr val="E6E6E6"/>
                </a:solidFill>
                <a:latin typeface="Consolas"/>
              </a:rPr>
              <a:t> t </a:t>
            </a:r>
            <a:r>
              <a:rPr sz="1050">
                <a:solidFill>
                  <a:srgbClr val="569CD6"/>
                </a:solidFill>
                <a:latin typeface="Consolas"/>
              </a:rPr>
              <a:t>in</a:t>
            </a:r>
            <a:r>
              <a:rPr sz="1050">
                <a:solidFill>
                  <a:srgbClr val="E6E6E6"/>
                </a:solidFill>
                <a:latin typeface="Consolas"/>
              </a:rPr>
              <a:t> main.towers:</a:t>
            </a:r>
          </a:p>
          <a:p>
            <a:r>
              <a:rPr sz="1050">
                <a:solidFill>
                  <a:srgbClr val="E6E6E6"/>
                </a:solidFill>
                <a:latin typeface="Consolas"/>
              </a:rPr>
              <a:t>    </a:t>
            </a:r>
            <a:r>
              <a:rPr sz="1050">
                <a:solidFill>
                  <a:srgbClr val="DCDCAA"/>
                </a:solidFill>
                <a:latin typeface="Consolas"/>
              </a:rPr>
              <a:t>buff_tower</a:t>
            </a:r>
            <a:r>
              <a:rPr sz="1050">
                <a:solidFill>
                  <a:srgbClr val="E6E6E6"/>
                </a:solidFill>
                <a:latin typeface="Consolas"/>
              </a:rPr>
              <a:t>(t, delta)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25442" y="2974848"/>
            <a:ext cx="3740810" cy="1776984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25442" y="2974848"/>
            <a:ext cx="3740810" cy="310896"/>
          </a:xfrm>
          <a:prstGeom prst="rect">
            <a:avLst/>
          </a:prstGeom>
          <a:solidFill>
            <a:srgbClr val="E5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07738" y="2974848"/>
            <a:ext cx="3576218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Poppins"/>
              </a:rPr>
              <a:t>FC-4  </a:t>
            </a:r>
            <a:r>
              <a:rPr sz="1100" b="0">
                <a:solidFill>
                  <a:srgbClr val="FFFFFF"/>
                </a:solidFill>
                <a:latin typeface="Poppins"/>
              </a:rPr>
              <a:t>buff_all(list, delta)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07738" y="3368040"/>
            <a:ext cx="3576218" cy="13014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50">
                <a:solidFill>
                  <a:srgbClr val="569CD6"/>
                </a:solidFill>
                <a:latin typeface="Consolas"/>
              </a:rPr>
              <a:t>for</a:t>
            </a:r>
            <a:r>
              <a:rPr sz="1050">
                <a:solidFill>
                  <a:srgbClr val="E6E6E6"/>
                </a:solidFill>
                <a:latin typeface="Consolas"/>
              </a:rPr>
              <a:t> e </a:t>
            </a:r>
            <a:r>
              <a:rPr sz="1050">
                <a:solidFill>
                  <a:srgbClr val="569CD6"/>
                </a:solidFill>
                <a:latin typeface="Consolas"/>
              </a:rPr>
              <a:t>in</a:t>
            </a:r>
            <a:r>
              <a:rPr sz="1050">
                <a:solidFill>
                  <a:srgbClr val="E6E6E6"/>
                </a:solidFill>
                <a:latin typeface="Consolas"/>
              </a:rPr>
              <a:t> enemy_list:</a:t>
            </a:r>
          </a:p>
          <a:p>
            <a:r>
              <a:rPr sz="1050">
                <a:solidFill>
                  <a:srgbClr val="E6E6E6"/>
                </a:solidFill>
                <a:latin typeface="Consolas"/>
              </a:rPr>
              <a:t>    </a:t>
            </a:r>
            <a:r>
              <a:rPr sz="1050">
                <a:solidFill>
                  <a:srgbClr val="DCDCAA"/>
                </a:solidFill>
                <a:latin typeface="Consolas"/>
              </a:rPr>
              <a:t>endless_buff</a:t>
            </a:r>
            <a:r>
              <a:rPr sz="1050">
                <a:solidFill>
                  <a:srgbClr val="E6E6E6"/>
                </a:solidFill>
                <a:latin typeface="Consolas"/>
              </a:rPr>
              <a:t>(e, delta)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0844" y="2974848"/>
            <a:ext cx="3740810" cy="1776984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30844" y="2974848"/>
            <a:ext cx="3740810" cy="310896"/>
          </a:xfrm>
          <a:prstGeom prst="rect">
            <a:avLst/>
          </a:prstGeom>
          <a:solidFill>
            <a:srgbClr val="E5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13140" y="2974848"/>
            <a:ext cx="3576218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Poppins"/>
              </a:rPr>
              <a:t>FC-5a  </a:t>
            </a:r>
            <a:r>
              <a:rPr sz="1100" b="0">
                <a:solidFill>
                  <a:srgbClr val="FFFFFF"/>
                </a:solidFill>
                <a:latin typeface="Poppins"/>
              </a:rPr>
              <a:t>get_fastest_enemy()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13140" y="3368040"/>
            <a:ext cx="3576218" cy="13014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50">
                <a:solidFill>
                  <a:srgbClr val="569CD6"/>
                </a:solidFill>
                <a:latin typeface="Consolas"/>
              </a:rPr>
              <a:t>for</a:t>
            </a:r>
            <a:r>
              <a:rPr sz="1050">
                <a:solidFill>
                  <a:srgbClr val="E6E6E6"/>
                </a:solidFill>
                <a:latin typeface="Consolas"/>
              </a:rPr>
              <a:t> e </a:t>
            </a:r>
            <a:r>
              <a:rPr sz="1050">
                <a:solidFill>
                  <a:srgbClr val="569CD6"/>
                </a:solidFill>
                <a:latin typeface="Consolas"/>
              </a:rPr>
              <a:t>in</a:t>
            </a:r>
            <a:r>
              <a:rPr sz="1050">
                <a:solidFill>
                  <a:srgbClr val="E6E6E6"/>
                </a:solidFill>
                <a:latin typeface="Consolas"/>
              </a:rPr>
              <a:t> main.enemies:</a:t>
            </a:r>
          </a:p>
          <a:p>
            <a:r>
              <a:rPr sz="1050">
                <a:solidFill>
                  <a:srgbClr val="E6E6E6"/>
                </a:solidFill>
                <a:latin typeface="Consolas"/>
              </a:rPr>
              <a:t>    </a:t>
            </a:r>
            <a:r>
              <a:rPr sz="1050">
                <a:solidFill>
                  <a:srgbClr val="C586C0"/>
                </a:solidFill>
                <a:latin typeface="Consolas"/>
              </a:rPr>
              <a:t>if</a:t>
            </a:r>
            <a:r>
              <a:rPr sz="1050">
                <a:solidFill>
                  <a:srgbClr val="E6E6E6"/>
                </a:solidFill>
                <a:latin typeface="Consolas"/>
              </a:rPr>
              <a:t> e.speed &gt; best_speed:</a:t>
            </a:r>
          </a:p>
          <a:p>
            <a:r>
              <a:rPr sz="1050">
                <a:solidFill>
                  <a:srgbClr val="E6E6E6"/>
                </a:solidFill>
                <a:latin typeface="Consolas"/>
              </a:rPr>
              <a:t>        fastest = e</a:t>
            </a:r>
          </a:p>
          <a:p>
            <a:r>
              <a:rPr sz="1050">
                <a:solidFill>
                  <a:srgbClr val="E6E6E6"/>
                </a:solidFill>
                <a:latin typeface="Consolas"/>
              </a:rPr>
              <a:t>        best_speed = e.speed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916424"/>
            <a:ext cx="3740810" cy="1776984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0040" y="4916424"/>
            <a:ext cx="3740810" cy="310896"/>
          </a:xfrm>
          <a:prstGeom prst="rect">
            <a:avLst/>
          </a:prstGeom>
          <a:solidFill>
            <a:srgbClr val="E5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2336" y="4916424"/>
            <a:ext cx="3576218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Poppins"/>
              </a:rPr>
              <a:t>FC-5b  </a:t>
            </a:r>
            <a:r>
              <a:rPr sz="1100" b="0">
                <a:solidFill>
                  <a:srgbClr val="FFFFFF"/>
                </a:solidFill>
                <a:latin typeface="Poppins"/>
              </a:rPr>
              <a:t>get_wounded_enemies()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" y="5309616"/>
            <a:ext cx="3576218" cy="13014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50">
                <a:solidFill>
                  <a:srgbClr val="569CD6"/>
                </a:solidFill>
                <a:latin typeface="Consolas"/>
              </a:rPr>
              <a:t>var</a:t>
            </a:r>
            <a:r>
              <a:rPr sz="1050">
                <a:solidFill>
                  <a:srgbClr val="E6E6E6"/>
                </a:solidFill>
                <a:latin typeface="Consolas"/>
              </a:rPr>
              <a:t> result: </a:t>
            </a:r>
            <a:r>
              <a:rPr sz="1050">
                <a:solidFill>
                  <a:srgbClr val="4EC9B0"/>
                </a:solidFill>
                <a:latin typeface="Consolas"/>
              </a:rPr>
              <a:t>Array</a:t>
            </a:r>
            <a:r>
              <a:rPr sz="1050">
                <a:solidFill>
                  <a:srgbClr val="E6E6E6"/>
                </a:solidFill>
                <a:latin typeface="Consolas"/>
              </a:rPr>
              <a:t> = []</a:t>
            </a:r>
          </a:p>
          <a:p>
            <a:r>
              <a:rPr sz="1050">
                <a:solidFill>
                  <a:srgbClr val="569CD6"/>
                </a:solidFill>
                <a:latin typeface="Consolas"/>
              </a:rPr>
              <a:t>for</a:t>
            </a:r>
            <a:r>
              <a:rPr sz="1050">
                <a:solidFill>
                  <a:srgbClr val="E6E6E6"/>
                </a:solidFill>
                <a:latin typeface="Consolas"/>
              </a:rPr>
              <a:t> e </a:t>
            </a:r>
            <a:r>
              <a:rPr sz="1050">
                <a:solidFill>
                  <a:srgbClr val="569CD6"/>
                </a:solidFill>
                <a:latin typeface="Consolas"/>
              </a:rPr>
              <a:t>in</a:t>
            </a:r>
            <a:r>
              <a:rPr sz="1050">
                <a:solidFill>
                  <a:srgbClr val="E6E6E6"/>
                </a:solidFill>
                <a:latin typeface="Consolas"/>
              </a:rPr>
              <a:t> main.enemies:</a:t>
            </a:r>
          </a:p>
          <a:p>
            <a:r>
              <a:rPr sz="1050">
                <a:solidFill>
                  <a:srgbClr val="E6E6E6"/>
                </a:solidFill>
                <a:latin typeface="Consolas"/>
              </a:rPr>
              <a:t>    </a:t>
            </a:r>
            <a:r>
              <a:rPr sz="1050">
                <a:solidFill>
                  <a:srgbClr val="C586C0"/>
                </a:solidFill>
                <a:latin typeface="Consolas"/>
              </a:rPr>
              <a:t>if</a:t>
            </a:r>
            <a:r>
              <a:rPr sz="1050">
                <a:solidFill>
                  <a:srgbClr val="E6E6E6"/>
                </a:solidFill>
                <a:latin typeface="Consolas"/>
              </a:rPr>
              <a:t> e.hp &lt;= WOUNDED_HP_THRESHOLD:</a:t>
            </a:r>
          </a:p>
          <a:p>
            <a:r>
              <a:rPr sz="1050">
                <a:solidFill>
                  <a:srgbClr val="E6E6E6"/>
                </a:solidFill>
                <a:latin typeface="Consolas"/>
              </a:rPr>
              <a:t>        result.</a:t>
            </a:r>
            <a:r>
              <a:rPr sz="1050">
                <a:solidFill>
                  <a:srgbClr val="DCDCAA"/>
                </a:solidFill>
                <a:latin typeface="Consolas"/>
              </a:rPr>
              <a:t>append</a:t>
            </a:r>
            <a:r>
              <a:rPr sz="1050">
                <a:solidFill>
                  <a:srgbClr val="E6E6E6"/>
                </a:solidFill>
                <a:latin typeface="Consolas"/>
              </a:rPr>
              <a:t>(e)</a:t>
            </a:r>
          </a:p>
          <a:p>
            <a:r>
              <a:rPr sz="1050">
                <a:solidFill>
                  <a:srgbClr val="569CD6"/>
                </a:solidFill>
                <a:latin typeface="Consolas"/>
              </a:rPr>
              <a:t>return</a:t>
            </a:r>
            <a:r>
              <a:rPr sz="1050">
                <a:solidFill>
                  <a:srgbClr val="E6E6E6"/>
                </a:solidFill>
                <a:latin typeface="Consolas"/>
              </a:rPr>
              <a:t> result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25442" y="4916424"/>
            <a:ext cx="3740810" cy="1776984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225442" y="4916424"/>
            <a:ext cx="3740810" cy="310896"/>
          </a:xfrm>
          <a:prstGeom prst="rect">
            <a:avLst/>
          </a:prstGeom>
          <a:solidFill>
            <a:srgbClr val="E5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07738" y="4916424"/>
            <a:ext cx="3576218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Poppins"/>
              </a:rPr>
              <a:t>FC-6  </a:t>
            </a:r>
            <a:r>
              <a:rPr sz="1100" b="0">
                <a:solidFill>
                  <a:srgbClr val="FFFFFF"/>
                </a:solidFill>
                <a:latin typeface="Poppins"/>
              </a:rPr>
              <a:t>escalate() match branch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07738" y="5309616"/>
            <a:ext cx="3576218" cy="13014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50">
                <a:solidFill>
                  <a:srgbClr val="CE9178"/>
                </a:solidFill>
                <a:latin typeface="Consolas"/>
              </a:rPr>
              <a:t>"medium"</a:t>
            </a:r>
            <a:r>
              <a:rPr sz="1050">
                <a:solidFill>
                  <a:srgbClr val="E6E6E6"/>
                </a:solidFill>
                <a:latin typeface="Consolas"/>
              </a:rPr>
              <a:t>:</a:t>
            </a:r>
          </a:p>
          <a:p>
            <a:r>
              <a:rPr sz="1050">
                <a:solidFill>
                  <a:srgbClr val="E6E6E6"/>
                </a:solidFill>
                <a:latin typeface="Consolas"/>
              </a:rPr>
              <a:t>    </a:t>
            </a:r>
            <a:r>
              <a:rPr sz="1050">
                <a:solidFill>
                  <a:srgbClr val="569CD6"/>
                </a:solidFill>
                <a:latin typeface="Consolas"/>
              </a:rPr>
              <a:t>var</a:t>
            </a:r>
            <a:r>
              <a:rPr sz="1050">
                <a:solidFill>
                  <a:srgbClr val="E6E6E6"/>
                </a:solidFill>
                <a:latin typeface="Consolas"/>
              </a:rPr>
              <a:t> t: </a:t>
            </a:r>
            <a:r>
              <a:rPr sz="1050">
                <a:solidFill>
                  <a:srgbClr val="4EC9B0"/>
                </a:solidFill>
                <a:latin typeface="Consolas"/>
              </a:rPr>
              <a:t>String</a:t>
            </a:r>
            <a:r>
              <a:rPr sz="1050">
                <a:solidFill>
                  <a:srgbClr val="E6E6E6"/>
                </a:solidFill>
                <a:latin typeface="Consolas"/>
              </a:rPr>
              <a:t> = </a:t>
            </a:r>
            <a:r>
              <a:rPr sz="1050">
                <a:solidFill>
                  <a:srgbClr val="DCDCAA"/>
                </a:solidFill>
                <a:latin typeface="Consolas"/>
              </a:rPr>
              <a:t>pick_type_for_band</a:t>
            </a:r>
            <a:r>
              <a:rPr sz="1050">
                <a:solidFill>
                  <a:srgbClr val="E6E6E6"/>
                </a:solidFill>
                <a:latin typeface="Consolas"/>
              </a:rPr>
              <a:t>(band)</a:t>
            </a:r>
          </a:p>
          <a:p>
            <a:r>
              <a:rPr sz="1050">
                <a:solidFill>
                  <a:srgbClr val="E6E6E6"/>
                </a:solidFill>
                <a:latin typeface="Consolas"/>
              </a:rPr>
              <a:t>    </a:t>
            </a:r>
            <a:r>
              <a:rPr sz="1050">
                <a:solidFill>
                  <a:srgbClr val="DCDCAA"/>
                </a:solidFill>
                <a:latin typeface="Consolas"/>
              </a:rPr>
              <a:t>queue_spawn</a:t>
            </a:r>
            <a:r>
              <a:rPr sz="1050">
                <a:solidFill>
                  <a:srgbClr val="E6E6E6"/>
                </a:solidFill>
                <a:latin typeface="Consolas"/>
              </a:rPr>
              <a:t>(t)</a:t>
            </a:r>
          </a:p>
          <a:p>
            <a:r>
              <a:rPr sz="1050">
                <a:solidFill>
                  <a:srgbClr val="E6E6E6"/>
                </a:solidFill>
                <a:latin typeface="Consolas"/>
              </a:rPr>
              <a:t>    </a:t>
            </a:r>
            <a:r>
              <a:rPr sz="1050">
                <a:solidFill>
                  <a:srgbClr val="DCDCAA"/>
                </a:solidFill>
                <a:latin typeface="Consolas"/>
              </a:rPr>
              <a:t>queue_spawn</a:t>
            </a:r>
            <a:r>
              <a:rPr sz="1050">
                <a:solidFill>
                  <a:srgbClr val="E6E6E6"/>
                </a:solidFill>
                <a:latin typeface="Consolas"/>
              </a:rPr>
              <a:t>(t)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0844" y="4916424"/>
            <a:ext cx="3740810" cy="1776984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130844" y="4916424"/>
            <a:ext cx="3740810" cy="310896"/>
          </a:xfrm>
          <a:prstGeom prst="rect">
            <a:avLst/>
          </a:prstGeom>
          <a:solidFill>
            <a:srgbClr val="E5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13140" y="4916424"/>
            <a:ext cx="3576218" cy="3108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Poppins"/>
              </a:rPr>
              <a:t>FC-7  </a:t>
            </a:r>
            <a:r>
              <a:rPr sz="1100" b="0">
                <a:solidFill>
                  <a:srgbClr val="FFFFFF"/>
                </a:solidFill>
                <a:latin typeface="Poppins"/>
              </a:rPr>
              <a:t>check_for_screen_clear()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3140" y="5309616"/>
            <a:ext cx="3576218" cy="130149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50">
                <a:solidFill>
                  <a:srgbClr val="C586C0"/>
                </a:solidFill>
                <a:latin typeface="Consolas"/>
              </a:rPr>
              <a:t>if</a:t>
            </a:r>
            <a:r>
              <a:rPr sz="1050">
                <a:solidFill>
                  <a:srgbClr val="E6E6E6"/>
                </a:solidFill>
                <a:latin typeface="Consolas"/>
              </a:rPr>
              <a:t> main.enemies.</a:t>
            </a:r>
            <a:r>
              <a:rPr sz="1050">
                <a:solidFill>
                  <a:srgbClr val="DCDCAA"/>
                </a:solidFill>
                <a:latin typeface="Consolas"/>
              </a:rPr>
              <a:t>size</a:t>
            </a:r>
            <a:r>
              <a:rPr sz="1050">
                <a:solidFill>
                  <a:srgbClr val="E6E6E6"/>
                </a:solidFill>
                <a:latin typeface="Consolas"/>
              </a:rPr>
              <a:t>() == </a:t>
            </a:r>
            <a:r>
              <a:rPr sz="1050">
                <a:solidFill>
                  <a:srgbClr val="B5CEA8"/>
                </a:solidFill>
                <a:latin typeface="Consolas"/>
              </a:rPr>
              <a:t>0</a:t>
            </a:r>
            <a:r>
              <a:rPr sz="1050">
                <a:solidFill>
                  <a:srgbClr val="E6E6E6"/>
                </a:solidFill>
                <a:latin typeface="Consolas"/>
              </a:rPr>
              <a:t> </a:t>
            </a:r>
            <a:r>
              <a:rPr sz="1050">
                <a:solidFill>
                  <a:srgbClr val="569CD6"/>
                </a:solidFill>
                <a:latin typeface="Consolas"/>
              </a:rPr>
              <a:t>and</a:t>
            </a:r>
            <a:r>
              <a:rPr sz="1050">
                <a:solidFill>
                  <a:srgbClr val="E6E6E6"/>
                </a:solidFill>
                <a:latin typeface="Consolas"/>
              </a:rPr>
              <a:t> spawn_queue.</a:t>
            </a:r>
            <a:r>
              <a:rPr sz="1050">
                <a:solidFill>
                  <a:srgbClr val="DCDCAA"/>
                </a:solidFill>
                <a:latin typeface="Consolas"/>
              </a:rPr>
              <a:t>size</a:t>
            </a:r>
            <a:r>
              <a:rPr sz="1050">
                <a:solidFill>
                  <a:srgbClr val="E6E6E6"/>
                </a:solidFill>
                <a:latin typeface="Consolas"/>
              </a:rPr>
              <a:t>() == </a:t>
            </a:r>
            <a:r>
              <a:rPr sz="1050">
                <a:solidFill>
                  <a:srgbClr val="B5CEA8"/>
                </a:solidFill>
                <a:latin typeface="Consolas"/>
              </a:rPr>
              <a:t>0</a:t>
            </a:r>
            <a:r>
              <a:rPr sz="1050">
                <a:solidFill>
                  <a:srgbClr val="E6E6E6"/>
                </a:solidFill>
                <a:latin typeface="Consolas"/>
              </a:rPr>
              <a:t>:</a:t>
            </a:r>
          </a:p>
          <a:p>
            <a:r>
              <a:rPr sz="1050">
                <a:solidFill>
                  <a:srgbClr val="E6E6E6"/>
                </a:solidFill>
                <a:latin typeface="Consolas"/>
              </a:rPr>
              <a:t>    clear_streak += </a:t>
            </a:r>
            <a:r>
              <a:rPr sz="1050">
                <a:solidFill>
                  <a:srgbClr val="B5CEA8"/>
                </a:solidFill>
                <a:latin typeface="Consolas"/>
              </a:rPr>
              <a:t>1</a:t>
            </a:r>
          </a:p>
          <a:p>
            <a:r>
              <a:rPr sz="1050">
                <a:solidFill>
                  <a:srgbClr val="E6E6E6"/>
                </a:solidFill>
                <a:latin typeface="Consolas"/>
              </a:rPr>
              <a:t>    difficulty += </a:t>
            </a:r>
            <a:r>
              <a:rPr sz="1050">
                <a:solidFill>
                  <a:srgbClr val="B5CEA8"/>
                </a:solidFill>
                <a:latin typeface="Consolas"/>
              </a:rPr>
              <a:t>1</a:t>
            </a:r>
          </a:p>
          <a:p>
            <a:r>
              <a:rPr sz="1050">
                <a:solidFill>
                  <a:srgbClr val="E6E6E6"/>
                </a:solidFill>
                <a:latin typeface="Consolas"/>
              </a:rPr>
              <a:t>    spawn_interval *= SPAWN_INTERVAL_SHRINK</a:t>
            </a:r>
          </a:p>
          <a:p>
            <a:r>
              <a:rPr sz="1050">
                <a:solidFill>
                  <a:srgbClr val="E6E6E6"/>
                </a:solidFill>
                <a:latin typeface="Consolas"/>
              </a:rPr>
              <a:t>    </a:t>
            </a:r>
            <a:r>
              <a:rPr sz="1050">
                <a:solidFill>
                  <a:srgbClr val="DCDCAA"/>
                </a:solidFill>
                <a:latin typeface="Consolas"/>
              </a:rPr>
              <a:t>escalate</a:t>
            </a:r>
            <a:r>
              <a:rPr sz="1050">
                <a:solidFill>
                  <a:srgbClr val="E6E6E6"/>
                </a:solidFill>
                <a:latin typeface="Consolas"/>
              </a:rPr>
              <a:t>()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1575"/>
            <a:ext cx="11277295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5400" b="1" i="0" dirty="0">
                <a:solidFill>
                  <a:srgbClr val="1A1A1A"/>
                </a:solidFill>
                <a:latin typeface="Poppins"/>
              </a:rPr>
              <a:t>Export it bro</a:t>
            </a:r>
            <a:r>
              <a:rPr sz="5400" b="1" i="0" dirty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b="0" i="0" dirty="0">
                <a:solidFill>
                  <a:srgbClr val="8A8A8A"/>
                </a:solidFill>
                <a:latin typeface="Poppins"/>
              </a:rPr>
              <a:t>You </a:t>
            </a:r>
            <a:r>
              <a:rPr lang="en-US" sz="2400" b="0" i="0">
                <a:solidFill>
                  <a:srgbClr val="8A8A8A"/>
                </a:solidFill>
                <a:latin typeface="Poppins"/>
              </a:rPr>
              <a:t>did it yesterday 🤌</a:t>
            </a:r>
            <a:endParaRPr sz="2400" b="0" i="0" dirty="0">
              <a:solidFill>
                <a:srgbClr val="8A8A8A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Today: Lists + Deeper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Lists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collection your code can grow, shrink, walk, and filter.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.append()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.erase()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.size()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x in list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Deeper 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functions that scan lists, return something, and chain into each other. Vending machine + backpack.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Two ideas. Whole game.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Tomorrow — Day 4: 2-Player Fighter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Objects + State. Your code starts to feel like a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blueprint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instead of a script.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Two players. Four characters. One fight.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41AEB-F8B2-F1CA-47DE-84CDF2B82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3DE708-0A88-C00D-A813-90307E1A6AA3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>
            <a:extLst>
              <a:ext uri="{FF2B5EF4-FFF2-40B4-BE49-F238E27FC236}">
                <a16:creationId xmlns:a16="http://schemas.microsoft.com/office/drawing/2014/main" id="{209AF45B-E24F-6E25-E46F-F86C34661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7A89FA-DB57-70E1-B128-1062B444B2D2}"/>
              </a:ext>
            </a:extLst>
          </p:cNvPr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DB7AA9-861F-3F35-DD5D-1EAEBBF5BC80}"/>
              </a:ext>
            </a:extLst>
          </p:cNvPr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6A36ED-44EB-33CB-2DCB-847B659DDEB3}"/>
              </a:ext>
            </a:extLst>
          </p:cNvPr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5F3F1A-4AE0-4EEE-E109-7F7D0E3AE6F8}"/>
              </a:ext>
            </a:extLst>
          </p:cNvPr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A0416B-518E-C69F-0D69-579C496F4FF4}"/>
              </a:ext>
            </a:extLst>
          </p:cNvPr>
          <p:cNvSpPr txBox="1"/>
          <p:nvPr/>
        </p:nvSpPr>
        <p:spPr>
          <a:xfrm>
            <a:off x="457200" y="2186077"/>
            <a:ext cx="11277295" cy="17543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5400" b="1" i="0" dirty="0">
                <a:solidFill>
                  <a:srgbClr val="1A1A1A"/>
                </a:solidFill>
                <a:latin typeface="Poppins"/>
              </a:rPr>
              <a:t>Bloons TD5 </a:t>
            </a:r>
            <a:r>
              <a:rPr lang="en-US" sz="5400" b="1" i="0" dirty="0" err="1">
                <a:solidFill>
                  <a:srgbClr val="1A1A1A"/>
                </a:solidFill>
                <a:latin typeface="Poppins"/>
              </a:rPr>
              <a:t>ain’t</a:t>
            </a:r>
            <a:r>
              <a:rPr lang="en-US" sz="5400" b="1" i="0" dirty="0">
                <a:solidFill>
                  <a:srgbClr val="1A1A1A"/>
                </a:solidFill>
                <a:latin typeface="Poppins"/>
              </a:rPr>
              <a:t> got </a:t>
            </a:r>
            <a:r>
              <a:rPr lang="en-US" sz="5400" b="1" i="0" dirty="0" err="1">
                <a:solidFill>
                  <a:srgbClr val="1A1A1A"/>
                </a:solidFill>
                <a:latin typeface="Poppins"/>
              </a:rPr>
              <a:t>nothin</a:t>
            </a:r>
            <a:r>
              <a:rPr lang="en-US" sz="5400" b="1" i="0" dirty="0">
                <a:solidFill>
                  <a:srgbClr val="1A1A1A"/>
                </a:solidFill>
                <a:latin typeface="Poppins"/>
              </a:rPr>
              <a:t>’ on you</a:t>
            </a:r>
            <a:endParaRPr sz="5400" b="1" i="0" dirty="0">
              <a:solidFill>
                <a:srgbClr val="1A1A1A"/>
              </a:solidFill>
              <a:latin typeface="Poppi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B425DF-B4D1-3B33-933D-03E892C60058}"/>
              </a:ext>
            </a:extLst>
          </p:cNvPr>
          <p:cNvSpPr txBox="1"/>
          <p:nvPr/>
        </p:nvSpPr>
        <p:spPr>
          <a:xfrm>
            <a:off x="457200" y="4160520"/>
            <a:ext cx="11277295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b="0" i="0">
                <a:solidFill>
                  <a:srgbClr val="8A8A8A"/>
                </a:solidFill>
                <a:latin typeface="Poppins"/>
              </a:rPr>
              <a:t>Good job today</a:t>
            </a:r>
            <a:endParaRPr sz="2400" b="0" i="0" dirty="0">
              <a:solidFill>
                <a:srgbClr val="8A8A8A"/>
              </a:solidFill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107046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5101</Words>
  <Application>Microsoft Macintosh PowerPoint</Application>
  <PresentationFormat>Widescreen</PresentationFormat>
  <Paragraphs>758</Paragraphs>
  <Slides>92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7" baseType="lpstr">
      <vt:lpstr>Arial</vt:lpstr>
      <vt:lpstr>Calibri</vt:lpstr>
      <vt:lpstr>Consolas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Westley Yarlott</cp:lastModifiedBy>
  <cp:revision>42</cp:revision>
  <dcterms:created xsi:type="dcterms:W3CDTF">2013-01-27T09:14:16Z</dcterms:created>
  <dcterms:modified xsi:type="dcterms:W3CDTF">2026-06-13T12:29:29Z</dcterms:modified>
  <cp:category/>
</cp:coreProperties>
</file>