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88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</p:sldIdLst>
  <p:sldSz cy="6858000" cx="12192000"/>
  <p:notesSz cx="6858000" cy="9144000"/>
  <p:embeddedFontLst>
    <p:embeddedFont>
      <p:font typeface="Poppins"/>
      <p:regular r:id="rId97"/>
      <p:bold r:id="rId98"/>
      <p:italic r:id="rId99"/>
      <p:boldItalic r:id="rId10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01" roundtripDataSignature="AMtx7mindOJJStScFDK7dRAtcBK0iP76r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101" Type="http://customschemas.google.com/relationships/presentationmetadata" Target="metadata"/><Relationship Id="rId100" Type="http://schemas.openxmlformats.org/officeDocument/2006/relationships/font" Target="fonts/Poppins-boldItalic.fntdata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95" Type="http://schemas.openxmlformats.org/officeDocument/2006/relationships/slide" Target="slides/slide90.xml"/><Relationship Id="rId94" Type="http://schemas.openxmlformats.org/officeDocument/2006/relationships/slide" Target="slides/slide89.xml"/><Relationship Id="rId97" Type="http://schemas.openxmlformats.org/officeDocument/2006/relationships/font" Target="fonts/Poppins-regular.fntdata"/><Relationship Id="rId96" Type="http://schemas.openxmlformats.org/officeDocument/2006/relationships/slide" Target="slides/slide91.xml"/><Relationship Id="rId11" Type="http://schemas.openxmlformats.org/officeDocument/2006/relationships/slide" Target="slides/slide6.xml"/><Relationship Id="rId99" Type="http://schemas.openxmlformats.org/officeDocument/2006/relationships/font" Target="fonts/Poppins-italic.fntdata"/><Relationship Id="rId10" Type="http://schemas.openxmlformats.org/officeDocument/2006/relationships/slide" Target="slides/slide5.xml"/><Relationship Id="rId98" Type="http://schemas.openxmlformats.org/officeDocument/2006/relationships/font" Target="fonts/Poppins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91" Type="http://schemas.openxmlformats.org/officeDocument/2006/relationships/slide" Target="slides/slide86.xml"/><Relationship Id="rId90" Type="http://schemas.openxmlformats.org/officeDocument/2006/relationships/slide" Target="slides/slide85.xml"/><Relationship Id="rId93" Type="http://schemas.openxmlformats.org/officeDocument/2006/relationships/slide" Target="slides/slide88.xml"/><Relationship Id="rId92" Type="http://schemas.openxmlformats.org/officeDocument/2006/relationships/slide" Target="slides/slide8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84" Type="http://schemas.openxmlformats.org/officeDocument/2006/relationships/slide" Target="slides/slide79.xml"/><Relationship Id="rId83" Type="http://schemas.openxmlformats.org/officeDocument/2006/relationships/slide" Target="slides/slide78.xml"/><Relationship Id="rId86" Type="http://schemas.openxmlformats.org/officeDocument/2006/relationships/slide" Target="slides/slide81.xml"/><Relationship Id="rId85" Type="http://schemas.openxmlformats.org/officeDocument/2006/relationships/slide" Target="slides/slide80.xml"/><Relationship Id="rId88" Type="http://schemas.openxmlformats.org/officeDocument/2006/relationships/slide" Target="slides/slide83.xml"/><Relationship Id="rId87" Type="http://schemas.openxmlformats.org/officeDocument/2006/relationships/slide" Target="slides/slide82.xml"/><Relationship Id="rId89" Type="http://schemas.openxmlformats.org/officeDocument/2006/relationships/slide" Target="slides/slide84.xml"/><Relationship Id="rId80" Type="http://schemas.openxmlformats.org/officeDocument/2006/relationships/slide" Target="slides/slide75.xml"/><Relationship Id="rId82" Type="http://schemas.openxmlformats.org/officeDocument/2006/relationships/slide" Target="slides/slide77.xml"/><Relationship Id="rId81" Type="http://schemas.openxmlformats.org/officeDocument/2006/relationships/slide" Target="slides/slide7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75" Type="http://schemas.openxmlformats.org/officeDocument/2006/relationships/slide" Target="slides/slide70.xml"/><Relationship Id="rId74" Type="http://schemas.openxmlformats.org/officeDocument/2006/relationships/slide" Target="slides/slide69.xml"/><Relationship Id="rId77" Type="http://schemas.openxmlformats.org/officeDocument/2006/relationships/slide" Target="slides/slide72.xml"/><Relationship Id="rId76" Type="http://schemas.openxmlformats.org/officeDocument/2006/relationships/slide" Target="slides/slide71.xml"/><Relationship Id="rId79" Type="http://schemas.openxmlformats.org/officeDocument/2006/relationships/slide" Target="slides/slide74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66" Type="http://schemas.openxmlformats.org/officeDocument/2006/relationships/slide" Target="slides/slide61.xml"/><Relationship Id="rId65" Type="http://schemas.openxmlformats.org/officeDocument/2006/relationships/slide" Target="slides/slide60.xml"/><Relationship Id="rId68" Type="http://schemas.openxmlformats.org/officeDocument/2006/relationships/slide" Target="slides/slide63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69" Type="http://schemas.openxmlformats.org/officeDocument/2006/relationships/slide" Target="slides/slide6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55" Type="http://schemas.openxmlformats.org/officeDocument/2006/relationships/slide" Target="slides/slide50.xml"/><Relationship Id="rId54" Type="http://schemas.openxmlformats.org/officeDocument/2006/relationships/slide" Target="slides/slide49.xml"/><Relationship Id="rId57" Type="http://schemas.openxmlformats.org/officeDocument/2006/relationships/slide" Target="slides/slide52.xml"/><Relationship Id="rId56" Type="http://schemas.openxmlformats.org/officeDocument/2006/relationships/slide" Target="slides/slide51.xml"/><Relationship Id="rId59" Type="http://schemas.openxmlformats.org/officeDocument/2006/relationships/slide" Target="slides/slide54.xml"/><Relationship Id="rId58" Type="http://schemas.openxmlformats.org/officeDocument/2006/relationships/slide" Target="slides/slide5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" name="Google Shape;634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6" name="Google Shape;706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" name="Google Shape;721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7" name="Google Shape;757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" name="Google Shape;769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6" name="Google Shape;796;p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8" name="Google Shape;808;p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0" name="Google Shape;820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2" name="Google Shape;832;p6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4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p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8" name="Google Shape;868;p6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8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0" name="Google Shape;880;p6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5" name="Google Shape;895;p6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906;p6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p7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1" name="Google Shape;931;p7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7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3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p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5" name="Google Shape;955;p7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6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8" name="Google Shape;968;p7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9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1" name="Google Shape;981;p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2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4" name="Google Shape;994;p7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4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6" name="Google Shape;1006;p7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7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p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9" name="Google Shape;1019;p7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9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p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7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p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8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3" name="Shape 1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Google Shape;1054;p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5" name="Google Shape;1055;p8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7" name="Google Shape;1067;p8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9" name="Google Shape;1079;p8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8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p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0" name="Google Shape;1090;p8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0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p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2" name="Google Shape;1102;p8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2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p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4" name="Google Shape;1114;p8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4" name="Shape 1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Google Shape;1125;p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6" name="Google Shape;1126;p8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6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8" name="Google Shape;1138;p8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3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p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5" name="Google Shape;1185;p8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5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p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7" name="Google Shape;1197;p9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9" name="Google Shape;1209;p9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9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p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1" name="Google Shape;1221;p9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9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9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9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9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9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9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9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9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9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9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9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9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9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9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9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9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0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0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0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0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0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0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0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0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0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1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1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1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1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1.png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1.png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1.png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1.pn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1.png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1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1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1.png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1.png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.png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1.png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Day 3 — Base Defense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6" name="Google Shape;9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 whole genre — invented by modders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Rampart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(1990) — hybrid first attempt. Castle walls + cannonballs.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Warcraft III custom maps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(2002–2007) — entire genre invented by players tweaking someone else's game.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Plants vs Zombies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(2009) — mainstream breakout. 6 million copies in a year.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Bloons / Kingdom Rush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mobile-era boom. Still going.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Takeaway: every tower defense game you've ever played traces back to a Warcraft III modder.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/>
          </a:p>
        </p:txBody>
      </p:sp>
      <p:sp>
        <p:nvSpPr>
          <p:cNvPr id="113" name="Google Shape;113;p3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Yesterday → Today</a:t>
            </a:r>
            <a:endParaRPr/>
          </a:p>
        </p:txBody>
      </p:sp>
      <p:sp>
        <p:nvSpPr>
          <p:cNvPr id="114" name="Google Shape;114;p3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Day 2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Loops + intro Functions. You made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loops and named blocks of code.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Lists + Deeper Functions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Same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-loop shape, new things to loop over.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Today's two new ideas: a list is a collection of things. A deeper function scans a list, returns something, and calls other functions.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20" name="Google Shape;1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22" name="Google Shape;122;p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23" name="Google Shape;123;p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24" name="Google Shape;124;p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5-day arc</a:t>
            </a:r>
            <a:endParaRPr/>
          </a:p>
        </p:txBody>
      </p:sp>
      <p:sp>
        <p:nvSpPr>
          <p:cNvPr id="126" name="Google Shape;126;p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Day 1 ✓ Pong — Vars + Conditions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Day 2 ✓ Pac-Man — Loops + Functions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Day 3 ← Base Defense — Lists + Deeper Functions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Day 4 Fighter — Objects + State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Day 5 Escape Room — Showcase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32" name="Google Shape;13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35" name="Google Shape;135;p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36" name="Google Shape;136;p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/>
          </a:p>
        </p:txBody>
      </p:sp>
      <p:sp>
        <p:nvSpPr>
          <p:cNvPr id="137" name="Google Shape;137;p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Today: Lists + Deeper Functions</a:t>
            </a:r>
            <a:endParaRPr/>
          </a:p>
        </p:txBody>
      </p:sp>
      <p:sp>
        <p:nvSpPr>
          <p:cNvPr id="138" name="Google Shape;138;p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Lists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a collection of things your code can remember, walk through, add to, or remove from.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Deeper Functions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functions that scan lists, return something useful, and chain into each other.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44" name="Google Shape;14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46" name="Google Shape;146;p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47" name="Google Shape;147;p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48" name="Google Shape;148;p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Lists work the same. Functions look the same. The only two-word change: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.remove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.erase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and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len()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.size()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  <p:sp>
        <p:nvSpPr>
          <p:cNvPr id="150" name="Google Shape;150;p6"/>
          <p:cNvSpPr txBox="1"/>
          <p:nvPr/>
        </p:nvSpPr>
        <p:spPr>
          <a:xfrm>
            <a:off x="731520" y="233172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457200" y="2743200"/>
            <a:ext cx="11277295" cy="397764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Python:   enemies = []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GDScript: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enemies = []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Python:   enemies.append(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"grunt"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GDScript: enemies.append(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"grunt"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Python:   enemies.remove(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"grunt"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GDScript: enemies.erase(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"grunt"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Python:   len(enemies)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GDScript: enemies.size()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Python:   def total(numbers):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GDScript: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total(numbers):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57" name="Google Shape;15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59" name="Google Shape;159;p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60" name="Google Shape;160;p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162" name="Google Shape;162;p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Pre-coding setup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68" name="Google Shape;16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70" name="Google Shape;170;p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72" name="Google Shape;172;p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endParaRPr/>
          </a:p>
        </p:txBody>
      </p:sp>
      <p:sp>
        <p:nvSpPr>
          <p:cNvPr id="173" name="Google Shape;173;p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Walk A — Open the Day 3 project</a:t>
            </a:r>
            <a:endParaRPr/>
          </a:p>
        </p:txBody>
      </p:sp>
      <p:sp>
        <p:nvSpPr>
          <p:cNvPr id="174" name="Google Shape;174;p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Open the Base Defense project the same way you did yesterday.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80" name="Google Shape;18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82" name="Google Shape;182;p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83" name="Google Shape;183;p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84" name="Google Shape;184;p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</a:t>
            </a:r>
            <a:endParaRPr/>
          </a:p>
        </p:txBody>
      </p:sp>
      <p:sp>
        <p:nvSpPr>
          <p:cNvPr id="185" name="Google Shape;185;p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Walk A — Hint</a:t>
            </a:r>
            <a:endParaRPr/>
          </a:p>
        </p:txBody>
      </p:sp>
      <p:sp>
        <p:nvSpPr>
          <p:cNvPr id="186" name="Google Shape;186;p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Godot Launcher → Import button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Navigate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Day3_BaseDef_Game/project.godot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Click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Import &amp; Edit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92" name="Google Shape;19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94" name="Google Shape;194;p1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95" name="Google Shape;195;p1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96" name="Google Shape;196;p1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10</a:t>
            </a:r>
            <a:endParaRPr/>
          </a:p>
        </p:txBody>
      </p:sp>
      <p:sp>
        <p:nvSpPr>
          <p:cNvPr id="197" name="Google Shape;197;p10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Open main.gd</a:t>
            </a:r>
            <a:endParaRPr/>
          </a:p>
        </p:txBody>
      </p:sp>
      <p:sp>
        <p:nvSpPr>
          <p:cNvPr id="198" name="Google Shape;198;p10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Open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main.gd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in the Script editor — same way as yesterday.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04" name="Google Shape;20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06" name="Google Shape;206;p1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07" name="Google Shape;207;p1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208" name="Google Shape;208;p1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11</a:t>
            </a:r>
            <a:endParaRPr/>
          </a:p>
        </p:txBody>
      </p:sp>
      <p:sp>
        <p:nvSpPr>
          <p:cNvPr id="209" name="Google Shape;209;p11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Walk B — Hint</a:t>
            </a:r>
            <a:endParaRPr/>
          </a:p>
        </p:txBody>
      </p:sp>
      <p:sp>
        <p:nvSpPr>
          <p:cNvPr id="210" name="Google Shape;210;p11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FileSystem panel (bottom-left) → find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main.gd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Double-click → Script editor opens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16" name="Google Shape;21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18" name="Google Shape;218;p1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19" name="Google Shape;219;p1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220" name="Google Shape;220;p1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endParaRPr/>
          </a:p>
        </p:txBody>
      </p:sp>
      <p:pic>
        <p:nvPicPr>
          <p:cNvPr descr="D3WDK1.png" id="221" name="Google Shape;22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241386"/>
            <a:ext cx="6766377" cy="2969588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2"/>
          <p:cNvSpPr/>
          <p:nvPr/>
        </p:nvSpPr>
        <p:spPr>
          <a:xfrm>
            <a:off x="666537" y="3209544"/>
            <a:ext cx="2706550" cy="1033272"/>
          </a:xfrm>
          <a:prstGeom prst="rect">
            <a:avLst/>
          </a:prstGeom>
          <a:noFill/>
          <a:ln cap="flat" cmpd="sng" w="50800">
            <a:solidFill>
              <a:srgbClr val="E53A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 txBox="1"/>
          <p:nvPr/>
        </p:nvSpPr>
        <p:spPr>
          <a:xfrm>
            <a:off x="7497897" y="3372237"/>
            <a:ext cx="4236598" cy="70788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Find the difficulty constant in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main.gd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29" name="Google Shape;22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31" name="Google Shape;231;p1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32" name="Google Shape;232;p1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233" name="Google Shape;233;p1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13</a:t>
            </a:r>
            <a:endParaRPr/>
          </a:p>
        </p:txBody>
      </p:sp>
      <p:sp>
        <p:nvSpPr>
          <p:cNvPr id="234" name="Google Shape;234;p13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Walk DK — Change it to 0</a:t>
            </a:r>
            <a:endParaRPr/>
          </a:p>
        </p:txBody>
      </p:sp>
      <p:sp>
        <p:nvSpPr>
          <p:cNvPr id="235" name="Google Shape;235;p13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Find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const DIFFICULTY := 2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Change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Ctrl+S to save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41" name="Google Shape;24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1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43" name="Google Shape;243;p1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44" name="Google Shape;244;p1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245" name="Google Shape;245;p1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14</a:t>
            </a:r>
            <a:endParaRPr/>
          </a:p>
        </p:txBody>
      </p:sp>
      <p:sp>
        <p:nvSpPr>
          <p:cNvPr id="246" name="Google Shape;246;p14"/>
          <p:cNvSpPr txBox="1"/>
          <p:nvPr/>
        </p:nvSpPr>
        <p:spPr>
          <a:xfrm>
            <a:off x="457200" y="1051560"/>
            <a:ext cx="11277295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just happened?</a:t>
            </a:r>
            <a:endParaRPr/>
          </a:p>
        </p:txBody>
      </p:sp>
      <p:sp>
        <p:nvSpPr>
          <p:cNvPr id="247" name="Google Shape;247;p1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That's a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list used as a lookup table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DIFF_HP_MULT[DIFFICULTY]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picks the multiplier at index 0, 1, or 2.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You'll learn how lists work in a minute. Change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DIFFICULTY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back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for now.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53" name="Google Shape;25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55" name="Google Shape;255;p1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56" name="Google Shape;256;p1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257" name="Google Shape;257;p1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16</a:t>
            </a:r>
            <a:endParaRPr/>
          </a:p>
        </p:txBody>
      </p:sp>
      <p:sp>
        <p:nvSpPr>
          <p:cNvPr id="258" name="Google Shape;258;p15"/>
          <p:cNvSpPr txBox="1"/>
          <p:nvPr/>
        </p:nvSpPr>
        <p:spPr>
          <a:xfrm>
            <a:off x="457200" y="2601575"/>
            <a:ext cx="11277295" cy="923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Lists</a:t>
            </a:r>
            <a:endParaRPr b="1" i="0" sz="54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64" name="Google Shape;26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1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66" name="Google Shape;266;p1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67" name="Google Shape;267;p1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268" name="Google Shape;268;p1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17</a:t>
            </a:r>
            <a:endParaRPr/>
          </a:p>
        </p:txBody>
      </p:sp>
      <p:sp>
        <p:nvSpPr>
          <p:cNvPr id="269" name="Google Shape;269;p1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 list is things in a line</a:t>
            </a:r>
            <a:endParaRPr/>
          </a:p>
        </p:txBody>
      </p:sp>
      <p:sp>
        <p:nvSpPr>
          <p:cNvPr id="270" name="Google Shape;270;p1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Position 0 is the first slot. Position 4 is the last.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Each thing has a number — its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index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76" name="Google Shape;27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1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78" name="Google Shape;278;p1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79" name="Google Shape;279;p1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280" name="Google Shape;280;p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18</a:t>
            </a:r>
            <a:endParaRPr/>
          </a:p>
        </p:txBody>
      </p:sp>
      <p:sp>
        <p:nvSpPr>
          <p:cNvPr id="281" name="Google Shape;281;p1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Five things you can do to a list</a:t>
            </a:r>
            <a:endParaRPr/>
          </a:p>
        </p:txBody>
      </p:sp>
      <p:sp>
        <p:nvSpPr>
          <p:cNvPr id="282" name="Google Shape;282;p17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add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something to the end —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.append()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remove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something —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.erase()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count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how many —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.size()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walk through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them one at a time —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for x in list: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filter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for only the ones you care about — write a function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Each of these has a code word. You'll use all of them today.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88" name="Google Shape;28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90" name="Google Shape;290;p1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91" name="Google Shape;291;p1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292" name="Google Shape;292;p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19</a:t>
            </a:r>
            <a:endParaRPr/>
          </a:p>
        </p:txBody>
      </p:sp>
      <p:sp>
        <p:nvSpPr>
          <p:cNvPr id="293" name="Google Shape;293;p1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a list looks like in code</a:t>
            </a:r>
            <a:endParaRPr/>
          </a:p>
        </p:txBody>
      </p:sp>
      <p:sp>
        <p:nvSpPr>
          <p:cNvPr id="294" name="Google Shape;294;p1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var games := []                      # empty list var fruits := ["apple", "banana"]    # list with two items var score := 0                       # not a list — just a counter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00" name="Google Shape;3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02" name="Google Shape;302;p1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03" name="Google Shape;303;p1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304" name="Google Shape;304;p1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20</a:t>
            </a:r>
            <a:endParaRPr/>
          </a:p>
        </p:txBody>
      </p:sp>
      <p:sp>
        <p:nvSpPr>
          <p:cNvPr id="305" name="Google Shape;305;p1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Adding to the library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New game. Slides into the next open slot.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 Base Defense: every time an enemy spawns, it slides into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12" name="Google Shape;31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14" name="Google Shape;314;p2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15" name="Google Shape;315;p2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316" name="Google Shape;316;p2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21</a:t>
            </a:r>
            <a:endParaRPr/>
          </a:p>
        </p:txBody>
      </p:sp>
      <p:sp>
        <p:nvSpPr>
          <p:cNvPr id="317" name="Google Shape;317;p20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Lists in every game</a:t>
            </a:r>
            <a:endParaRPr/>
          </a:p>
        </p:txBody>
      </p:sp>
      <p:sp>
        <p:nvSpPr>
          <p:cNvPr id="318" name="Google Shape;318;p20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Pac-Man: a list of ghost positions — already used this in D2.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Every RPG: inventory list, quest list, party list.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Base Defense: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(who's alive),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towers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(what's placed),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enemies_to_spawn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(spawn queue for this wave).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24" name="Google Shape;32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2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26" name="Google Shape;326;p2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27" name="Google Shape;327;p2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328" name="Google Shape;328;p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22</a:t>
            </a:r>
            <a:endParaRPr/>
          </a:p>
        </p:txBody>
      </p:sp>
      <p:sp>
        <p:nvSpPr>
          <p:cNvPr id="329" name="Google Shape;329;p21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Base Defense needs four things to remember</a:t>
            </a:r>
            <a:endParaRPr/>
          </a:p>
        </p:txBody>
      </p:sp>
      <p:sp>
        <p:nvSpPr>
          <p:cNvPr id="330" name="Google Shape;330;p21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a list of every enemy currently on the field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towers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a list of every tower the player has placed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coins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how many coins the player has right now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base_hp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how much health the base has left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Nothing else in the file works without these four. They're the memory of the whole game.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36" name="Google Shape;33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38" name="Google Shape;338;p2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39" name="Google Shape;339;p2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340" name="Google Shape;340;p2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23</a:t>
            </a:r>
            <a:endParaRPr/>
          </a:p>
        </p:txBody>
      </p:sp>
      <p:sp>
        <p:nvSpPr>
          <p:cNvPr id="341" name="Google Shape;341;p22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Why these live at the top of the file</a:t>
            </a:r>
            <a:endParaRPr/>
          </a:p>
        </p:txBody>
      </p:sp>
      <p:sp>
        <p:nvSpPr>
          <p:cNvPr id="342" name="Google Shape;342;p22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Variables declared outside any function are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file-level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Every function can read and change them.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spawn_enemy()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will push into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kill_enemy()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will pull from it.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_process()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will walk it.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If they weren't at the top, each function would have its own private copy — and they'd never talk to each other.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48" name="Google Shape;34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50" name="Google Shape;350;p2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51" name="Google Shape;351;p2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352" name="Google Shape;352;p2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25</a:t>
            </a:r>
            <a:endParaRPr/>
          </a:p>
        </p:txBody>
      </p:sp>
      <p:sp>
        <p:nvSpPr>
          <p:cNvPr id="353" name="Google Shape;353;p23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TODO #1: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Two empty libraries and two counters. The whole game hangs on these four lines.</a:t>
            </a:r>
            <a:endParaRPr/>
          </a:p>
        </p:txBody>
      </p:sp>
      <p:sp>
        <p:nvSpPr>
          <p:cNvPr id="354" name="Google Shape;354;p23"/>
          <p:cNvSpPr txBox="1"/>
          <p:nvPr/>
        </p:nvSpPr>
        <p:spPr>
          <a:xfrm>
            <a:off x="457200" y="2606040"/>
            <a:ext cx="550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Syntax for Variables and Lists</a:t>
            </a: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:</a:t>
            </a:r>
            <a:endParaRPr/>
          </a:p>
        </p:txBody>
      </p:sp>
      <p:sp>
        <p:nvSpPr>
          <p:cNvPr id="355" name="Google Shape;355;p23"/>
          <p:cNvSpPr/>
          <p:nvPr/>
        </p:nvSpPr>
        <p:spPr>
          <a:xfrm>
            <a:off x="457200" y="2971800"/>
            <a:ext cx="5501487" cy="352044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	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coins :=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endParaRPr b="0" i="0" sz="1800" u="none" cap="none" strike="noStrike">
              <a:solidFill>
                <a:srgbClr val="B5CEA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B5CEA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80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	</a:t>
            </a:r>
            <a:r>
              <a:rPr lang="en-US" sz="180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-US" sz="1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games := []</a:t>
            </a:r>
            <a:endParaRPr sz="1800">
              <a:solidFill>
                <a:srgbClr val="B5CEA8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356" name="Google Shape;356;p23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sp>
        <p:nvSpPr>
          <p:cNvPr id="357" name="Google Shape;357;p23"/>
          <p:cNvSpPr/>
          <p:nvPr/>
        </p:nvSpPr>
        <p:spPr>
          <a:xfrm>
            <a:off x="6742650" y="3098900"/>
            <a:ext cx="3376500" cy="25500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TODO #1</a:t>
            </a:r>
            <a:endParaRPr b="1" sz="3100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enemies</a:t>
            </a:r>
            <a:endParaRPr b="1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towers</a:t>
            </a:r>
            <a:endParaRPr b="1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coins</a:t>
            </a:r>
            <a:endParaRPr b="1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base_hp</a:t>
            </a:r>
            <a:endParaRPr b="1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63" name="Google Shape;36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2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65" name="Google Shape;365;p2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66" name="Google Shape;366;p2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367" name="Google Shape;367;p2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26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Declarations done — no fireworks yet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These variables are invisible until the rest of the chunks wire them up. Trust the process.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75" name="Google Shape;37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2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77" name="Google Shape;377;p2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78" name="Google Shape;378;p2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379" name="Google Shape;379;p2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27</a:t>
            </a:r>
            <a:endParaRPr/>
          </a:p>
        </p:txBody>
      </p:sp>
      <p:sp>
        <p:nvSpPr>
          <p:cNvPr id="380" name="Google Shape;380;p2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Quick check before running</a:t>
            </a:r>
            <a:endParaRPr/>
          </a:p>
        </p:txBody>
      </p:sp>
      <p:sp>
        <p:nvSpPr>
          <p:cNvPr id="381" name="Google Shape;381;p2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Four vars declared at file level?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and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towers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are empty lists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[]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coins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=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START_COINS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base_hp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=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START_BASE_HP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Yes to all three → let's run.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87" name="Google Shape;387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2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89" name="Google Shape;389;p2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90" name="Google Shape;390;p2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391" name="Google Shape;391;p2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28</a:t>
            </a:r>
            <a:endParaRPr/>
          </a:p>
        </p:txBody>
      </p:sp>
      <p:sp>
        <p:nvSpPr>
          <p:cNvPr id="392" name="Google Shape;392;p2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Walk C — Run your game</a:t>
            </a:r>
            <a:endParaRPr/>
          </a:p>
        </p:txBody>
      </p:sp>
      <p:sp>
        <p:nvSpPr>
          <p:cNvPr id="393" name="Google Shape;393;p2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Run the game and confirm it opens without errors.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99" name="Google Shape;39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2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01" name="Google Shape;401;p2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02" name="Google Shape;402;p2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403" name="Google Shape;403;p2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29</a:t>
            </a:r>
            <a:endParaRPr/>
          </a:p>
        </p:txBody>
      </p:sp>
      <p:sp>
        <p:nvSpPr>
          <p:cNvPr id="404" name="Google Shape;404;p2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Walk C — Hint</a:t>
            </a:r>
            <a:endParaRPr/>
          </a:p>
        </p:txBody>
      </p:sp>
      <p:sp>
        <p:nvSpPr>
          <p:cNvPr id="405" name="Google Shape;405;p27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F5 → "Set Main Scene?" → Select Current → game window opens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F8 to stop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11" name="Google Shape;41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2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13" name="Google Shape;413;p2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14" name="Google Shape;414;p2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415" name="Google Shape;415;p2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30</a:t>
            </a:r>
            <a:endParaRPr/>
          </a:p>
        </p:txBody>
      </p:sp>
      <p:sp>
        <p:nvSpPr>
          <p:cNvPr id="416" name="Google Shape;416;p2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Walk D — Game didn't open?</a:t>
            </a:r>
            <a:endParaRPr/>
          </a:p>
        </p:txBody>
      </p:sp>
      <p:sp>
        <p:nvSpPr>
          <p:cNvPr id="417" name="Google Shape;417;p2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Find the error in the Output panel.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2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23" name="Google Shape;423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2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25" name="Google Shape;425;p2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26" name="Google Shape;426;p2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427" name="Google Shape;427;p2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31</a:t>
            </a:r>
            <a:endParaRPr/>
          </a:p>
        </p:txBody>
      </p:sp>
      <p:sp>
        <p:nvSpPr>
          <p:cNvPr id="428" name="Google Shape;428;p2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Walk D — Hint</a:t>
            </a:r>
            <a:endParaRPr/>
          </a:p>
        </p:txBody>
      </p:sp>
      <p:sp>
        <p:nvSpPr>
          <p:cNvPr id="429" name="Google Shape;429;p2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Output panel (bottom of editor) → look for red text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Click the blue line number → editor jumps to the problem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Fix the typo → Ctrl+S → F5 again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35" name="Google Shape;43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3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37" name="Google Shape;437;p3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38" name="Google Shape;438;p3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439" name="Google Shape;439;p3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32</a:t>
            </a:r>
            <a:endParaRPr/>
          </a:p>
        </p:txBody>
      </p:sp>
      <p:sp>
        <p:nvSpPr>
          <p:cNvPr id="440" name="Google Shape;440;p30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You've got two empty libraries — time to fill and drain them</a:t>
            </a:r>
            <a:endParaRPr/>
          </a:p>
        </p:txBody>
      </p:sp>
      <p:sp>
        <p:nvSpPr>
          <p:cNvPr id="441" name="Google Shape;441;p30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starts empty. The game needs to add enemies when they spawn, and remove them when they die or reach the base.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towers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starts empty. The game adds a tower when the player places one.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Two operations. One word each: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.append()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adds.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.erase()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removes.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3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47" name="Google Shape;447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49" name="Google Shape;449;p3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50" name="Google Shape;450;p3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451" name="Google Shape;451;p3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33</a:t>
            </a:r>
            <a:endParaRPr/>
          </a:p>
        </p:txBody>
      </p:sp>
      <p:sp>
        <p:nvSpPr>
          <p:cNvPr id="452" name="Google Shape;452;p31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.append()</a:t>
            </a: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and </a:t>
            </a:r>
            <a:r>
              <a:rPr b="1" i="0" lang="en-US" sz="36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.erase()</a:t>
            </a:r>
            <a:endParaRPr/>
          </a:p>
        </p:txBody>
      </p:sp>
      <p:sp>
        <p:nvSpPr>
          <p:cNvPr id="453" name="Google Shape;453;p31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Left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: row of 4 tiles, 5th tile slides in from right.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Right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: row of 5 tiles, one fades out, others shift left.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 Base Defense: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enemies.append(e)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when a new enemy spawns.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enemies.erase(e)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when it dies or gets through.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3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59" name="Google Shape;459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3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61" name="Google Shape;461;p3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62" name="Google Shape;462;p3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463" name="Google Shape;463;p3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34</a:t>
            </a:r>
            <a:endParaRPr/>
          </a:p>
        </p:txBody>
      </p:sp>
      <p:sp>
        <p:nvSpPr>
          <p:cNvPr id="464" name="Google Shape;464;p32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Quiz — what's at position 2?</a:t>
            </a:r>
            <a:endParaRPr/>
          </a:p>
        </p:txBody>
      </p:sp>
      <p:sp>
        <p:nvSpPr>
          <p:cNvPr id="465" name="Google Shape;465;p32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Library: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["Spider-Man", "FIFA", "Minecraft", "Stardew"]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You delete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"Minecraft"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What's at position 2 now?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Answer: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"Stardew"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Erasing shifts everything after it forward by one.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3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71" name="Google Shape;471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3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73" name="Google Shape;473;p3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74" name="Google Shape;474;p3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475" name="Google Shape;475;p3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35</a:t>
            </a:r>
            <a:endParaRPr/>
          </a:p>
        </p:txBody>
      </p:sp>
      <p:sp>
        <p:nvSpPr>
          <p:cNvPr id="476" name="Google Shape;476;p33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Three places in Base Defense</a:t>
            </a:r>
            <a:endParaRPr/>
          </a:p>
        </p:txBody>
      </p:sp>
      <p:sp>
        <p:nvSpPr>
          <p:cNvPr id="477" name="Google Shape;477;p33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Enemy spawns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.append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Tower kills enemy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.erase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from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+ add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reward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coins.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Enemy reaches base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.erase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from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(no bounty — the enemy got through).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3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83" name="Google Shape;48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3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85" name="Google Shape;485;p3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86" name="Google Shape;486;p3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487" name="Google Shape;487;p3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36</a:t>
            </a:r>
            <a:endParaRPr/>
          </a:p>
        </p:txBody>
      </p:sp>
      <p:sp>
        <p:nvSpPr>
          <p:cNvPr id="488" name="Google Shape;488;p34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TODO #2a: Append e to enemy list. 2b: Erase e from enemy list. </a:t>
            </a:r>
            <a:endParaRPr/>
          </a:p>
        </p:txBody>
      </p:sp>
      <p:sp>
        <p:nvSpPr>
          <p:cNvPr id="489" name="Google Shape;489;p34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490" name="Google Shape;490;p34"/>
          <p:cNvSpPr/>
          <p:nvPr/>
        </p:nvSpPr>
        <p:spPr>
          <a:xfrm>
            <a:off x="457200" y="2971800"/>
            <a:ext cx="5501487" cy="352044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append: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library.append(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"Hogwarts Legacy"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erase only: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library.erase(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"Bad Game"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800">
              <a:solidFill>
                <a:srgbClr val="E6E6E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491" name="Google Shape;491;p34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492" name="Google Shape;492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5847" y="3044597"/>
            <a:ext cx="5994816" cy="3283406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4"/>
          <p:cNvSpPr/>
          <p:nvPr/>
        </p:nvSpPr>
        <p:spPr>
          <a:xfrm>
            <a:off x="6193938" y="4221887"/>
            <a:ext cx="5798634" cy="880110"/>
          </a:xfrm>
          <a:prstGeom prst="rect">
            <a:avLst/>
          </a:prstGeom>
          <a:noFill/>
          <a:ln cap="flat" cmpd="sng" w="50800">
            <a:solidFill>
              <a:srgbClr val="E53A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3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99" name="Google Shape;49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3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01" name="Google Shape;501;p3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02" name="Google Shape;502;p3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503" name="Google Shape;503;p3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38</a:t>
            </a:r>
            <a:endParaRPr/>
          </a:p>
        </p:txBody>
      </p:sp>
      <p:sp>
        <p:nvSpPr>
          <p:cNvPr id="504" name="Google Shape;504;p3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Same </a:t>
            </a:r>
            <a:r>
              <a:rPr b="1" i="0" lang="en-US" sz="36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Same shape. New lists.</a:t>
            </a:r>
            <a:endParaRPr/>
          </a:p>
        </p:txBody>
      </p:sp>
      <p:sp>
        <p:nvSpPr>
          <p:cNvPr id="505" name="Google Shape;505;p3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D2: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for ghost in ghosts: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you walked every ghost.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D3: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for enemy in enemies: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same.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for tower in towers: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same again.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The only new thing: you're doing it twice, once for each list.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3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11" name="Google Shape;51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13" name="Google Shape;513;p3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14" name="Google Shape;514;p3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515" name="Google Shape;515;p3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39</a:t>
            </a:r>
            <a:endParaRPr/>
          </a:p>
        </p:txBody>
      </p:sp>
      <p:sp>
        <p:nvSpPr>
          <p:cNvPr id="516" name="Google Shape;516;p3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D2 shape — you already wrote this</a:t>
            </a:r>
            <a:endParaRPr/>
          </a:p>
        </p:txBody>
      </p:sp>
      <p:sp>
        <p:nvSpPr>
          <p:cNvPr id="517" name="Google Shape;517;p3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for colour in ["red", "green", "blue"]: print(colour) Same shape you wrote yesterday. Today the list is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The action is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step_enemy(e)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3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23" name="Google Shape;52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3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25" name="Google Shape;525;p3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26" name="Google Shape;526;p3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527" name="Google Shape;527;p3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40</a:t>
            </a:r>
            <a:endParaRPr/>
          </a:p>
        </p:txBody>
      </p:sp>
      <p:sp>
        <p:nvSpPr>
          <p:cNvPr id="528" name="Google Shape;528;p3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Every frame: two sweeps</a:t>
            </a:r>
            <a:endParaRPr/>
          </a:p>
        </p:txBody>
      </p:sp>
      <p:sp>
        <p:nvSpPr>
          <p:cNvPr id="529" name="Google Shape;529;p37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Every frame: walk every enemy → step it forward by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delta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It moves one tick toward the base.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Every frame: walk every tower → tick its cooldown. If cooldown hits zero, it tries to fire.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Without both loops: the field is frozen. Nothing moves, nothing shoots.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3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35" name="Google Shape;535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3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37" name="Google Shape;537;p3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38" name="Google Shape;538;p3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539" name="Google Shape;539;p3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41</a:t>
            </a:r>
            <a:endParaRPr/>
          </a:p>
        </p:txBody>
      </p:sp>
      <p:sp>
        <p:nvSpPr>
          <p:cNvPr id="540" name="Google Shape;540;p38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TODO #3: Build two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for-loops, back to back. </a:t>
            </a: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One sweeps the enemies list, the other sweeps the </a:t>
            </a: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towers</a:t>
            </a: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list.</a:t>
            </a:r>
            <a:endParaRPr/>
          </a:p>
        </p:txBody>
      </p:sp>
      <p:sp>
        <p:nvSpPr>
          <p:cNvPr id="541" name="Google Shape;541;p3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542" name="Google Shape;542;p38"/>
          <p:cNvSpPr/>
          <p:nvPr/>
        </p:nvSpPr>
        <p:spPr>
          <a:xfrm>
            <a:off x="457200" y="2971800"/>
            <a:ext cx="5501487" cy="352044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game in library: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(game)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543" name="Google Shape;543;p38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544" name="Google Shape;544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03125" y="2971800"/>
            <a:ext cx="4979538" cy="3816029"/>
          </a:xfrm>
          <a:prstGeom prst="rect">
            <a:avLst/>
          </a:prstGeom>
          <a:noFill/>
          <a:ln>
            <a:noFill/>
          </a:ln>
        </p:spPr>
      </p:pic>
      <p:sp>
        <p:nvSpPr>
          <p:cNvPr id="545" name="Google Shape;545;p38"/>
          <p:cNvSpPr/>
          <p:nvPr/>
        </p:nvSpPr>
        <p:spPr>
          <a:xfrm>
            <a:off x="6233007" y="4879814"/>
            <a:ext cx="4807249" cy="880110"/>
          </a:xfrm>
          <a:prstGeom prst="rect">
            <a:avLst/>
          </a:prstGeom>
          <a:noFill/>
          <a:ln cap="flat" cmpd="sng" w="50800">
            <a:solidFill>
              <a:srgbClr val="E53A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3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51" name="Google Shape;551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52" name="Google Shape;552;p3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53" name="Google Shape;553;p3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54" name="Google Shape;554;p3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555" name="Google Shape;555;p3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43</a:t>
            </a:r>
            <a:endParaRPr/>
          </a:p>
        </p:txBody>
      </p:sp>
      <p:sp>
        <p:nvSpPr>
          <p:cNvPr id="556" name="Google Shape;556;p3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Yesterday: one value in. Today: a whole list in.</a:t>
            </a:r>
            <a:endParaRPr/>
          </a:p>
        </p:txBody>
      </p:sp>
      <p:sp>
        <p:nvSpPr>
          <p:cNvPr id="557" name="Google Shape;557;p3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D2: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func add_points(amount):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you handed in one number.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D3: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func move_all(enemy_list, delta):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you hand in a whole list.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 function can take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anything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as input — including a list you've already built.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4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63" name="Google Shape;563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64" name="Google Shape;564;p4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65" name="Google Shape;565;p4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66" name="Google Shape;566;p4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567" name="Google Shape;567;p4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44</a:t>
            </a:r>
            <a:endParaRPr/>
          </a:p>
        </p:txBody>
      </p:sp>
      <p:sp>
        <p:nvSpPr>
          <p:cNvPr id="568" name="Google Shape;568;p40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D2: one thing in</a:t>
            </a:r>
            <a:endParaRPr/>
          </a:p>
        </p:txBody>
      </p:sp>
      <p:sp>
        <p:nvSpPr>
          <p:cNvPr id="569" name="Google Shape;569;p40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func add_points(amount): score += amount Yesterday: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amount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was a number. Today: it can be a list.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4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75" name="Google Shape;575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p4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77" name="Google Shape;577;p4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78" name="Google Shape;578;p4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579" name="Google Shape;579;p4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45</a:t>
            </a:r>
            <a:endParaRPr/>
          </a:p>
        </p:txBody>
      </p:sp>
      <p:sp>
        <p:nvSpPr>
          <p:cNvPr id="580" name="Google Shape;580;p41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Imagine </a:t>
            </a:r>
            <a:r>
              <a:rPr b="1" i="0" lang="en-US" sz="36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import_library(games)</a:t>
            </a:r>
            <a:endParaRPr/>
          </a:p>
        </p:txBody>
      </p:sp>
      <p:sp>
        <p:nvSpPr>
          <p:cNvPr id="581" name="Google Shape;581;p41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You hand the function your whole PS5 library at once.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Inside the function, it does something to every game in that list.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move_all(enemy_list, delta)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is the same idea — hand it the list, it steps every item.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4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87" name="Google Shape;587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88" name="Google Shape;588;p4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89" name="Google Shape;589;p4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90" name="Google Shape;590;p4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591" name="Google Shape;591;p4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46</a:t>
            </a:r>
            <a:endParaRPr/>
          </a:p>
        </p:txBody>
      </p:sp>
      <p:sp>
        <p:nvSpPr>
          <p:cNvPr id="592" name="Google Shape;592;p42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TODO #4: Similar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shape as chunk #3 — just using the list that was handed in.</a:t>
            </a:r>
            <a:endParaRPr/>
          </a:p>
        </p:txBody>
      </p:sp>
      <p:sp>
        <p:nvSpPr>
          <p:cNvPr id="593" name="Google Shape;593;p42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594" name="Google Shape;594;p42"/>
          <p:cNvSpPr/>
          <p:nvPr/>
        </p:nvSpPr>
        <p:spPr>
          <a:xfrm>
            <a:off x="457200" y="2971800"/>
            <a:ext cx="5501487" cy="352044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total(numbers):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 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n in numbers: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s += 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595" name="Google Shape;595;p42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596" name="Google Shape;596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5847" y="3323123"/>
            <a:ext cx="6009253" cy="2702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4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02" name="Google Shape;602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Google Shape;603;p4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04" name="Google Shape;604;p4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05" name="Google Shape;605;p4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606" name="Google Shape;606;p4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48</a:t>
            </a:r>
            <a:endParaRPr/>
          </a:p>
        </p:txBody>
      </p:sp>
      <p:sp>
        <p:nvSpPr>
          <p:cNvPr id="607" name="Google Shape;607;p43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Tool in the toolbox</a:t>
            </a:r>
            <a:endParaRPr/>
          </a:p>
        </p:txBody>
      </p:sp>
      <p:sp>
        <p:nvSpPr>
          <p:cNvPr id="608" name="Google Shape;608;p43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move_all()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is done but nothing calls it yet.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You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could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refactor your chunk #3 enemy loop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move_all(enemies, delta)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same result.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Concept: the same loop logic, but packaged so anyone can hand in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any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list, not just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4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14" name="Google Shape;614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4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16" name="Google Shape;616;p4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17" name="Google Shape;617;p4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618" name="Google Shape;618;p4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49</a:t>
            </a:r>
            <a:endParaRPr/>
          </a:p>
        </p:txBody>
      </p:sp>
      <p:sp>
        <p:nvSpPr>
          <p:cNvPr id="619" name="Google Shape;619;p44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Deeper Functions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4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25" name="Google Shape;625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p4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27" name="Google Shape;627;p4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28" name="Google Shape;628;p4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629" name="Google Shape;629;p4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50</a:t>
            </a:r>
            <a:endParaRPr/>
          </a:p>
        </p:txBody>
      </p:sp>
      <p:sp>
        <p:nvSpPr>
          <p:cNvPr id="630" name="Google Shape;630;p4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 function that hands something back</a:t>
            </a:r>
            <a:endParaRPr/>
          </a:p>
        </p:txBody>
      </p:sp>
      <p:sp>
        <p:nvSpPr>
          <p:cNvPr id="631" name="Google Shape;631;p4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So far: functions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do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things.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step_enemy()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spawn_enemy()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move_all()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all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do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New: a function can also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answer a question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You call it → it gives you something back.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That "something back" is called the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return value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```gdscript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Image: none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Caption: "The function runs, does work, then hands the result back with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Notes: This is the D2 Chunk #6 callback (they wrote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hit_wall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which returned a bool). Lean on it: "You already did this —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hit_wall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returned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or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Today the function returns a game node."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4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37" name="Google Shape;637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38" name="Google Shape;638;p4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39" name="Google Shape;639;p4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40" name="Google Shape;640;p4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641" name="Google Shape;641;p4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51</a:t>
            </a:r>
            <a:endParaRPr/>
          </a:p>
        </p:txBody>
      </p:sp>
      <p:sp>
        <p:nvSpPr>
          <p:cNvPr id="642" name="Google Shape;642;p4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Return — code shape</a:t>
            </a:r>
            <a:endParaRPr/>
          </a:p>
        </p:txBody>
      </p:sp>
      <p:sp>
        <p:nvSpPr>
          <p:cNvPr id="643" name="Google Shape;643;p4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func find_best(list): var best = null for item in list: # check if item is better than best best = item return best Three parts: start with nothing (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), scan the list, hand back the winner.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4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49" name="Google Shape;649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50" name="Google Shape;650;p4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51" name="Google Shape;651;p4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52" name="Google Shape;652;p4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653" name="Google Shape;653;p4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52</a:t>
            </a:r>
            <a:endParaRPr/>
          </a:p>
        </p:txBody>
      </p:sp>
      <p:sp>
        <p:nvSpPr>
          <p:cNvPr id="654" name="Google Shape;654;p4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backpack</a:t>
            </a:r>
            <a:endParaRPr/>
          </a:p>
        </p:txBody>
      </p:sp>
      <p:sp>
        <p:nvSpPr>
          <p:cNvPr id="655" name="Google Shape;655;p47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 grab the snack. You put it in your backpack.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add_to_backpack(snack)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Another function. Input = snack, output = nothing (your backpack just changed).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4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61" name="Google Shape;661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62" name="Google Shape;662;p4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63" name="Google Shape;663;p4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64" name="Google Shape;664;p4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665" name="Google Shape;665;p4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53</a:t>
            </a:r>
            <a:endParaRPr/>
          </a:p>
        </p:txBody>
      </p:sp>
      <p:sp>
        <p:nvSpPr>
          <p:cNvPr id="666" name="Google Shape;666;p4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Output of one feeds input of the next</a:t>
            </a:r>
            <a:endParaRPr/>
          </a:p>
        </p:txBody>
      </p:sp>
      <p:sp>
        <p:nvSpPr>
          <p:cNvPr id="667" name="Google Shape;667;p4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Diagram with arrow: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vend("B4")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returns snack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add_to_backpack(snack)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The first function's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answer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is the second function's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question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4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73" name="Google Shape;673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p4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75" name="Google Shape;675;p4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76" name="Google Shape;676;p4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677" name="Google Shape;677;p4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54</a:t>
            </a:r>
            <a:endParaRPr/>
          </a:p>
        </p:txBody>
      </p:sp>
      <p:sp>
        <p:nvSpPr>
          <p:cNvPr id="678" name="Google Shape;678;p4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Two ways to write the same thing</a:t>
            </a:r>
            <a:endParaRPr/>
          </a:p>
        </p:txBody>
      </p:sp>
      <p:sp>
        <p:nvSpPr>
          <p:cNvPr id="679" name="Google Shape;679;p4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 Long form (two lines): var snack = vend("B4") add_to_backpack(snack) # Short / nested form (one line): add_to_backpack(vend("B4")) Same exact result. The inside function runs first.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5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85" name="Google Shape;685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86" name="Google Shape;686;p5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87" name="Google Shape;687;p5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88" name="Google Shape;688;p5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689" name="Google Shape;689;p5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55</a:t>
            </a:r>
            <a:endParaRPr/>
          </a:p>
        </p:txBody>
      </p:sp>
      <p:sp>
        <p:nvSpPr>
          <p:cNvPr id="690" name="Google Shape;690;p50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Best-so-far — the shape of </a:t>
            </a:r>
            <a:r>
              <a:rPr b="1" i="0" lang="en-US" sz="36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get_nearest</a:t>
            </a:r>
            <a:endParaRPr/>
          </a:p>
        </p:txBody>
      </p:sp>
      <p:sp>
        <p:nvSpPr>
          <p:cNvPr id="691" name="Google Shape;691;p50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var best = null var best_d = 999999.0 for item in list: var d = pos.distance_to(item.position) if d &lt; best_d: best = item best_d = d return best Start with no winner. Walk the list. If this one is closer than the current best, it's the new best.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5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97" name="Google Shape;697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5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99" name="Google Shape;699;p5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00" name="Google Shape;700;p5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701" name="Google Shape;701;p5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56</a:t>
            </a:r>
            <a:endParaRPr/>
          </a:p>
        </p:txBody>
      </p:sp>
      <p:sp>
        <p:nvSpPr>
          <p:cNvPr id="702" name="Google Shape;702;p51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Base Defense — which enemy to shoot?</a:t>
            </a:r>
            <a:endParaRPr/>
          </a:p>
        </p:txBody>
      </p:sp>
      <p:sp>
        <p:nvSpPr>
          <p:cNvPr id="703" name="Google Shape;703;p51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Cannon and Sniper both ask: which enemy is closest AND still in range?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get_nearest_enemy_in_range(pos, tower_range)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walks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tracks the closest one within range, and returns it.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The vending machine drops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that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enemy. The backpack (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fire_at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) will be chunk #6's job.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5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09" name="Google Shape;70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5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11" name="Google Shape;711;p5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12" name="Google Shape;712;p5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713" name="Google Shape;713;p5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58</a:t>
            </a:r>
            <a:endParaRPr/>
          </a:p>
        </p:txBody>
      </p:sp>
      <p:sp>
        <p:nvSpPr>
          <p:cNvPr id="714" name="Google Shape;714;p52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TODO #5a: Loop through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every enemy. Keep </a:t>
            </a: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rack the closest one in range. </a:t>
            </a:r>
            <a:endParaRPr/>
          </a:p>
        </p:txBody>
      </p:sp>
      <p:sp>
        <p:nvSpPr>
          <p:cNvPr id="715" name="Google Shape;715;p52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716" name="Google Shape;716;p52"/>
          <p:cNvSpPr/>
          <p:nvPr/>
        </p:nvSpPr>
        <p:spPr>
          <a:xfrm>
            <a:off x="-210562" y="2926075"/>
            <a:ext cx="6837000" cy="352050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nearest(list, pos):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best =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null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best_d 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999999.0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item in list: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d = pos.distance_to(item.position)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d &lt; best_d: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best = item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best_d = 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best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717" name="Google Shape;717;p52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718" name="Google Shape;718;p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43135" y="2938073"/>
            <a:ext cx="5116337" cy="36535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5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24" name="Google Shape;724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25" name="Google Shape;725;p5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26" name="Google Shape;726;p5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27" name="Google Shape;727;p5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728" name="Google Shape;728;p5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59</a:t>
            </a:r>
            <a:endParaRPr/>
          </a:p>
        </p:txBody>
      </p:sp>
      <p:sp>
        <p:nvSpPr>
          <p:cNvPr id="729" name="Google Shape;729;p53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#5a just gave you</a:t>
            </a:r>
            <a:endParaRPr/>
          </a:p>
        </p:txBody>
      </p:sp>
      <p:sp>
        <p:nvSpPr>
          <p:cNvPr id="730" name="Google Shape;730;p53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get_nearest_enemy_in_range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is the vending machine.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You call it with a position and a range. It hands back the closest enemy — or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if no one's in range.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Chunk #6 will be the backpack: take that enemy and fire at it.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5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36" name="Google Shape;736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37" name="Google Shape;737;p5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38" name="Google Shape;738;p5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39" name="Google Shape;739;p5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740" name="Google Shape;740;p5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60</a:t>
            </a:r>
            <a:endParaRPr/>
          </a:p>
        </p:txBody>
      </p:sp>
      <p:sp>
        <p:nvSpPr>
          <p:cNvPr id="741" name="Google Shape;741;p54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No payoff yet — towers fire in chunk #6</a:t>
            </a:r>
            <a:endParaRPr/>
          </a:p>
        </p:txBody>
      </p:sp>
      <p:sp>
        <p:nvSpPr>
          <p:cNvPr id="742" name="Google Shape;742;p54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The function is built. The vending machine is stocked. Next: plug it into the tower loop.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6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5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48" name="Google Shape;748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49" name="Google Shape;749;p5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50" name="Google Shape;750;p5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51" name="Google Shape;751;p5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752" name="Google Shape;752;p5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endParaRPr/>
          </a:p>
        </p:txBody>
      </p:sp>
      <p:sp>
        <p:nvSpPr>
          <p:cNvPr id="753" name="Google Shape;753;p5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#5a returned </a:t>
            </a:r>
            <a:r>
              <a:rPr b="1" i="1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one</a:t>
            </a: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enemy. #5b returns </a:t>
            </a:r>
            <a:r>
              <a:rPr b="1" i="1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all</a:t>
            </a: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enemies in range.</a:t>
            </a:r>
            <a:endParaRPr/>
          </a:p>
        </p:txBody>
      </p:sp>
      <p:sp>
        <p:nvSpPr>
          <p:cNvPr id="754" name="Google Shape;754;p5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Cannon: finds the nearest enemy. Returns one node.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Splash: finds every enemy in a radius. Returns a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list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of nodes.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Same vending machine idea — different output size.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5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60" name="Google Shape;760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p5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62" name="Google Shape;762;p5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63" name="Google Shape;763;p5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764" name="Google Shape;764;p5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62</a:t>
            </a:r>
            <a:endParaRPr/>
          </a:p>
        </p:txBody>
      </p:sp>
      <p:sp>
        <p:nvSpPr>
          <p:cNvPr id="765" name="Google Shape;765;p5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Filter the list — keep only what you want</a:t>
            </a:r>
            <a:endParaRPr/>
          </a:p>
        </p:txBody>
      </p:sp>
      <p:sp>
        <p:nvSpPr>
          <p:cNvPr id="766" name="Google Shape;766;p5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func filter_close(list, pos, radius): var result := [] for item in list: if pos.distance_to(item.position) &lt;= radius: result.append(item) return result Start with an empty list. Walk. If this item passes the test, add it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result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Return the full result at the end.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p5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72" name="Google Shape;77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5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74" name="Google Shape;774;p5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75" name="Google Shape;775;p5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776" name="Google Shape;776;p5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64</a:t>
            </a:r>
            <a:endParaRPr/>
          </a:p>
        </p:txBody>
      </p:sp>
      <p:sp>
        <p:nvSpPr>
          <p:cNvPr id="777" name="Google Shape;777;p57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TODO #5b: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Build a fresh list. Add every enemy within radius. Return it.</a:t>
            </a:r>
            <a:endParaRPr/>
          </a:p>
        </p:txBody>
      </p:sp>
      <p:sp>
        <p:nvSpPr>
          <p:cNvPr id="778" name="Google Shape;778;p57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779" name="Google Shape;779;p57"/>
          <p:cNvSpPr/>
          <p:nvPr/>
        </p:nvSpPr>
        <p:spPr>
          <a:xfrm>
            <a:off x="-270412" y="2899025"/>
            <a:ext cx="6956700" cy="352050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result := []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e in enemies: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pos.distance_to(e.position) &lt;= radius: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result.append(e)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result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780" name="Google Shape;780;p57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781" name="Google Shape;781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27172" y="3243122"/>
            <a:ext cx="5781643" cy="28323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5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87" name="Google Shape;787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88" name="Google Shape;788;p5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89" name="Google Shape;789;p5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90" name="Google Shape;790;p5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791" name="Google Shape;791;p5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65</a:t>
            </a:r>
            <a:endParaRPr/>
          </a:p>
        </p:txBody>
      </p:sp>
      <p:sp>
        <p:nvSpPr>
          <p:cNvPr id="792" name="Google Shape;792;p5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Three functions built. Time to plug them in.</a:t>
            </a:r>
            <a:endParaRPr/>
          </a:p>
        </p:txBody>
      </p:sp>
      <p:sp>
        <p:nvSpPr>
          <p:cNvPr id="793" name="Google Shape;793;p5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move_all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steps every enemy. ✓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get_nearest_enemy_in_range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finds the closest target. ✓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get_enemies_in_radius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finds everyone in a blast zone. ✓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Chunk #6: connect the vending machines to the backpacks. This is the chunk that makes the game playable.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5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99" name="Google Shape;79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Google Shape;800;p5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01" name="Google Shape;801;p5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02" name="Google Shape;802;p5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803" name="Google Shape;803;p5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66</a:t>
            </a:r>
            <a:endParaRPr/>
          </a:p>
        </p:txBody>
      </p:sp>
      <p:sp>
        <p:nvSpPr>
          <p:cNvPr id="804" name="Google Shape;804;p5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</a:t>
            </a:r>
            <a:r>
              <a:rPr b="1" i="0" lang="en-US" sz="36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dispatcher is pre-given</a:t>
            </a:r>
            <a:endParaRPr/>
          </a:p>
        </p:txBody>
      </p:sp>
      <p:sp>
        <p:nvSpPr>
          <p:cNvPr id="805" name="Google Shape;805;p5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is a Day 4 concept — it routes based on what something equals.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Today: it's already written for you. It checks the tower type and jumps to the right branch.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You fill in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each branch does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Diagram: tower type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 t_type: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two paths: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"cannon"/"sniper"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branch → #6a,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"splash"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branch → #6b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6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11" name="Google Shape;811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12" name="Google Shape;812;p6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13" name="Google Shape;813;p6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14" name="Google Shape;814;p6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815" name="Google Shape;815;p6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67</a:t>
            </a:r>
            <a:endParaRPr/>
          </a:p>
        </p:txBody>
      </p:sp>
      <p:sp>
        <p:nvSpPr>
          <p:cNvPr id="816" name="Google Shape;816;p60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Two tower types, two targeting functions</a:t>
            </a:r>
            <a:endParaRPr/>
          </a:p>
        </p:txBody>
      </p:sp>
      <p:sp>
        <p:nvSpPr>
          <p:cNvPr id="817" name="Google Shape;817;p60"/>
          <p:cNvSpPr txBox="1"/>
          <p:nvPr/>
        </p:nvSpPr>
        <p:spPr>
          <a:xfrm>
            <a:off x="457200" y="2148840"/>
            <a:ext cx="11277295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| Tower | Targeting | Function | 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|---|---|---| 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| Cannon, Sniper | Single nearest enemy 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get_nearest_enemy_in_range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(#5a) 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	Splash | All enemies in radius  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get_enemies_in_radius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(#5b) 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	Each branch: pick the target, fire if something's there, reset the cooldown.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6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23" name="Google Shape;823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24" name="Google Shape;824;p6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25" name="Google Shape;825;p6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26" name="Google Shape;826;p6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827" name="Google Shape;827;p6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71</a:t>
            </a:r>
            <a:endParaRPr/>
          </a:p>
        </p:txBody>
      </p:sp>
      <p:sp>
        <p:nvSpPr>
          <p:cNvPr id="828" name="Google Shape;828;p62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Quick playtest — place towers, start a wave</a:t>
            </a:r>
            <a:endParaRPr/>
          </a:p>
        </p:txBody>
      </p:sp>
      <p:sp>
        <p:nvSpPr>
          <p:cNvPr id="829" name="Google Shape;829;p62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Press </a:t>
            </a:r>
            <a:r>
              <a:rPr b="0" i="0" lang="en-US" sz="2400" u="none" cap="none" strike="noStrike">
                <a:solidFill>
                  <a:srgbClr val="8A8A8A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 (Cannon), </a:t>
            </a:r>
            <a:r>
              <a:rPr b="0" i="0" lang="en-US" sz="2400" u="none" cap="none" strike="noStrike">
                <a:solidFill>
                  <a:srgbClr val="8A8A8A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 (Sniper), </a:t>
            </a:r>
            <a:r>
              <a:rPr b="0" i="0" lang="en-US" sz="2400" u="none" cap="none" strike="noStrike">
                <a:solidFill>
                  <a:srgbClr val="8A8A8A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 (Splash). Click to place. </a:t>
            </a:r>
            <a:r>
              <a:rPr b="0" i="0" lang="en-US" sz="2400" u="none" cap="none" strike="noStrike">
                <a:solidFill>
                  <a:srgbClr val="8A8A8A"/>
                </a:solidFill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 to start the wave.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6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35" name="Google Shape;83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36" name="Google Shape;836;p6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37" name="Google Shape;837;p6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38" name="Google Shape;838;p6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839" name="Google Shape;839;p6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72</a:t>
            </a:r>
            <a:endParaRPr/>
          </a:p>
        </p:txBody>
      </p:sp>
      <p:sp>
        <p:nvSpPr>
          <p:cNvPr id="840" name="Google Shape;840;p63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One more thing — how does the game know a wave is done?</a:t>
            </a:r>
            <a:endParaRPr/>
          </a:p>
        </p:txBody>
      </p:sp>
      <p:sp>
        <p:nvSpPr>
          <p:cNvPr id="841" name="Google Shape;841;p63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You just beat wave 1 (maybe). How did the game know it was over?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That's chunk #7 — the wave trigger check. Last chunk.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6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47" name="Google Shape;847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48" name="Google Shape;848;p6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49" name="Google Shape;849;p6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50" name="Google Shape;850;p6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851" name="Google Shape;851;p6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73</a:t>
            </a:r>
            <a:endParaRPr/>
          </a:p>
        </p:txBody>
      </p:sp>
      <p:sp>
        <p:nvSpPr>
          <p:cNvPr id="852" name="Google Shape;852;p64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How does the game know a wave is done?</a:t>
            </a:r>
            <a:endParaRPr/>
          </a:p>
        </p:txBody>
      </p:sp>
      <p:sp>
        <p:nvSpPr>
          <p:cNvPr id="853" name="Google Shape;853;p6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enemies.size()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= how many enemies are alive on the field right now.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library.size()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= how many games you own. Same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.size()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same idea.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When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enemies.size() == 0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the field is empty. But is the wave actually done?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6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59" name="Google Shape;85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6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61" name="Google Shape;861;p6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62" name="Google Shape;862;p6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863" name="Google Shape;863;p6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74</a:t>
            </a:r>
            <a:endParaRPr/>
          </a:p>
        </p:txBody>
      </p:sp>
      <p:sp>
        <p:nvSpPr>
          <p:cNvPr id="864" name="Google Shape;864;p6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Quiz — is the wave done?</a:t>
            </a:r>
            <a:endParaRPr/>
          </a:p>
        </p:txBody>
      </p:sp>
      <p:sp>
        <p:nvSpPr>
          <p:cNvPr id="865" name="Google Shape;865;p6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enemies.size() == 0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is the wave done?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Trick question.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Maybe not.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There could still be enemies waiting to spawn (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enemies_to_spawn.size() &gt; 0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Both lists must be empty AND a wave must actually be in progress.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Answer: check three conditions together with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and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6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71" name="Google Shape;871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72" name="Google Shape;872;p6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73" name="Google Shape;873;p6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74" name="Google Shape;874;p6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875" name="Google Shape;875;p6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75</a:t>
            </a:r>
            <a:endParaRPr/>
          </a:p>
        </p:txBody>
      </p:sp>
      <p:sp>
        <p:nvSpPr>
          <p:cNvPr id="876" name="Google Shape;876;p6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Wave done → what happens next</a:t>
            </a:r>
            <a:endParaRPr/>
          </a:p>
        </p:txBody>
      </p:sp>
      <p:sp>
        <p:nvSpPr>
          <p:cNvPr id="877" name="Google Shape;877;p6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Flip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wave_in_progress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off.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Bump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wave_index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If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wave_index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is past the last wave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you_win()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Otherwise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start_next_wave()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p6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83" name="Google Shape;883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p6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85" name="Google Shape;885;p6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86" name="Google Shape;886;p6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887" name="Google Shape;887;p6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77</a:t>
            </a:r>
            <a:endParaRPr/>
          </a:p>
        </p:txBody>
      </p:sp>
      <p:sp>
        <p:nvSpPr>
          <p:cNvPr id="888" name="Google Shape;888;p67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TODO #7: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IF Both lists empty AND wave in progress → end the wave.</a:t>
            </a:r>
            <a:endParaRPr/>
          </a:p>
        </p:txBody>
      </p:sp>
      <p:sp>
        <p:nvSpPr>
          <p:cNvPr id="889" name="Google Shape;889;p67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890" name="Google Shape;890;p67"/>
          <p:cNvSpPr/>
          <p:nvPr/>
        </p:nvSpPr>
        <p:spPr>
          <a:xfrm>
            <a:off x="457200" y="2971800"/>
            <a:ext cx="5501487" cy="352044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library.size() ==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"buy a game!"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891" name="Google Shape;891;p67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892" name="Google Shape;892;p6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4809" y="3020813"/>
            <a:ext cx="5704006" cy="3215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6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98" name="Google Shape;898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99" name="Google Shape;899;p6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00" name="Google Shape;900;p6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01" name="Google Shape;901;p6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902" name="Google Shape;902;p6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78</a:t>
            </a:r>
            <a:endParaRPr/>
          </a:p>
        </p:txBody>
      </p:sp>
      <p:sp>
        <p:nvSpPr>
          <p:cNvPr id="903" name="Google Shape;903;p68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Make it yours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6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09" name="Google Shape;909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10" name="Google Shape;910;p6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11" name="Google Shape;911;p6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12" name="Google Shape;912;p6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913" name="Google Shape;913;p6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79</a:t>
            </a:r>
            <a:endParaRPr/>
          </a:p>
        </p:txBody>
      </p:sp>
      <p:sp>
        <p:nvSpPr>
          <p:cNvPr id="914" name="Google Shape;914;p6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Seven ways to make Base Defense yours</a:t>
            </a:r>
            <a:endParaRPr/>
          </a:p>
        </p:txBody>
      </p:sp>
      <p:sp>
        <p:nvSpPr>
          <p:cNvPr id="915" name="Google Shape;915;p6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1. Tune tower stats in code 2. Re-tint a tower with Modulate 3. Swap a tower's sprite tile 4. Drag a Kenney scenery prop into the scene 5. Flip the difficulty knob 6. (stretch) Edit the wave list 7. (stretch) Add a new wave entry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9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7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21" name="Google Shape;921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22" name="Google Shape;922;p7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23" name="Google Shape;923;p7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24" name="Google Shape;924;p7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925" name="Google Shape;925;p7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80</a:t>
            </a:r>
            <a:endParaRPr/>
          </a:p>
        </p:txBody>
      </p:sp>
      <p:pic>
        <p:nvPicPr>
          <p:cNvPr descr="D3B1S1.png" id="926" name="Google Shape;926;p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314619"/>
            <a:ext cx="6766377" cy="4823122"/>
          </a:xfrm>
          <a:prstGeom prst="rect">
            <a:avLst/>
          </a:prstGeom>
          <a:noFill/>
          <a:ln>
            <a:noFill/>
          </a:ln>
        </p:spPr>
      </p:pic>
      <p:sp>
        <p:nvSpPr>
          <p:cNvPr id="927" name="Google Shape;927;p70"/>
          <p:cNvSpPr/>
          <p:nvPr/>
        </p:nvSpPr>
        <p:spPr>
          <a:xfrm>
            <a:off x="841284" y="4078972"/>
            <a:ext cx="4172925" cy="1062653"/>
          </a:xfrm>
          <a:prstGeom prst="rect">
            <a:avLst/>
          </a:prstGeom>
          <a:noFill/>
          <a:ln cap="flat" cmpd="sng" w="50800">
            <a:solidFill>
              <a:srgbClr val="E53A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" name="Google Shape;928;p70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Find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TOWER_STATS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main.gd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It's near the top.</a:t>
            </a: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7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34" name="Google Shape;934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35" name="Google Shape;935;p7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36" name="Google Shape;936;p7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37" name="Google Shape;937;p7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938" name="Google Shape;938;p7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81</a:t>
            </a:r>
            <a:endParaRPr/>
          </a:p>
        </p:txBody>
      </p:sp>
      <p:sp>
        <p:nvSpPr>
          <p:cNvPr id="939" name="Google Shape;939;p71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1 — Change the damage</a:t>
            </a:r>
            <a:endParaRPr/>
          </a:p>
        </p:txBody>
      </p:sp>
      <p:sp>
        <p:nvSpPr>
          <p:cNvPr id="940" name="Google Shape;940;p71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Find the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"damage"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key for Cannon (default: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Change it to something wild — try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30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Ctrl+S.</a:t>
            </a:r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4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p7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46" name="Google Shape;94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47" name="Google Shape;947;p7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48" name="Google Shape;948;p7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49" name="Google Shape;949;p7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950" name="Google Shape;950;p7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82</a:t>
            </a:r>
            <a:endParaRPr/>
          </a:p>
        </p:txBody>
      </p:sp>
      <p:sp>
        <p:nvSpPr>
          <p:cNvPr id="951" name="Google Shape;951;p72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2 — Re-tint a tower</a:t>
            </a:r>
            <a:endParaRPr/>
          </a:p>
        </p:txBody>
      </p:sp>
      <p:sp>
        <p:nvSpPr>
          <p:cNvPr id="952" name="Google Shape;952;p72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The Cannon is orange by default. Find the color value in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TOWER_STATS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6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7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58" name="Google Shape;958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59" name="Google Shape;959;p7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60" name="Google Shape;960;p7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61" name="Google Shape;961;p7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962" name="Google Shape;962;p7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83</a:t>
            </a:r>
            <a:endParaRPr/>
          </a:p>
        </p:txBody>
      </p:sp>
      <p:pic>
        <p:nvPicPr>
          <p:cNvPr descr="D3B2S2.png" id="963" name="Google Shape;963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023248"/>
            <a:ext cx="6766377" cy="3405864"/>
          </a:xfrm>
          <a:prstGeom prst="rect">
            <a:avLst/>
          </a:prstGeom>
          <a:noFill/>
          <a:ln>
            <a:noFill/>
          </a:ln>
        </p:spPr>
      </p:pic>
      <p:sp>
        <p:nvSpPr>
          <p:cNvPr id="964" name="Google Shape;964;p73"/>
          <p:cNvSpPr/>
          <p:nvPr/>
        </p:nvSpPr>
        <p:spPr>
          <a:xfrm>
            <a:off x="1377840" y="3792510"/>
            <a:ext cx="5382723" cy="682053"/>
          </a:xfrm>
          <a:prstGeom prst="rect">
            <a:avLst/>
          </a:prstGeom>
          <a:noFill/>
          <a:ln cap="flat" cmpd="sng" w="50800">
            <a:solidFill>
              <a:srgbClr val="E53A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" name="Google Shape;965;p73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2 — Change the color</a:t>
            </a:r>
            <a:endParaRPr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9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7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71" name="Google Shape;971;p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72" name="Google Shape;972;p7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73" name="Google Shape;973;p7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74" name="Google Shape;974;p7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975" name="Google Shape;975;p7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84</a:t>
            </a:r>
            <a:endParaRPr/>
          </a:p>
        </p:txBody>
      </p:sp>
      <p:pic>
        <p:nvPicPr>
          <p:cNvPr descr="D3B3S1.png" id="976" name="Google Shape;976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17342" y="1143000"/>
            <a:ext cx="4446092" cy="5166360"/>
          </a:xfrm>
          <a:prstGeom prst="rect">
            <a:avLst/>
          </a:prstGeom>
          <a:noFill/>
          <a:ln>
            <a:noFill/>
          </a:ln>
        </p:spPr>
      </p:pic>
      <p:sp>
        <p:nvSpPr>
          <p:cNvPr id="977" name="Google Shape;977;p74"/>
          <p:cNvSpPr/>
          <p:nvPr/>
        </p:nvSpPr>
        <p:spPr>
          <a:xfrm>
            <a:off x="1527085" y="3185934"/>
            <a:ext cx="2706550" cy="1033272"/>
          </a:xfrm>
          <a:prstGeom prst="rect">
            <a:avLst/>
          </a:prstGeom>
          <a:noFill/>
          <a:ln cap="flat" cmpd="sng" w="50800">
            <a:solidFill>
              <a:srgbClr val="E53A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74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Browse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assets/kenney_td/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in the FileSystem panel. Pick a tile number you like.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2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7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84" name="Google Shape;984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85" name="Google Shape;985;p7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86" name="Google Shape;986;p7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87" name="Google Shape;987;p7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988" name="Google Shape;988;p7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85</a:t>
            </a:r>
            <a:endParaRPr/>
          </a:p>
        </p:txBody>
      </p:sp>
      <p:pic>
        <p:nvPicPr>
          <p:cNvPr descr="D3B3S2.png" id="989" name="Google Shape;989;p7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3146452"/>
            <a:ext cx="6766377" cy="1159455"/>
          </a:xfrm>
          <a:prstGeom prst="rect">
            <a:avLst/>
          </a:prstGeom>
          <a:noFill/>
          <a:ln>
            <a:noFill/>
          </a:ln>
        </p:spPr>
      </p:pic>
      <p:sp>
        <p:nvSpPr>
          <p:cNvPr id="990" name="Google Shape;990;p75"/>
          <p:cNvSpPr/>
          <p:nvPr/>
        </p:nvSpPr>
        <p:spPr>
          <a:xfrm>
            <a:off x="4721902" y="3372786"/>
            <a:ext cx="1089132" cy="630711"/>
          </a:xfrm>
          <a:prstGeom prst="rect">
            <a:avLst/>
          </a:prstGeom>
          <a:noFill/>
          <a:ln cap="flat" cmpd="sng" w="50800">
            <a:solidFill>
              <a:srgbClr val="E53A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75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3 — Edit the tile number</a:t>
            </a:r>
            <a:endParaRPr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5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p7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97" name="Google Shape;997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98" name="Google Shape;998;p7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99" name="Google Shape;999;p7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00" name="Google Shape;1000;p7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01" name="Google Shape;1001;p7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86</a:t>
            </a:r>
            <a:endParaRPr/>
          </a:p>
        </p:txBody>
      </p:sp>
      <p:sp>
        <p:nvSpPr>
          <p:cNvPr id="1002" name="Google Shape;1002;p7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3 — New tile number</a:t>
            </a:r>
            <a:endParaRPr/>
          </a:p>
        </p:txBody>
      </p:sp>
      <p:sp>
        <p:nvSpPr>
          <p:cNvPr id="1003" name="Google Shape;1003;p7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Ctrl+S → F5. Your Cannon now has a different sprite.</a:t>
            </a:r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7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7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09" name="Google Shape;1009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10" name="Google Shape;1010;p7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11" name="Google Shape;1011;p7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12" name="Google Shape;1012;p7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13" name="Google Shape;1013;p7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87</a:t>
            </a:r>
            <a:endParaRPr/>
          </a:p>
        </p:txBody>
      </p:sp>
      <p:pic>
        <p:nvPicPr>
          <p:cNvPr descr="D3B4S1.png" id="1014" name="Google Shape;1014;p7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86126" y="1143000"/>
            <a:ext cx="3708525" cy="5166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15" name="Google Shape;1015;p77"/>
          <p:cNvSpPr/>
          <p:nvPr/>
        </p:nvSpPr>
        <p:spPr>
          <a:xfrm>
            <a:off x="1965960" y="3082128"/>
            <a:ext cx="2706550" cy="1033272"/>
          </a:xfrm>
          <a:prstGeom prst="rect">
            <a:avLst/>
          </a:prstGeom>
          <a:noFill/>
          <a:ln cap="flat" cmpd="sng" w="50800">
            <a:solidFill>
              <a:srgbClr val="E53A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77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In the Scene dock, find and click the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Scenery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node.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0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p7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22" name="Google Shape;1022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23" name="Google Shape;1023;p7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24" name="Google Shape;1024;p7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25" name="Google Shape;1025;p7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26" name="Google Shape;1026;p7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88</a:t>
            </a:r>
            <a:endParaRPr/>
          </a:p>
        </p:txBody>
      </p:sp>
      <p:sp>
        <p:nvSpPr>
          <p:cNvPr id="1027" name="Google Shape;1027;p7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4 — Drag a prop from FileSystem</a:t>
            </a:r>
            <a:endParaRPr/>
          </a:p>
        </p:txBody>
      </p:sp>
      <p:sp>
        <p:nvSpPr>
          <p:cNvPr id="1028" name="Google Shape;1028;p7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 the FileSystem panel, browse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assets/kenney_td/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Find a tree, rock, or decorative tile you like.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Drag it from FileSystem into the viewport (while Scenery is selected).</a:t>
            </a:r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2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7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34" name="Google Shape;1034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35" name="Google Shape;1035;p7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36" name="Google Shape;1036;p7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37" name="Google Shape;1037;p7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38" name="Google Shape;1038;p7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90</a:t>
            </a:r>
            <a:endParaRPr/>
          </a:p>
        </p:txBody>
      </p:sp>
      <p:sp>
        <p:nvSpPr>
          <p:cNvPr id="1039" name="Google Shape;1039;p7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5 — Make it brutally hard (or easy)</a:t>
            </a:r>
            <a:endParaRPr/>
          </a:p>
        </p:txBody>
      </p:sp>
      <p:sp>
        <p:nvSpPr>
          <p:cNvPr id="1040" name="Google Shape;1040;p7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Remember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DIFFICULTY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from Walk DK? Change it again. Try 0 (easy), 1 (medium), 2 (hard).</a:t>
            </a:r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4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8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46" name="Google Shape;1046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47" name="Google Shape;1047;p8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48" name="Google Shape;1048;p8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49" name="Google Shape;1049;p8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50" name="Google Shape;1050;p8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91</a:t>
            </a:r>
            <a:endParaRPr/>
          </a:p>
        </p:txBody>
      </p:sp>
      <p:sp>
        <p:nvSpPr>
          <p:cNvPr id="1051" name="Google Shape;1051;p80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6 — Edit the wave list (stretch)</a:t>
            </a:r>
            <a:endParaRPr/>
          </a:p>
        </p:txBody>
      </p:sp>
      <p:sp>
        <p:nvSpPr>
          <p:cNvPr id="1052" name="Google Shape;1052;p80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Find the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WAVES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array near the top of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main.gd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Add a wave, change a count, change a type.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6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p8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58" name="Google Shape;1058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59" name="Google Shape;1059;p8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60" name="Google Shape;1060;p8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61" name="Google Shape;1061;p8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62" name="Google Shape;1062;p8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92</a:t>
            </a:r>
            <a:endParaRPr/>
          </a:p>
        </p:txBody>
      </p:sp>
      <p:sp>
        <p:nvSpPr>
          <p:cNvPr id="1063" name="Google Shape;1063;p81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6 — Change a wave</a:t>
            </a:r>
            <a:endParaRPr/>
          </a:p>
        </p:txBody>
      </p:sp>
      <p:sp>
        <p:nvSpPr>
          <p:cNvPr id="1064" name="Google Shape;1064;p81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Find a wave entry like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[5, "basic"]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Change the count: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[20, "basic"]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twenty basics!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Or change the type: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[5, "runner"]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fast runners.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Ctrl+S, F5.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p8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70" name="Google Shape;1070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71" name="Google Shape;1071;p8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72" name="Google Shape;1072;p8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73" name="Google Shape;1073;p8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74" name="Google Shape;1074;p8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93</a:t>
            </a:r>
            <a:endParaRPr/>
          </a:p>
        </p:txBody>
      </p:sp>
      <p:sp>
        <p:nvSpPr>
          <p:cNvPr id="1075" name="Google Shape;1075;p82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7 — Add a boss wave (stretch)</a:t>
            </a:r>
            <a:endParaRPr/>
          </a:p>
        </p:txBody>
      </p:sp>
      <p:sp>
        <p:nvSpPr>
          <p:cNvPr id="1076" name="Google Shape;1076;p82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At the end of the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WAVES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array, add a new entry: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[20, \"runner\"]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That's your boss wave.</a:t>
            </a:r>
            <a:endParaRPr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0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8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82" name="Google Shape;1082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83" name="Google Shape;1083;p8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84" name="Google Shape;1084;p8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85" name="Google Shape;1085;p8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86" name="Google Shape;1086;p8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94</a:t>
            </a:r>
            <a:endParaRPr/>
          </a:p>
        </p:txBody>
      </p:sp>
      <p:sp>
        <p:nvSpPr>
          <p:cNvPr id="1087" name="Google Shape;1087;p83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Final Challenge — Endless Mode</a:t>
            </a:r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8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93" name="Google Shape;109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94" name="Google Shape;1094;p8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95" name="Google Shape;1095;p8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96" name="Google Shape;1096;p8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097" name="Google Shape;1097;p8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95</a:t>
            </a:r>
            <a:endParaRPr/>
          </a:p>
        </p:txBody>
      </p:sp>
      <p:sp>
        <p:nvSpPr>
          <p:cNvPr id="1098" name="Google Shape;1098;p84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endless mode looks like</a:t>
            </a:r>
            <a:endParaRPr/>
          </a:p>
        </p:txBody>
      </p:sp>
      <p:sp>
        <p:nvSpPr>
          <p:cNvPr id="1099" name="Google Shape;1099;p8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Rip out the 8 waves. Spawn forever. Everything ramps.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No win screen. The game ends only when the base falls.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Waves get harder every time you clear the field. The gap between spawns shrinks. Enemies get faster.</a:t>
            </a:r>
            <a:endParaRPr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3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8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105" name="Google Shape;1105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106" name="Google Shape;1106;p8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107" name="Google Shape;1107;p8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108" name="Google Shape;1108;p8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109" name="Google Shape;1109;p8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96</a:t>
            </a:r>
            <a:endParaRPr/>
          </a:p>
        </p:txBody>
      </p:sp>
      <p:sp>
        <p:nvSpPr>
          <p:cNvPr id="1110" name="Google Shape;1110;p8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 already know how to do this</a:t>
            </a:r>
            <a:endParaRPr/>
          </a:p>
        </p:txBody>
      </p:sp>
      <p:sp>
        <p:nvSpPr>
          <p:cNvPr id="1111" name="Google Shape;1111;p8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FC-1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Chunk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#1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(declare state vars)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FC-2a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Chunk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#2a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.append()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to a list)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FC-2b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Chunk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#2b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.erase()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from a list + reward)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FC-3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Chunk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#3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(iterate two lists each frame)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FC-4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Chunk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#4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(function takes a list as a parameter)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FC-5a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Chunk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#5a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(function returns ONE from a list)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FC-5b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Chunk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#5b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(function returns a LIST from a list)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FC-6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Chunk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#6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+ per-branch nested calls)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FC-7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Chunk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#7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list.size()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check + state transition)</a:t>
            </a:r>
            <a:endParaRPr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5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8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117" name="Google Shape;1117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118" name="Google Shape;1118;p8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119" name="Google Shape;1119;p8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120" name="Google Shape;1120;p8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121" name="Google Shape;1121;p8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97</a:t>
            </a:r>
            <a:endParaRPr/>
          </a:p>
        </p:txBody>
      </p:sp>
      <p:sp>
        <p:nvSpPr>
          <p:cNvPr id="1122" name="Google Shape;1122;p86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Open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main.gd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and scroll to the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ENDLESS_MODE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constant near the top.</a:t>
            </a:r>
            <a:endParaRPr/>
          </a:p>
        </p:txBody>
      </p:sp>
      <p:pic>
        <p:nvPicPr>
          <p:cNvPr id="1123" name="Google Shape;1123;p8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505" y="2000265"/>
            <a:ext cx="6987501" cy="35535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7" name="Shape 1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Google Shape;1128;p8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129" name="Google Shape;1129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130" name="Google Shape;1130;p8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131" name="Google Shape;1131;p8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132" name="Google Shape;1132;p8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133" name="Google Shape;1133;p8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98</a:t>
            </a:r>
            <a:endParaRPr/>
          </a:p>
        </p:txBody>
      </p:sp>
      <p:sp>
        <p:nvSpPr>
          <p:cNvPr id="1134" name="Google Shape;1134;p8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Enable endless mode — step 2</a:t>
            </a:r>
            <a:endParaRPr/>
          </a:p>
        </p:txBody>
      </p:sp>
      <p:sp>
        <p:nvSpPr>
          <p:cNvPr id="1135" name="Google Shape;1135;p87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Change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const ENDLESS_MODE := false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const ENDLESS_MODE := true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Ctrl+S</a:t>
            </a:r>
            <a:endParaRPr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88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141" name="Google Shape;1141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142" name="Google Shape;1142;p88"/>
          <p:cNvSpPr txBox="1"/>
          <p:nvPr/>
        </p:nvSpPr>
        <p:spPr>
          <a:xfrm>
            <a:off x="1051560" y="45720"/>
            <a:ext cx="1828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143" name="Google Shape;1143;p8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144" name="Google Shape;1144;p88"/>
          <p:cNvSpPr txBox="1"/>
          <p:nvPr/>
        </p:nvSpPr>
        <p:spPr>
          <a:xfrm>
            <a:off x="10454335" y="228600"/>
            <a:ext cx="14631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145" name="Google Shape;1145;p88"/>
          <p:cNvSpPr txBox="1"/>
          <p:nvPr/>
        </p:nvSpPr>
        <p:spPr>
          <a:xfrm>
            <a:off x="2743200" y="164592"/>
            <a:ext cx="6858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Final Challenge — Board Examples</a:t>
            </a:r>
            <a:endParaRPr/>
          </a:p>
        </p:txBody>
      </p:sp>
      <p:sp>
        <p:nvSpPr>
          <p:cNvPr id="1146" name="Google Shape;1146;p88"/>
          <p:cNvSpPr/>
          <p:nvPr/>
        </p:nvSpPr>
        <p:spPr>
          <a:xfrm>
            <a:off x="320040" y="1033272"/>
            <a:ext cx="3740700" cy="17769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7" name="Google Shape;1147;p88"/>
          <p:cNvSpPr/>
          <p:nvPr/>
        </p:nvSpPr>
        <p:spPr>
          <a:xfrm>
            <a:off x="320040" y="1033272"/>
            <a:ext cx="3740700" cy="3108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88"/>
          <p:cNvSpPr txBox="1"/>
          <p:nvPr/>
        </p:nvSpPr>
        <p:spPr>
          <a:xfrm>
            <a:off x="402336" y="1033272"/>
            <a:ext cx="3576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FC-1  </a:t>
            </a:r>
            <a:r>
              <a:rPr b="0" i="0" lang="en-US" sz="11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state vars</a:t>
            </a:r>
            <a:endParaRPr/>
          </a:p>
        </p:txBody>
      </p:sp>
      <p:sp>
        <p:nvSpPr>
          <p:cNvPr id="1149" name="Google Shape;1149;p88"/>
          <p:cNvSpPr txBox="1"/>
          <p:nvPr/>
        </p:nvSpPr>
        <p:spPr>
          <a:xfrm>
            <a:off x="402336" y="1426464"/>
            <a:ext cx="3576300" cy="1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spawn_timer: </a:t>
            </a:r>
            <a:r>
              <a:rPr lang="en-US" sz="1050">
                <a:solidFill>
                  <a:srgbClr val="4EC9B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05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0.0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difficulty: </a:t>
            </a:r>
            <a:r>
              <a:rPr lang="en-US" sz="1050">
                <a:solidFill>
                  <a:srgbClr val="4EC9B0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05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spawn_interval: </a:t>
            </a:r>
            <a:r>
              <a:rPr lang="en-US" sz="1050">
                <a:solidFill>
                  <a:srgbClr val="4EC9B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= SPAWN_INTERVAL_START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spawn_queue: </a:t>
            </a:r>
            <a:r>
              <a:rPr lang="en-US" sz="1050">
                <a:solidFill>
                  <a:srgbClr val="4EC9B0"/>
                </a:solidFill>
                <a:latin typeface="Consolas"/>
                <a:ea typeface="Consolas"/>
                <a:cs typeface="Consolas"/>
                <a:sym typeface="Consolas"/>
              </a:rPr>
              <a:t>Array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= []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clear_streak: </a:t>
            </a:r>
            <a:r>
              <a:rPr lang="en-US" sz="1050">
                <a:solidFill>
                  <a:srgbClr val="4EC9B0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05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150" name="Google Shape;1150;p88"/>
          <p:cNvSpPr/>
          <p:nvPr/>
        </p:nvSpPr>
        <p:spPr>
          <a:xfrm>
            <a:off x="4225442" y="1033272"/>
            <a:ext cx="3740700" cy="17769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88"/>
          <p:cNvSpPr/>
          <p:nvPr/>
        </p:nvSpPr>
        <p:spPr>
          <a:xfrm>
            <a:off x="4225442" y="1033272"/>
            <a:ext cx="3740700" cy="3108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2" name="Google Shape;1152;p88"/>
          <p:cNvSpPr txBox="1"/>
          <p:nvPr/>
        </p:nvSpPr>
        <p:spPr>
          <a:xfrm>
            <a:off x="4307738" y="1033272"/>
            <a:ext cx="3576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FC-2a  </a:t>
            </a:r>
            <a:r>
              <a:rPr b="0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.append()</a:t>
            </a:r>
            <a:endParaRPr/>
          </a:p>
        </p:txBody>
      </p:sp>
      <p:sp>
        <p:nvSpPr>
          <p:cNvPr id="1153" name="Google Shape;1153;p88"/>
          <p:cNvSpPr txBox="1"/>
          <p:nvPr/>
        </p:nvSpPr>
        <p:spPr>
          <a:xfrm>
            <a:off x="4307738" y="1426464"/>
            <a:ext cx="3576300" cy="1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spawn_queue.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append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(t)</a:t>
            </a:r>
            <a:endParaRPr/>
          </a:p>
        </p:txBody>
      </p:sp>
      <p:sp>
        <p:nvSpPr>
          <p:cNvPr id="1154" name="Google Shape;1154;p88"/>
          <p:cNvSpPr/>
          <p:nvPr/>
        </p:nvSpPr>
        <p:spPr>
          <a:xfrm>
            <a:off x="8130844" y="1033272"/>
            <a:ext cx="3740700" cy="17769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5" name="Google Shape;1155;p88"/>
          <p:cNvSpPr/>
          <p:nvPr/>
        </p:nvSpPr>
        <p:spPr>
          <a:xfrm>
            <a:off x="8130844" y="1033272"/>
            <a:ext cx="3740700" cy="3108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6" name="Google Shape;1156;p88"/>
          <p:cNvSpPr txBox="1"/>
          <p:nvPr/>
        </p:nvSpPr>
        <p:spPr>
          <a:xfrm>
            <a:off x="8213140" y="1033272"/>
            <a:ext cx="3576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FC-2b  </a:t>
            </a:r>
            <a:r>
              <a:rPr b="0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.pop_front() + reward</a:t>
            </a:r>
            <a:endParaRPr/>
          </a:p>
        </p:txBody>
      </p:sp>
      <p:sp>
        <p:nvSpPr>
          <p:cNvPr id="1157" name="Google Shape;1157;p88"/>
          <p:cNvSpPr txBox="1"/>
          <p:nvPr/>
        </p:nvSpPr>
        <p:spPr>
          <a:xfrm>
            <a:off x="8213140" y="1426464"/>
            <a:ext cx="3576300" cy="1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t: </a:t>
            </a:r>
            <a:r>
              <a:rPr lang="en-US" sz="1050">
                <a:solidFill>
                  <a:srgbClr val="4EC9B0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= spawn_queue.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pop_front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main.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spawn_enemy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random_edge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(), 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main.coins += STREAK_BONUS</a:t>
            </a:r>
            <a:endParaRPr/>
          </a:p>
        </p:txBody>
      </p:sp>
      <p:sp>
        <p:nvSpPr>
          <p:cNvPr id="1158" name="Google Shape;1158;p88"/>
          <p:cNvSpPr/>
          <p:nvPr/>
        </p:nvSpPr>
        <p:spPr>
          <a:xfrm>
            <a:off x="320040" y="2974848"/>
            <a:ext cx="3740700" cy="17769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9" name="Google Shape;1159;p88"/>
          <p:cNvSpPr/>
          <p:nvPr/>
        </p:nvSpPr>
        <p:spPr>
          <a:xfrm>
            <a:off x="320040" y="2974848"/>
            <a:ext cx="3740700" cy="3108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0" name="Google Shape;1160;p88"/>
          <p:cNvSpPr txBox="1"/>
          <p:nvPr/>
        </p:nvSpPr>
        <p:spPr>
          <a:xfrm>
            <a:off x="402336" y="2974848"/>
            <a:ext cx="3576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FC-3  </a:t>
            </a:r>
            <a:r>
              <a:rPr b="0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per-frame buff sweep</a:t>
            </a:r>
            <a:endParaRPr/>
          </a:p>
        </p:txBody>
      </p:sp>
      <p:sp>
        <p:nvSpPr>
          <p:cNvPr id="1161" name="Google Shape;1161;p88"/>
          <p:cNvSpPr txBox="1"/>
          <p:nvPr/>
        </p:nvSpPr>
        <p:spPr>
          <a:xfrm>
            <a:off x="402336" y="3368040"/>
            <a:ext cx="3576300" cy="1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main.enemies: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endless_buff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(e, delta)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t </a:t>
            </a: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main.towers: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buff_tower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(t, delta)</a:t>
            </a:r>
            <a:endParaRPr/>
          </a:p>
        </p:txBody>
      </p:sp>
      <p:sp>
        <p:nvSpPr>
          <p:cNvPr id="1162" name="Google Shape;1162;p88"/>
          <p:cNvSpPr/>
          <p:nvPr/>
        </p:nvSpPr>
        <p:spPr>
          <a:xfrm>
            <a:off x="4225442" y="2974848"/>
            <a:ext cx="3740700" cy="17769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88"/>
          <p:cNvSpPr/>
          <p:nvPr/>
        </p:nvSpPr>
        <p:spPr>
          <a:xfrm>
            <a:off x="4225442" y="2974848"/>
            <a:ext cx="3740700" cy="3108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88"/>
          <p:cNvSpPr txBox="1"/>
          <p:nvPr/>
        </p:nvSpPr>
        <p:spPr>
          <a:xfrm>
            <a:off x="4307738" y="2974848"/>
            <a:ext cx="3576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FC-4  </a:t>
            </a:r>
            <a:r>
              <a:rPr b="0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buff_all(list, delta)</a:t>
            </a:r>
            <a:endParaRPr/>
          </a:p>
        </p:txBody>
      </p:sp>
      <p:sp>
        <p:nvSpPr>
          <p:cNvPr id="1165" name="Google Shape;1165;p88"/>
          <p:cNvSpPr txBox="1"/>
          <p:nvPr/>
        </p:nvSpPr>
        <p:spPr>
          <a:xfrm>
            <a:off x="4307738" y="3368040"/>
            <a:ext cx="3576300" cy="1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enemy_list: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endless_buff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(e, delta)</a:t>
            </a:r>
            <a:endParaRPr/>
          </a:p>
        </p:txBody>
      </p:sp>
      <p:sp>
        <p:nvSpPr>
          <p:cNvPr id="1166" name="Google Shape;1166;p88"/>
          <p:cNvSpPr/>
          <p:nvPr/>
        </p:nvSpPr>
        <p:spPr>
          <a:xfrm>
            <a:off x="8130844" y="2974848"/>
            <a:ext cx="3740700" cy="17769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88"/>
          <p:cNvSpPr/>
          <p:nvPr/>
        </p:nvSpPr>
        <p:spPr>
          <a:xfrm>
            <a:off x="8130844" y="2974848"/>
            <a:ext cx="3740700" cy="3108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8" name="Google Shape;1168;p88"/>
          <p:cNvSpPr txBox="1"/>
          <p:nvPr/>
        </p:nvSpPr>
        <p:spPr>
          <a:xfrm>
            <a:off x="8213140" y="2974848"/>
            <a:ext cx="3576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FC-5a  </a:t>
            </a:r>
            <a:r>
              <a:rPr b="0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get_fastest_enemy()</a:t>
            </a:r>
            <a:endParaRPr/>
          </a:p>
        </p:txBody>
      </p:sp>
      <p:sp>
        <p:nvSpPr>
          <p:cNvPr id="1169" name="Google Shape;1169;p88"/>
          <p:cNvSpPr txBox="1"/>
          <p:nvPr/>
        </p:nvSpPr>
        <p:spPr>
          <a:xfrm>
            <a:off x="8213140" y="3368040"/>
            <a:ext cx="3576300" cy="1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main.enemies: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050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e.speed &gt; best_speed: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fastest = 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best_speed = e.speed</a:t>
            </a:r>
            <a:endParaRPr/>
          </a:p>
        </p:txBody>
      </p:sp>
      <p:sp>
        <p:nvSpPr>
          <p:cNvPr id="1170" name="Google Shape;1170;p88"/>
          <p:cNvSpPr/>
          <p:nvPr/>
        </p:nvSpPr>
        <p:spPr>
          <a:xfrm>
            <a:off x="320040" y="4916424"/>
            <a:ext cx="3740700" cy="17769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1" name="Google Shape;1171;p88"/>
          <p:cNvSpPr/>
          <p:nvPr/>
        </p:nvSpPr>
        <p:spPr>
          <a:xfrm>
            <a:off x="320040" y="4916424"/>
            <a:ext cx="3740700" cy="3108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2" name="Google Shape;1172;p88"/>
          <p:cNvSpPr txBox="1"/>
          <p:nvPr/>
        </p:nvSpPr>
        <p:spPr>
          <a:xfrm>
            <a:off x="402336" y="4916424"/>
            <a:ext cx="3576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FC-5b  </a:t>
            </a:r>
            <a:r>
              <a:rPr b="0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get_wounded_enemies()</a:t>
            </a:r>
            <a:endParaRPr/>
          </a:p>
        </p:txBody>
      </p:sp>
      <p:sp>
        <p:nvSpPr>
          <p:cNvPr id="1173" name="Google Shape;1173;p88"/>
          <p:cNvSpPr txBox="1"/>
          <p:nvPr/>
        </p:nvSpPr>
        <p:spPr>
          <a:xfrm>
            <a:off x="402336" y="5309616"/>
            <a:ext cx="3576300" cy="1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result: </a:t>
            </a:r>
            <a:r>
              <a:rPr lang="en-US" sz="1050">
                <a:solidFill>
                  <a:srgbClr val="4EC9B0"/>
                </a:solidFill>
                <a:latin typeface="Consolas"/>
                <a:ea typeface="Consolas"/>
                <a:cs typeface="Consolas"/>
                <a:sym typeface="Consolas"/>
              </a:rPr>
              <a:t>Array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= []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e </a:t>
            </a: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main.enemies: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050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e.hp &lt;= WOUNDED_HP_THRESHOLD: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result.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append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result</a:t>
            </a:r>
            <a:endParaRPr/>
          </a:p>
        </p:txBody>
      </p:sp>
      <p:sp>
        <p:nvSpPr>
          <p:cNvPr id="1174" name="Google Shape;1174;p88"/>
          <p:cNvSpPr/>
          <p:nvPr/>
        </p:nvSpPr>
        <p:spPr>
          <a:xfrm>
            <a:off x="4225442" y="4916424"/>
            <a:ext cx="3740700" cy="17769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5" name="Google Shape;1175;p88"/>
          <p:cNvSpPr/>
          <p:nvPr/>
        </p:nvSpPr>
        <p:spPr>
          <a:xfrm>
            <a:off x="4225442" y="4916424"/>
            <a:ext cx="3740700" cy="3108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6" name="Google Shape;1176;p88"/>
          <p:cNvSpPr txBox="1"/>
          <p:nvPr/>
        </p:nvSpPr>
        <p:spPr>
          <a:xfrm>
            <a:off x="4307738" y="4916424"/>
            <a:ext cx="3576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FC-6  </a:t>
            </a:r>
            <a:r>
              <a:rPr b="0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escalate() match branch</a:t>
            </a:r>
            <a:endParaRPr/>
          </a:p>
        </p:txBody>
      </p:sp>
      <p:sp>
        <p:nvSpPr>
          <p:cNvPr id="1177" name="Google Shape;1177;p88"/>
          <p:cNvSpPr txBox="1"/>
          <p:nvPr/>
        </p:nvSpPr>
        <p:spPr>
          <a:xfrm>
            <a:off x="4307738" y="5309616"/>
            <a:ext cx="3576300" cy="1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"medium"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t: </a:t>
            </a:r>
            <a:r>
              <a:rPr lang="en-US" sz="1050">
                <a:solidFill>
                  <a:srgbClr val="4EC9B0"/>
                </a:solidFill>
                <a:latin typeface="Consolas"/>
                <a:ea typeface="Consolas"/>
                <a:cs typeface="Consolas"/>
                <a:sym typeface="Consolas"/>
              </a:rPr>
              <a:t>String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pick_type_for_band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(band)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queue_spawn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(t)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queue_spawn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(t)</a:t>
            </a:r>
            <a:endParaRPr/>
          </a:p>
        </p:txBody>
      </p:sp>
      <p:sp>
        <p:nvSpPr>
          <p:cNvPr id="1178" name="Google Shape;1178;p88"/>
          <p:cNvSpPr/>
          <p:nvPr/>
        </p:nvSpPr>
        <p:spPr>
          <a:xfrm>
            <a:off x="8130844" y="4916424"/>
            <a:ext cx="3740700" cy="17769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9" name="Google Shape;1179;p88"/>
          <p:cNvSpPr/>
          <p:nvPr/>
        </p:nvSpPr>
        <p:spPr>
          <a:xfrm>
            <a:off x="8130844" y="4916424"/>
            <a:ext cx="3740700" cy="3108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0" name="Google Shape;1180;p88"/>
          <p:cNvSpPr txBox="1"/>
          <p:nvPr/>
        </p:nvSpPr>
        <p:spPr>
          <a:xfrm>
            <a:off x="8213140" y="4916424"/>
            <a:ext cx="3576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FC-7  </a:t>
            </a:r>
            <a:r>
              <a:rPr b="0" lang="en-US" sz="1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check_for_screen_clear()</a:t>
            </a:r>
            <a:endParaRPr/>
          </a:p>
        </p:txBody>
      </p:sp>
      <p:sp>
        <p:nvSpPr>
          <p:cNvPr id="1181" name="Google Shape;1181;p88"/>
          <p:cNvSpPr txBox="1"/>
          <p:nvPr/>
        </p:nvSpPr>
        <p:spPr>
          <a:xfrm>
            <a:off x="8213140" y="5309616"/>
            <a:ext cx="3576300" cy="1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main.enemies.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size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 == </a:t>
            </a:r>
            <a:r>
              <a:rPr lang="en-US" sz="105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05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and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spawn_queue.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size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 == </a:t>
            </a:r>
            <a:r>
              <a:rPr lang="en-US" sz="105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clear_streak += </a:t>
            </a:r>
            <a:r>
              <a:rPr lang="en-US" sz="105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difficulty += </a:t>
            </a:r>
            <a:r>
              <a:rPr lang="en-US" sz="105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spawn_interval *= SPAWN_INTERVAL_SHRINK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05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escalate</a:t>
            </a:r>
            <a:r>
              <a:rPr lang="en-US" sz="105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</a:t>
            </a:r>
            <a:endParaRPr/>
          </a:p>
        </p:txBody>
      </p:sp>
      <p:pic>
        <p:nvPicPr>
          <p:cNvPr id="1182" name="Google Shape;1182;p8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20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6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p8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188" name="Google Shape;1188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189" name="Google Shape;1189;p8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190" name="Google Shape;1190;p8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191" name="Google Shape;1191;p8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192" name="Google Shape;1192;p8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108</a:t>
            </a:r>
            <a:endParaRPr/>
          </a:p>
        </p:txBody>
      </p:sp>
      <p:sp>
        <p:nvSpPr>
          <p:cNvPr id="1193" name="Google Shape;1193;p89"/>
          <p:cNvSpPr txBox="1"/>
          <p:nvPr/>
        </p:nvSpPr>
        <p:spPr>
          <a:xfrm>
            <a:off x="457200" y="2601575"/>
            <a:ext cx="11277295" cy="923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Export it bro.</a:t>
            </a:r>
            <a:endParaRPr/>
          </a:p>
        </p:txBody>
      </p:sp>
      <p:sp>
        <p:nvSpPr>
          <p:cNvPr id="1194" name="Google Shape;1194;p89"/>
          <p:cNvSpPr txBox="1"/>
          <p:nvPr/>
        </p:nvSpPr>
        <p:spPr>
          <a:xfrm>
            <a:off x="457200" y="4160520"/>
            <a:ext cx="1127729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You did it yesterday 🤌</a:t>
            </a:r>
            <a:endParaRPr b="0" i="0" sz="2400">
              <a:solidFill>
                <a:srgbClr val="8A8A8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9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200" name="Google Shape;1200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201" name="Google Shape;1201;p9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202" name="Google Shape;1202;p9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203" name="Google Shape;1203;p9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204" name="Google Shape;1204;p9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109</a:t>
            </a:r>
            <a:endParaRPr/>
          </a:p>
        </p:txBody>
      </p:sp>
      <p:sp>
        <p:nvSpPr>
          <p:cNvPr id="1205" name="Google Shape;1205;p90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Today: Lists + Deeper Functions</a:t>
            </a:r>
            <a:endParaRPr/>
          </a:p>
        </p:txBody>
      </p:sp>
      <p:sp>
        <p:nvSpPr>
          <p:cNvPr id="1206" name="Google Shape;1206;p90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Lists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a collection your code can grow, shrink, walk, and filter.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.append()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.erase()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.size()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for x in list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Deeper Functions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functions that scan lists, return something, and chain into each other. Vending machine + backpack.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Two ideas. Whole game.</a:t>
            </a:r>
            <a:endParaRPr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0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p9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212" name="Google Shape;1212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213" name="Google Shape;1213;p9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214" name="Google Shape;1214;p9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215" name="Google Shape;1215;p9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3</a:t>
            </a:r>
            <a:endParaRPr/>
          </a:p>
        </p:txBody>
      </p:sp>
      <p:sp>
        <p:nvSpPr>
          <p:cNvPr id="1216" name="Google Shape;1216;p9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110</a:t>
            </a:r>
            <a:endParaRPr/>
          </a:p>
        </p:txBody>
      </p:sp>
      <p:sp>
        <p:nvSpPr>
          <p:cNvPr id="1217" name="Google Shape;1217;p91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Tomorrow — Day 4: 2-Player Fighter</a:t>
            </a:r>
            <a:endParaRPr/>
          </a:p>
        </p:txBody>
      </p:sp>
      <p:sp>
        <p:nvSpPr>
          <p:cNvPr id="1218" name="Google Shape;1218;p91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Objects + State. Your code starts to feel like a </a:t>
            </a:r>
            <a:r>
              <a:rPr b="0" i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blueprint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instead of a script.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Two players. Four characters. One fight.</a:t>
            </a:r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2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9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224" name="Google Shape;1224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225" name="Google Shape;1225;p9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226" name="Google Shape;1226;p9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227" name="Google Shape;1227;p9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2</a:t>
            </a:r>
            <a:endParaRPr/>
          </a:p>
        </p:txBody>
      </p:sp>
      <p:sp>
        <p:nvSpPr>
          <p:cNvPr id="1228" name="Google Shape;1228;p9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87</a:t>
            </a:r>
            <a:endParaRPr/>
          </a:p>
        </p:txBody>
      </p:sp>
      <p:sp>
        <p:nvSpPr>
          <p:cNvPr id="1229" name="Google Shape;1229;p92"/>
          <p:cNvSpPr txBox="1"/>
          <p:nvPr/>
        </p:nvSpPr>
        <p:spPr>
          <a:xfrm>
            <a:off x="457200" y="2186077"/>
            <a:ext cx="11277295" cy="17543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Bloons TD5 ain’t got nothin’ on you</a:t>
            </a:r>
            <a:endParaRPr b="1" i="0" sz="5400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30" name="Google Shape;1230;p92"/>
          <p:cNvSpPr txBox="1"/>
          <p:nvPr/>
        </p:nvSpPr>
        <p:spPr>
          <a:xfrm>
            <a:off x="457200" y="4160520"/>
            <a:ext cx="1127729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Good job today</a:t>
            </a:r>
            <a:endParaRPr b="0" i="0" sz="2400">
              <a:solidFill>
                <a:srgbClr val="8A8A8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