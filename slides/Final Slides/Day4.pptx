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7.xml"/>
  <Override ContentType="application/vnd.openxmlformats-officedocument.presentationml.notesSlide+xml" PartName="/ppt/notesSlides/notesSlide5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50.xml"/>
  <Override ContentType="application/vnd.openxmlformats-officedocument.presentationml.notesSlide+xml" PartName="/ppt/notesSlides/notesSlide68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4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51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43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73.xml"/>
  <Override ContentType="application/vnd.openxmlformats-officedocument.presentationml.notesSlide+xml" PartName="/ppt/notesSlides/notesSlide56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69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61.xml"/>
  <Override ContentType="application/vnd.openxmlformats-officedocument.presentationml.notesSlide+xml" PartName="/ppt/notesSlides/notesSlide74.xml"/>
  <Override ContentType="application/vnd.openxmlformats-officedocument.presentationml.notesSlide+xml" PartName="/ppt/notesSlides/notesSlide57.xml"/>
  <Override ContentType="application/vnd.openxmlformats-officedocument.presentationml.notesSlide+xml" PartName="/ppt/notesSlides/notesSlide44.xml"/>
  <Override ContentType="application/vnd.openxmlformats-officedocument.presentationml.notesSlide+xml" PartName="/ppt/notesSlides/notesSlide58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62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54.xml"/>
  <Override ContentType="application/vnd.openxmlformats-officedocument.presentationml.notesSlide+xml" PartName="/ppt/notesSlides/notesSlide45.xml"/>
  <Override ContentType="application/vnd.openxmlformats-officedocument.presentationml.notesSlide+xml" PartName="/ppt/notesSlides/notesSlide70.xml"/>
  <Override ContentType="application/vnd.openxmlformats-officedocument.presentationml.notesSlide+xml" PartName="/ppt/notesSlides/notesSlide46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63.xml"/>
  <Override ContentType="application/vnd.openxmlformats-officedocument.presentationml.notesSlide+xml" PartName="/ppt/notesSlides/notesSlide5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47.xml"/>
  <Override ContentType="application/vnd.openxmlformats-officedocument.presentationml.notesSlide+xml" PartName="/ppt/notesSlides/notesSlide72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60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64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48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5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65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49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71.xml"/>
  <Override ContentType="application/vnd.openxmlformats-officedocument.presentationml.notesSlide+xml" PartName="/ppt/notesSlides/notesSlide53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66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43.xml"/>
  <Override ContentType="application/vnd.openxmlformats-officedocument.presentationml.slide+xml" PartName="/ppt/slides/slide35.xml"/>
  <Override ContentType="application/vnd.openxmlformats-officedocument.presentationml.slide+xml" PartName="/ppt/slides/slide60.xml"/>
  <Override ContentType="application/vnd.openxmlformats-officedocument.presentationml.slide+xml" PartName="/ppt/slides/slide5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slide+xml" PartName="/ppt/slides/slide69.xml"/>
  <Override ContentType="application/vnd.openxmlformats-officedocument.presentationml.slide+xml" PartName="/ppt/slides/slide17.xml"/>
  <Override ContentType="application/vnd.openxmlformats-officedocument.presentationml.slide+xml" PartName="/ppt/slides/slide42.xml"/>
  <Override ContentType="application/vnd.openxmlformats-officedocument.presentationml.slide+xml" PartName="/ppt/slides/slide25.xml"/>
  <Override ContentType="application/vnd.openxmlformats-officedocument.presentationml.slide+xml" PartName="/ppt/slides/slide50.xml"/>
  <Override ContentType="application/vnd.openxmlformats-officedocument.presentationml.slide+xml" PartName="/ppt/slides/slide34.xml"/>
  <Override ContentType="application/vnd.openxmlformats-officedocument.presentationml.slide+xml" PartName="/ppt/slides/slide33.xml"/>
  <Override ContentType="application/vnd.openxmlformats-officedocument.presentationml.slide+xml" PartName="/ppt/slides/slide51.xml"/>
  <Override ContentType="application/vnd.openxmlformats-officedocument.presentationml.slide+xml" PartName="/ppt/slides/slide16.xml"/>
  <Override ContentType="application/vnd.openxmlformats-officedocument.presentationml.slide+xml" PartName="/ppt/slides/slide6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7.xml"/>
  <Override ContentType="application/vnd.openxmlformats-officedocument.presentationml.slide+xml" PartName="/ppt/slides/slide71.xml"/>
  <Override ContentType="application/vnd.openxmlformats-officedocument.presentationml.slide+xml" PartName="/ppt/slides/slide41.xml"/>
  <Override ContentType="application/vnd.openxmlformats-officedocument.presentationml.slide+xml" PartName="/ppt/slides/slide67.xml"/>
  <Override ContentType="application/vnd.openxmlformats-officedocument.presentationml.slide+xml" PartName="/ppt/slides/slide7.xml"/>
  <Override ContentType="application/vnd.openxmlformats-officedocument.presentationml.slide+xml" PartName="/ppt/slides/slide54.xml"/>
  <Override ContentType="application/vnd.openxmlformats-officedocument.presentationml.slide+xml" PartName="/ppt/slides/slide36.xml"/>
  <Override ContentType="application/vnd.openxmlformats-officedocument.presentationml.slide+xml" PartName="/ppt/slides/slide66.xml"/>
  <Override ContentType="application/vnd.openxmlformats-officedocument.presentationml.slide+xml" PartName="/ppt/slides/slide23.xml"/>
  <Override ContentType="application/vnd.openxmlformats-officedocument.presentationml.slide+xml" PartName="/ppt/slides/slide49.xml"/>
  <Override ContentType="application/vnd.openxmlformats-officedocument.presentationml.slide+xml" PartName="/ppt/slides/slide10.xml"/>
  <Override ContentType="application/vnd.openxmlformats-officedocument.presentationml.slide+xml" PartName="/ppt/slides/slide70.xml"/>
  <Override ContentType="application/vnd.openxmlformats-officedocument.presentationml.slide+xml" PartName="/ppt/slides/slide6.xml"/>
  <Override ContentType="application/vnd.openxmlformats-officedocument.presentationml.slide+xml" PartName="/ppt/slides/slide53.xml"/>
  <Override ContentType="application/vnd.openxmlformats-officedocument.presentationml.slide+xml" PartName="/ppt/slides/slide40.xml"/>
  <Override ContentType="application/vnd.openxmlformats-officedocument.presentationml.slide+xml" PartName="/ppt/slides/slide48.xml"/>
  <Override ContentType="application/vnd.openxmlformats-officedocument.presentationml.slide+xml" PartName="/ppt/slides/slide73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9.xml"/>
  <Override ContentType="application/vnd.openxmlformats-officedocument.presentationml.slide+xml" PartName="/ppt/slides/slide65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6.xml"/>
  <Override ContentType="application/vnd.openxmlformats-officedocument.presentationml.slide+xml" PartName="/ppt/slides/slide12.xml"/>
  <Override ContentType="application/vnd.openxmlformats-officedocument.presentationml.slide+xml" PartName="/ppt/slides/slide47.xml"/>
  <Override ContentType="application/vnd.openxmlformats-officedocument.presentationml.slide+xml" PartName="/ppt/slides/slide72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8.xml"/>
  <Override ContentType="application/vnd.openxmlformats-officedocument.presentationml.slide+xml" PartName="/ppt/slides/slide46.xml"/>
  <Override ContentType="application/vnd.openxmlformats-officedocument.presentationml.slide+xml" PartName="/ppt/slides/slide64.xml"/>
  <Override ContentType="application/vnd.openxmlformats-officedocument.presentationml.slide+xml" PartName="/ppt/slides/slide8.xml"/>
  <Override ContentType="application/vnd.openxmlformats-officedocument.presentationml.slide+xml" PartName="/ppt/slides/slide55.xml"/>
  <Override ContentType="application/vnd.openxmlformats-officedocument.presentationml.slide+xml" PartName="/ppt/slides/slide29.xml"/>
  <Override ContentType="application/vnd.openxmlformats-officedocument.presentationml.slide+xml" PartName="/ppt/slides/slide59.xml"/>
  <Override ContentType="application/vnd.openxmlformats-officedocument.presentationml.slide+xml" PartName="/ppt/slides/slide32.xml"/>
  <Override ContentType="application/vnd.openxmlformats-officedocument.presentationml.slide+xml" PartName="/ppt/slides/slide62.xml"/>
  <Override ContentType="application/vnd.openxmlformats-officedocument.presentationml.slide+xml" PartName="/ppt/slides/slide1.xml"/>
  <Override ContentType="application/vnd.openxmlformats-officedocument.presentationml.slide+xml" PartName="/ppt/slides/slide58.xml"/>
  <Override ContentType="application/vnd.openxmlformats-officedocument.presentationml.slide+xml" PartName="/ppt/slides/slide63.xml"/>
  <Override ContentType="application/vnd.openxmlformats-officedocument.presentationml.slide+xml" PartName="/ppt/slides/slide45.xml"/>
  <Override ContentType="application/vnd.openxmlformats-officedocument.presentationml.slide+xml" PartName="/ppt/slides/slide28.xml"/>
  <Override ContentType="application/vnd.openxmlformats-officedocument.presentationml.slide+xml" PartName="/ppt/slides/slide15.xml"/>
  <Override ContentType="application/vnd.openxmlformats-officedocument.presentationml.slide+xml" PartName="/ppt/slides/slide61.xml"/>
  <Override ContentType="application/vnd.openxmlformats-officedocument.presentationml.slide+xml" PartName="/ppt/slides/slide31.xml"/>
  <Override ContentType="application/vnd.openxmlformats-officedocument.presentationml.slide+xml" PartName="/ppt/slides/slide74.xml"/>
  <Override ContentType="application/vnd.openxmlformats-officedocument.presentationml.slide+xml" PartName="/ppt/slides/slide27.xml"/>
  <Override ContentType="application/vnd.openxmlformats-officedocument.presentationml.slide+xml" PartName="/ppt/slides/slide57.xml"/>
  <Override ContentType="application/vnd.openxmlformats-officedocument.presentationml.slide+xml" PartName="/ppt/slides/slide2.xml"/>
  <Override ContentType="application/vnd.openxmlformats-officedocument.presentationml.slide+xml" PartName="/ppt/slides/slide44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10" r:id="rId60"/>
    <p:sldId id="311" r:id="rId61"/>
    <p:sldId id="312" r:id="rId62"/>
    <p:sldId id="313" r:id="rId63"/>
    <p:sldId id="314" r:id="rId64"/>
    <p:sldId id="315" r:id="rId65"/>
    <p:sldId id="316" r:id="rId66"/>
    <p:sldId id="317" r:id="rId67"/>
    <p:sldId id="318" r:id="rId68"/>
    <p:sldId id="319" r:id="rId69"/>
    <p:sldId id="320" r:id="rId70"/>
    <p:sldId id="321" r:id="rId71"/>
    <p:sldId id="322" r:id="rId72"/>
    <p:sldId id="323" r:id="rId73"/>
    <p:sldId id="324" r:id="rId74"/>
    <p:sldId id="325" r:id="rId75"/>
    <p:sldId id="326" r:id="rId76"/>
    <p:sldId id="327" r:id="rId77"/>
    <p:sldId id="328" r:id="rId78"/>
    <p:sldId id="329" r:id="rId79"/>
  </p:sldIdLst>
  <p:sldSz cy="6858000" cx="12192000"/>
  <p:notesSz cx="6858000" cy="9144000"/>
  <p:embeddedFontLst>
    <p:embeddedFont>
      <p:font typeface="Poppins"/>
      <p:regular r:id="rId80"/>
      <p:bold r:id="rId81"/>
      <p:italic r:id="rId82"/>
      <p:boldItalic r:id="rId8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GoogleSlidesCustomDataVersion2">
      <go:slidesCustomData xmlns:go="http://customooxmlschemas.google.com/" r:id="rId84" roundtripDataSignature="AMtx7mhrk2TVNHmde2KF6CXBXDwppbO0D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84" Type="http://customschemas.google.com/relationships/presentationmetadata" Target="metadata"/><Relationship Id="rId83" Type="http://schemas.openxmlformats.org/officeDocument/2006/relationships/font" Target="fonts/Poppins-boldItalic.fntdata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44" Type="http://schemas.openxmlformats.org/officeDocument/2006/relationships/slide" Target="slides/slide39.xml"/><Relationship Id="rId43" Type="http://schemas.openxmlformats.org/officeDocument/2006/relationships/slide" Target="slides/slide38.xml"/><Relationship Id="rId46" Type="http://schemas.openxmlformats.org/officeDocument/2006/relationships/slide" Target="slides/slide41.xml"/><Relationship Id="rId45" Type="http://schemas.openxmlformats.org/officeDocument/2006/relationships/slide" Target="slides/slide40.xml"/><Relationship Id="rId80" Type="http://schemas.openxmlformats.org/officeDocument/2006/relationships/font" Target="fonts/Poppins-regular.fntdata"/><Relationship Id="rId82" Type="http://schemas.openxmlformats.org/officeDocument/2006/relationships/font" Target="fonts/Poppins-italic.fntdata"/><Relationship Id="rId81" Type="http://schemas.openxmlformats.org/officeDocument/2006/relationships/font" Target="fonts/Poppins-bold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48" Type="http://schemas.openxmlformats.org/officeDocument/2006/relationships/slide" Target="slides/slide43.xml"/><Relationship Id="rId47" Type="http://schemas.openxmlformats.org/officeDocument/2006/relationships/slide" Target="slides/slide42.xml"/><Relationship Id="rId49" Type="http://schemas.openxmlformats.org/officeDocument/2006/relationships/slide" Target="slides/slide44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73" Type="http://schemas.openxmlformats.org/officeDocument/2006/relationships/slide" Target="slides/slide68.xml"/><Relationship Id="rId72" Type="http://schemas.openxmlformats.org/officeDocument/2006/relationships/slide" Target="slides/slide67.xml"/><Relationship Id="rId31" Type="http://schemas.openxmlformats.org/officeDocument/2006/relationships/slide" Target="slides/slide26.xml"/><Relationship Id="rId75" Type="http://schemas.openxmlformats.org/officeDocument/2006/relationships/slide" Target="slides/slide70.xml"/><Relationship Id="rId30" Type="http://schemas.openxmlformats.org/officeDocument/2006/relationships/slide" Target="slides/slide25.xml"/><Relationship Id="rId74" Type="http://schemas.openxmlformats.org/officeDocument/2006/relationships/slide" Target="slides/slide69.xml"/><Relationship Id="rId33" Type="http://schemas.openxmlformats.org/officeDocument/2006/relationships/slide" Target="slides/slide28.xml"/><Relationship Id="rId77" Type="http://schemas.openxmlformats.org/officeDocument/2006/relationships/slide" Target="slides/slide72.xml"/><Relationship Id="rId32" Type="http://schemas.openxmlformats.org/officeDocument/2006/relationships/slide" Target="slides/slide27.xml"/><Relationship Id="rId76" Type="http://schemas.openxmlformats.org/officeDocument/2006/relationships/slide" Target="slides/slide71.xml"/><Relationship Id="rId35" Type="http://schemas.openxmlformats.org/officeDocument/2006/relationships/slide" Target="slides/slide30.xml"/><Relationship Id="rId79" Type="http://schemas.openxmlformats.org/officeDocument/2006/relationships/slide" Target="slides/slide74.xml"/><Relationship Id="rId34" Type="http://schemas.openxmlformats.org/officeDocument/2006/relationships/slide" Target="slides/slide29.xml"/><Relationship Id="rId78" Type="http://schemas.openxmlformats.org/officeDocument/2006/relationships/slide" Target="slides/slide73.xml"/><Relationship Id="rId71" Type="http://schemas.openxmlformats.org/officeDocument/2006/relationships/slide" Target="slides/slide66.xml"/><Relationship Id="rId70" Type="http://schemas.openxmlformats.org/officeDocument/2006/relationships/slide" Target="slides/slide65.xml"/><Relationship Id="rId37" Type="http://schemas.openxmlformats.org/officeDocument/2006/relationships/slide" Target="slides/slide32.xml"/><Relationship Id="rId36" Type="http://schemas.openxmlformats.org/officeDocument/2006/relationships/slide" Target="slides/slide31.xml"/><Relationship Id="rId39" Type="http://schemas.openxmlformats.org/officeDocument/2006/relationships/slide" Target="slides/slide34.xml"/><Relationship Id="rId38" Type="http://schemas.openxmlformats.org/officeDocument/2006/relationships/slide" Target="slides/slide33.xml"/><Relationship Id="rId62" Type="http://schemas.openxmlformats.org/officeDocument/2006/relationships/slide" Target="slides/slide57.xml"/><Relationship Id="rId61" Type="http://schemas.openxmlformats.org/officeDocument/2006/relationships/slide" Target="slides/slide56.xml"/><Relationship Id="rId20" Type="http://schemas.openxmlformats.org/officeDocument/2006/relationships/slide" Target="slides/slide15.xml"/><Relationship Id="rId64" Type="http://schemas.openxmlformats.org/officeDocument/2006/relationships/slide" Target="slides/slide59.xml"/><Relationship Id="rId63" Type="http://schemas.openxmlformats.org/officeDocument/2006/relationships/slide" Target="slides/slide58.xml"/><Relationship Id="rId22" Type="http://schemas.openxmlformats.org/officeDocument/2006/relationships/slide" Target="slides/slide17.xml"/><Relationship Id="rId66" Type="http://schemas.openxmlformats.org/officeDocument/2006/relationships/slide" Target="slides/slide61.xml"/><Relationship Id="rId21" Type="http://schemas.openxmlformats.org/officeDocument/2006/relationships/slide" Target="slides/slide16.xml"/><Relationship Id="rId65" Type="http://schemas.openxmlformats.org/officeDocument/2006/relationships/slide" Target="slides/slide60.xml"/><Relationship Id="rId24" Type="http://schemas.openxmlformats.org/officeDocument/2006/relationships/slide" Target="slides/slide19.xml"/><Relationship Id="rId68" Type="http://schemas.openxmlformats.org/officeDocument/2006/relationships/slide" Target="slides/slide63.xml"/><Relationship Id="rId23" Type="http://schemas.openxmlformats.org/officeDocument/2006/relationships/slide" Target="slides/slide18.xml"/><Relationship Id="rId67" Type="http://schemas.openxmlformats.org/officeDocument/2006/relationships/slide" Target="slides/slide62.xml"/><Relationship Id="rId60" Type="http://schemas.openxmlformats.org/officeDocument/2006/relationships/slide" Target="slides/slide55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69" Type="http://schemas.openxmlformats.org/officeDocument/2006/relationships/slide" Target="slides/slide64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29" Type="http://schemas.openxmlformats.org/officeDocument/2006/relationships/slide" Target="slides/slide24.xml"/><Relationship Id="rId51" Type="http://schemas.openxmlformats.org/officeDocument/2006/relationships/slide" Target="slides/slide46.xml"/><Relationship Id="rId50" Type="http://schemas.openxmlformats.org/officeDocument/2006/relationships/slide" Target="slides/slide45.xml"/><Relationship Id="rId53" Type="http://schemas.openxmlformats.org/officeDocument/2006/relationships/slide" Target="slides/slide48.xml"/><Relationship Id="rId52" Type="http://schemas.openxmlformats.org/officeDocument/2006/relationships/slide" Target="slides/slide47.xml"/><Relationship Id="rId11" Type="http://schemas.openxmlformats.org/officeDocument/2006/relationships/slide" Target="slides/slide6.xml"/><Relationship Id="rId55" Type="http://schemas.openxmlformats.org/officeDocument/2006/relationships/slide" Target="slides/slide50.xml"/><Relationship Id="rId10" Type="http://schemas.openxmlformats.org/officeDocument/2006/relationships/slide" Target="slides/slide5.xml"/><Relationship Id="rId54" Type="http://schemas.openxmlformats.org/officeDocument/2006/relationships/slide" Target="slides/slide49.xml"/><Relationship Id="rId13" Type="http://schemas.openxmlformats.org/officeDocument/2006/relationships/slide" Target="slides/slide8.xml"/><Relationship Id="rId57" Type="http://schemas.openxmlformats.org/officeDocument/2006/relationships/slide" Target="slides/slide52.xml"/><Relationship Id="rId12" Type="http://schemas.openxmlformats.org/officeDocument/2006/relationships/slide" Target="slides/slide7.xml"/><Relationship Id="rId56" Type="http://schemas.openxmlformats.org/officeDocument/2006/relationships/slide" Target="slides/slide51.xml"/><Relationship Id="rId15" Type="http://schemas.openxmlformats.org/officeDocument/2006/relationships/slide" Target="slides/slide10.xml"/><Relationship Id="rId59" Type="http://schemas.openxmlformats.org/officeDocument/2006/relationships/slide" Target="slides/slide54.xml"/><Relationship Id="rId14" Type="http://schemas.openxmlformats.org/officeDocument/2006/relationships/slide" Target="slides/slide9.xml"/><Relationship Id="rId58" Type="http://schemas.openxmlformats.org/officeDocument/2006/relationships/slide" Target="slides/slide53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6" name="Google Shape;176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5" name="Google Shape;235;p1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7" name="Google Shape;247;p1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9" name="Google Shape;259;p1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1" name="Google Shape;271;p1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1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2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7" name="Google Shape;307;p2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9" name="Google Shape;319;p2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1" name="Google Shape;331;p2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2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8" name="Google Shape;358;p2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0" name="Google Shape;370;p2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0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Google Shape;381;p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2" name="Google Shape;382;p2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4" name="Google Shape;394;p2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6" name="Google Shape;406;p3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9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Google Shape;420;p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1" name="Google Shape;421;p3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3" name="Google Shape;433;p3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3" name="Shape 4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Google Shape;444;p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5" name="Google Shape;445;p3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7" name="Google Shape;457;p3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0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2" name="Google Shape;472;p3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2" name="Shape 4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Google Shape;483;p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4" name="Google Shape;484;p3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4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p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6" name="Google Shape;496;p3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6" name="Shape 5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Google Shape;507;p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8" name="Google Shape;508;p4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8" name="Shape 5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" name="Google Shape;519;p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0" name="Google Shape;520;p4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3" name="Shape 5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4" name="Google Shape;534;p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5" name="Google Shape;535;p4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4" name="Shape 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Google Shape;545;p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6" name="Google Shape;546;p4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5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7" name="Google Shape;557;p4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7" name="Shape 5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8" name="Google Shape;568;p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9" name="Google Shape;569;p4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9" name="Shape 5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0" name="Google Shape;580;p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1" name="Google Shape;581;p4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1" name="Shape 5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2" name="Google Shape;592;p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3" name="Google Shape;593;p4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3" name="Shape 6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Google Shape;604;p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5" name="Google Shape;605;p4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5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7" name="Google Shape;617;p4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7" name="Shape 6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8" name="Google Shape;628;p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9" name="Google Shape;629;p5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9" name="Shape 6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0" name="Google Shape;640;p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1" name="Google Shape;641;p5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4" name="Shape 6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" name="Google Shape;655;p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6" name="Google Shape;656;p5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6" name="Shape 6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7" name="Google Shape;667;p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8" name="Google Shape;668;p5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8" name="Shape 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Google Shape;679;p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0" name="Google Shape;680;p5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0" name="Shape 6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1" name="Google Shape;691;p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2" name="Google Shape;692;p5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2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p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4" name="Google Shape;704;p5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4" name="Shape 7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5" name="Google Shape;715;g3f191634368_0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6" name="Google Shape;716;g3f191634368_0_8:notes"/>
          <p:cNvSpPr/>
          <p:nvPr>
            <p:ph idx="2" type="sldImg"/>
          </p:nvPr>
        </p:nvSpPr>
        <p:spPr>
          <a:xfrm>
            <a:off x="1143164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4" name="Shape 7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5" name="Google Shape;745;p6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6" name="Google Shape;746;p6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6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p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8" name="Google Shape;758;p6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8" name="Shape 7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Google Shape;769;p6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70" name="Google Shape;770;p6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0" name="Shape 7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1" name="Google Shape;781;p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2" name="Google Shape;782;p6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3" name="Shape 7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4" name="Google Shape;794;p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5" name="Google Shape;795;p6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4" name="Shape 8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5" name="Google Shape;805;p6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6" name="Google Shape;806;p6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8" name="Shape 8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" name="Google Shape;819;p6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0" name="Google Shape;820;p6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2" name="Shape 8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3" name="Google Shape;833;p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34" name="Google Shape;834;p7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5" name="Shape 8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6" name="Google Shape;846;p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7" name="Google Shape;847;p7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6" name="Shape 8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7" name="Google Shape;857;p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8" name="Google Shape;858;p7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8" name="Shape 8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9" name="Google Shape;869;g3edb4d6d02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0" name="Google Shape;870;g3edb4d6d02e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9" name="Shape 8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Google Shape;880;p7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1" name="Google Shape;881;p7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1" name="Shape 8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Google Shape;892;p7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3" name="Google Shape;893;p7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3" name="Shape 9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4" name="Google Shape;904;p7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5" name="Google Shape;905;p7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5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Google Shape;916;p7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7" name="Google Shape;917;p7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7" name="Shape 9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8" name="Google Shape;928;p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9" name="Google Shape;929;p7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9" name="Shape 9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0" name="Google Shape;940;g3edd019661e_0_1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1" name="Google Shape;941;g3edd019661e_0_123:notes"/>
          <p:cNvSpPr/>
          <p:nvPr>
            <p:ph idx="2" type="sldImg"/>
          </p:nvPr>
        </p:nvSpPr>
        <p:spPr>
          <a:xfrm>
            <a:off x="1143164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4" name="Shape 9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5" name="Google Shape;965;g3edd019661e_0_1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6" name="Google Shape;966;g3edd019661e_0_147:notes"/>
          <p:cNvSpPr/>
          <p:nvPr>
            <p:ph idx="2" type="sldImg"/>
          </p:nvPr>
        </p:nvSpPr>
        <p:spPr>
          <a:xfrm>
            <a:off x="1143164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9" name="Shape 9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0" name="Google Shape;990;p7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1" name="Google Shape;991;p7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1" name="Shape 10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Google Shape;1002;p8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3" name="Google Shape;1003;p8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3" name="Shape 10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4" name="Google Shape;1014;p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15" name="Google Shape;1015;p8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8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8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8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84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84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8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8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8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8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85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8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8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8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86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86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8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8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8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87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87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8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8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8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8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88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88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88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88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8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8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8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0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0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0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1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91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91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9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9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9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9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92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9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9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9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93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93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9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9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9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8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82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8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8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8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.png"/><Relationship Id="rId4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.pn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.pn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.png"/><Relationship Id="rId4" Type="http://schemas.openxmlformats.org/officeDocument/2006/relationships/image" Target="../media/image5.png"/><Relationship Id="rId5" Type="http://schemas.openxmlformats.org/officeDocument/2006/relationships/image" Target="../media/image1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.png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1.png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1.png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1.png"/><Relationship Id="rId4" Type="http://schemas.openxmlformats.org/officeDocument/2006/relationships/image" Target="../media/image6.png"/><Relationship Id="rId5" Type="http://schemas.openxmlformats.org/officeDocument/2006/relationships/image" Target="../media/image10.png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1.png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1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1.png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1.png"/><Relationship Id="rId4" Type="http://schemas.openxmlformats.org/officeDocument/2006/relationships/image" Target="../media/image8.png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.png"/><Relationship Id="rId4" Type="http://schemas.openxmlformats.org/officeDocument/2006/relationships/image" Target="../media/image8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.png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1.png"/></Relationships>
</file>

<file path=ppt/slides/_rels/slide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1.png"/></Relationships>
</file>

<file path=ppt/slides/_rels/slide4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1.png"/></Relationships>
</file>

<file path=ppt/slides/_rels/slide4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1.png"/></Relationships>
</file>

<file path=ppt/slides/_rels/slide4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1.png"/></Relationships>
</file>

<file path=ppt/slides/_rels/slide4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3" Type="http://schemas.openxmlformats.org/officeDocument/2006/relationships/image" Target="../media/image1.png"/></Relationships>
</file>

<file path=ppt/slides/_rels/slide4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image1.png"/><Relationship Id="rId4" Type="http://schemas.openxmlformats.org/officeDocument/2006/relationships/image" Target="../media/image9.png"/></Relationships>
</file>

<file path=ppt/slides/_rels/slide4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3" Type="http://schemas.openxmlformats.org/officeDocument/2006/relationships/image" Target="../media/image1.png"/><Relationship Id="rId4" Type="http://schemas.openxmlformats.org/officeDocument/2006/relationships/image" Target="../media/image9.png"/><Relationship Id="rId5" Type="http://schemas.openxmlformats.org/officeDocument/2006/relationships/image" Target="../media/image14.png"/></Relationships>
</file>

<file path=ppt/slides/_rels/slide4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3" Type="http://schemas.openxmlformats.org/officeDocument/2006/relationships/image" Target="../media/image1.png"/></Relationships>
</file>

<file path=ppt/slides/_rels/slide4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3" Type="http://schemas.openxmlformats.org/officeDocument/2006/relationships/image" Target="../media/image1.png"/></Relationships>
</file>

<file path=ppt/slides/_rels/slide5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3" Type="http://schemas.openxmlformats.org/officeDocument/2006/relationships/image" Target="../media/image1.png"/></Relationships>
</file>

<file path=ppt/slides/_rels/slide5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3" Type="http://schemas.openxmlformats.org/officeDocument/2006/relationships/image" Target="../media/image1.png"/></Relationships>
</file>

<file path=ppt/slides/_rels/slide5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3" Type="http://schemas.openxmlformats.org/officeDocument/2006/relationships/image" Target="../media/image1.png"/><Relationship Id="rId4" Type="http://schemas.openxmlformats.org/officeDocument/2006/relationships/image" Target="../media/image16.png"/></Relationships>
</file>

<file path=ppt/slides/_rels/slide5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3" Type="http://schemas.openxmlformats.org/officeDocument/2006/relationships/image" Target="../media/image1.png"/></Relationships>
</file>

<file path=ppt/slides/_rels/slide5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3" Type="http://schemas.openxmlformats.org/officeDocument/2006/relationships/image" Target="../media/image1.png"/></Relationships>
</file>

<file path=ppt/slides/_rels/slide5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3" Type="http://schemas.openxmlformats.org/officeDocument/2006/relationships/image" Target="../media/image1.png"/></Relationships>
</file>

<file path=ppt/slides/_rels/slide5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3" Type="http://schemas.openxmlformats.org/officeDocument/2006/relationships/image" Target="../media/image1.png"/></Relationships>
</file>

<file path=ppt/slides/_rels/slide5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3" Type="http://schemas.openxmlformats.org/officeDocument/2006/relationships/image" Target="../media/image1.png"/></Relationships>
</file>

<file path=ppt/slides/_rels/slide5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3" Type="http://schemas.openxmlformats.org/officeDocument/2006/relationships/image" Target="../media/image1.png"/></Relationships>
</file>

<file path=ppt/slides/_rels/slide5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3" Type="http://schemas.openxmlformats.org/officeDocument/2006/relationships/image" Target="../media/image1.png"/></Relationships>
</file>

<file path=ppt/slides/_rels/slide6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3" Type="http://schemas.openxmlformats.org/officeDocument/2006/relationships/image" Target="../media/image1.png"/><Relationship Id="rId4" Type="http://schemas.openxmlformats.org/officeDocument/2006/relationships/image" Target="../media/image12.png"/></Relationships>
</file>

<file path=ppt/slides/_rels/slide6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3" Type="http://schemas.openxmlformats.org/officeDocument/2006/relationships/image" Target="../media/image1.png"/><Relationship Id="rId4" Type="http://schemas.openxmlformats.org/officeDocument/2006/relationships/image" Target="../media/image15.png"/></Relationships>
</file>

<file path=ppt/slides/_rels/slide6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3" Type="http://schemas.openxmlformats.org/officeDocument/2006/relationships/image" Target="../media/image1.png"/></Relationships>
</file>

<file path=ppt/slides/_rels/slide6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3" Type="http://schemas.openxmlformats.org/officeDocument/2006/relationships/image" Target="../media/image1.png"/><Relationship Id="rId4" Type="http://schemas.openxmlformats.org/officeDocument/2006/relationships/image" Target="../media/image11.png"/></Relationships>
</file>

<file path=ppt/slides/_rels/slide6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3" Type="http://schemas.openxmlformats.org/officeDocument/2006/relationships/image" Target="../media/image1.png"/></Relationships>
</file>

<file path=ppt/slides/_rels/slide6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3" Type="http://schemas.openxmlformats.org/officeDocument/2006/relationships/image" Target="../media/image1.png"/></Relationships>
</file>

<file path=ppt/slides/_rels/slide6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3" Type="http://schemas.openxmlformats.org/officeDocument/2006/relationships/image" Target="../media/image1.png"/></Relationships>
</file>

<file path=ppt/slides/_rels/slide6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3" Type="http://schemas.openxmlformats.org/officeDocument/2006/relationships/image" Target="../media/image1.png"/></Relationships>
</file>

<file path=ppt/slides/_rels/slide6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3" Type="http://schemas.openxmlformats.org/officeDocument/2006/relationships/image" Target="../media/image1.png"/></Relationships>
</file>

<file path=ppt/slides/_rels/slide6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3" Type="http://schemas.openxmlformats.org/officeDocument/2006/relationships/image" Target="../media/image1.png"/></Relationships>
</file>

<file path=ppt/slides/_rels/slide7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3" Type="http://schemas.openxmlformats.org/officeDocument/2006/relationships/image" Target="../media/image1.png"/></Relationships>
</file>

<file path=ppt/slides/_rels/slide7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3" Type="http://schemas.openxmlformats.org/officeDocument/2006/relationships/image" Target="../media/image1.png"/></Relationships>
</file>

<file path=ppt/slides/_rels/slide7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85" name="Google Shape;85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87" name="Google Shape;87;p1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88" name="Google Shape;88;p1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4</a:t>
            </a:r>
            <a:endParaRPr/>
          </a:p>
        </p:txBody>
      </p:sp>
      <p:sp>
        <p:nvSpPr>
          <p:cNvPr id="89" name="Google Shape;89;p1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1</a:t>
            </a:r>
            <a:endParaRPr/>
          </a:p>
        </p:txBody>
      </p:sp>
      <p:sp>
        <p:nvSpPr>
          <p:cNvPr id="90" name="Google Shape;90;p1"/>
          <p:cNvSpPr txBox="1"/>
          <p:nvPr/>
        </p:nvSpPr>
        <p:spPr>
          <a:xfrm>
            <a:off x="457200" y="1770579"/>
            <a:ext cx="11277295" cy="258532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4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Day 4 — VR Camp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4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2-Player Fighter · 1999 · Smash Bros Era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96" name="Google Shape;96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2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98" name="Google Shape;98;p2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99" name="Google Shape;99;p2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4</a:t>
            </a:r>
            <a:endParaRPr/>
          </a:p>
        </p:txBody>
      </p:sp>
      <p:sp>
        <p:nvSpPr>
          <p:cNvPr id="100" name="Google Shape;100;p2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2</a:t>
            </a:r>
            <a:endParaRPr/>
          </a:p>
        </p:txBody>
      </p:sp>
      <p:sp>
        <p:nvSpPr>
          <p:cNvPr id="101" name="Google Shape;101;p2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Why fighters matter</a:t>
            </a:r>
            <a:endParaRPr/>
          </a:p>
        </p:txBody>
      </p:sp>
      <p:sp>
        <p:nvSpPr>
          <p:cNvPr id="102" name="Google Shape;102;p2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1984: Karate Champ — two-player on one screen, invented the genre.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1992: Street Fighter II goes to arcades — quarter-eating, combos, characters with personalities.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1999: Super Smash Bros — stock lives, platform stages, no health bars, four players. Chaos perfected.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2D fighters are the petri dish where character stats, state machines, and hitboxes were invented.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3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108" name="Google Shape;108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110" name="Google Shape;110;p3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111" name="Google Shape;111;p3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4</a:t>
            </a:r>
            <a:endParaRPr/>
          </a:p>
        </p:txBody>
      </p:sp>
      <p:sp>
        <p:nvSpPr>
          <p:cNvPr id="112" name="Google Shape;112;p3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3</a:t>
            </a:r>
            <a:endParaRPr/>
          </a:p>
        </p:txBody>
      </p:sp>
      <p:sp>
        <p:nvSpPr>
          <p:cNvPr id="113" name="Google Shape;113;p3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Yesterday → Today</a:t>
            </a:r>
            <a:endParaRPr/>
          </a:p>
        </p:txBody>
      </p:sp>
      <p:sp>
        <p:nvSpPr>
          <p:cNvPr id="114" name="Google Shape;114;p3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D3: Functions + Lists — every enemy is a dict in a list; functions scan it every frame.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D4: Objects + State — every fighter is an </a:t>
            </a:r>
            <a:r>
              <a:rPr b="0" i="1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object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that remembers its own HP and knows what it's doing right now.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Shift: from "a list of dicts" → "a class that gives each fighter its own memory."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4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120" name="Google Shape;120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4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122" name="Google Shape;122;p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123" name="Google Shape;123;p4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4</a:t>
            </a:r>
            <a:endParaRPr/>
          </a:p>
        </p:txBody>
      </p:sp>
      <p:sp>
        <p:nvSpPr>
          <p:cNvPr id="124" name="Google Shape;124;p4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4</a:t>
            </a:r>
            <a:endParaRPr/>
          </a:p>
        </p:txBody>
      </p:sp>
      <p:sp>
        <p:nvSpPr>
          <p:cNvPr id="125" name="Google Shape;125;p4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5-day arc</a:t>
            </a:r>
            <a:endParaRPr/>
          </a:p>
        </p:txBody>
      </p:sp>
      <p:sp>
        <p:nvSpPr>
          <p:cNvPr id="126" name="Google Shape;126;p4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D1: Variables + Conditions — Racer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D2: Loops + Functions (intro) — Maze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D3: Functions (deep) + Lists — Base Defense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</a:t>
            </a:r>
            <a:r>
              <a:rPr b="1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D4: Objects + State — Fighter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← you are here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D5: No new code — Showcase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5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132" name="Google Shape;132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5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134" name="Google Shape;134;p5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135" name="Google Shape;135;p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4</a:t>
            </a:r>
            <a:endParaRPr/>
          </a:p>
        </p:txBody>
      </p:sp>
      <p:sp>
        <p:nvSpPr>
          <p:cNvPr id="136" name="Google Shape;136;p5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5</a:t>
            </a:r>
            <a:endParaRPr/>
          </a:p>
        </p:txBody>
      </p:sp>
      <p:sp>
        <p:nvSpPr>
          <p:cNvPr id="137" name="Google Shape;137;p5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Two new ideas today</a:t>
            </a:r>
            <a:endParaRPr/>
          </a:p>
        </p:txBody>
      </p:sp>
      <p:sp>
        <p:nvSpPr>
          <p:cNvPr id="138" name="Google Shape;138;p5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OBJECTS — a fighter that remembers its own stats and handles its own damage.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STATE — a fighter that knows what it's doing right now (idle / walk / jump / attack / hit / dead).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6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144" name="Google Shape;144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145" name="Google Shape;145;p6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146" name="Google Shape;146;p6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147" name="Google Shape;147;p6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4</a:t>
            </a:r>
            <a:endParaRPr/>
          </a:p>
        </p:txBody>
      </p:sp>
      <p:sp>
        <p:nvSpPr>
          <p:cNvPr id="148" name="Google Shape;148;p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7</a:t>
            </a:r>
            <a:endParaRPr/>
          </a:p>
        </p:txBody>
      </p:sp>
      <p:sp>
        <p:nvSpPr>
          <p:cNvPr id="149" name="Google Shape;149;p6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4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Pre-coding setup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7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155" name="Google Shape;155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7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157" name="Google Shape;157;p7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158" name="Google Shape;158;p7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4</a:t>
            </a:r>
            <a:endParaRPr/>
          </a:p>
        </p:txBody>
      </p:sp>
      <p:sp>
        <p:nvSpPr>
          <p:cNvPr id="159" name="Google Shape;159;p7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8</a:t>
            </a:r>
            <a:endParaRPr/>
          </a:p>
        </p:txBody>
      </p:sp>
      <p:sp>
        <p:nvSpPr>
          <p:cNvPr id="160" name="Google Shape;160;p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Open the Day 4 project</a:t>
            </a:r>
            <a:endParaRPr/>
          </a:p>
        </p:txBody>
      </p:sp>
      <p:sp>
        <p:nvSpPr>
          <p:cNvPr id="161" name="Google Shape;161;p7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Open the Day 4 Fighter project the same way you did yesterday.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8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167" name="Google Shape;167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8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169" name="Google Shape;169;p8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170" name="Google Shape;170;p8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4</a:t>
            </a:r>
            <a:endParaRPr/>
          </a:p>
        </p:txBody>
      </p:sp>
      <p:sp>
        <p:nvSpPr>
          <p:cNvPr id="171" name="Google Shape;171;p8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10</a:t>
            </a:r>
            <a:endParaRPr/>
          </a:p>
        </p:txBody>
      </p:sp>
      <p:sp>
        <p:nvSpPr>
          <p:cNvPr id="172" name="Google Shape;172;p8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Open </a:t>
            </a:r>
            <a:r>
              <a:rPr b="1" i="0" lang="en-US" sz="36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player.gd</a:t>
            </a:r>
            <a:endParaRPr/>
          </a:p>
        </p:txBody>
      </p:sp>
      <p:sp>
        <p:nvSpPr>
          <p:cNvPr id="173" name="Google Shape;173;p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Open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player.gd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in the script editor — this is where most of today's chunks live.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1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179" name="Google Shape;179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10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181" name="Google Shape;181;p10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182" name="Google Shape;182;p10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4</a:t>
            </a:r>
            <a:endParaRPr/>
          </a:p>
        </p:txBody>
      </p:sp>
      <p:sp>
        <p:nvSpPr>
          <p:cNvPr id="183" name="Google Shape;183;p10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12</a:t>
            </a:r>
            <a:endParaRPr/>
          </a:p>
        </p:txBody>
      </p:sp>
      <p:pic>
        <p:nvPicPr>
          <p:cNvPr descr="D4WMF1.png" id="184" name="Google Shape;184;p1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7200" y="1905006"/>
            <a:ext cx="6766377" cy="3642348"/>
          </a:xfrm>
          <a:prstGeom prst="rect">
            <a:avLst/>
          </a:prstGeom>
          <a:noFill/>
          <a:ln>
            <a:noFill/>
          </a:ln>
        </p:spPr>
      </p:pic>
      <p:sp>
        <p:nvSpPr>
          <p:cNvPr id="185" name="Google Shape;185;p10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The menus already work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1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191" name="Google Shape;191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192" name="Google Shape;192;p11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193" name="Google Shape;193;p11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194" name="Google Shape;194;p11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4</a:t>
            </a:r>
            <a:endParaRPr/>
          </a:p>
        </p:txBody>
      </p:sp>
      <p:sp>
        <p:nvSpPr>
          <p:cNvPr id="195" name="Google Shape;195;p11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13</a:t>
            </a:r>
            <a:endParaRPr/>
          </a:p>
        </p:txBody>
      </p:sp>
      <p:pic>
        <p:nvPicPr>
          <p:cNvPr descr="D4WCD1.png" id="196" name="Google Shape;196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7200" y="1670423"/>
            <a:ext cx="6766377" cy="4111513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11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The CHARACTERS dict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203" name="Google Shape;203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204" name="Google Shape;204;p12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205" name="Google Shape;205;p12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206" name="Google Shape;206;p12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4</a:t>
            </a:r>
            <a:endParaRPr/>
          </a:p>
        </p:txBody>
      </p:sp>
      <p:sp>
        <p:nvSpPr>
          <p:cNvPr id="207" name="Google Shape;207;p12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14</a:t>
            </a:r>
            <a:endParaRPr/>
          </a:p>
        </p:txBody>
      </p:sp>
      <p:sp>
        <p:nvSpPr>
          <p:cNvPr id="208" name="Google Shape;208;p12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11 properties per character</a:t>
            </a:r>
            <a:endParaRPr/>
          </a:p>
        </p:txBody>
      </p:sp>
      <p:sp>
        <p:nvSpPr>
          <p:cNvPr id="209" name="Google Shape;209;p12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display_name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— shown in char-select panel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sprite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— path to the Kenney sprite PNG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tint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—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Color(R, G, B)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tint applied via Modulate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walk_speed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— pixels/second horizontal movement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jump_impulse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— upward velocity on jump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attack_type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—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"melee"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or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"projectile"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attack_damage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— HP removed per hit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attack_cooldown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— seconds between attacks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attack_range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— melee reach in pixels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projectile_speed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— speed of fired projectile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projectile_gravity_scale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— how fast projectile falls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3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215" name="Google Shape;215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216" name="Google Shape;216;p1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217" name="Google Shape;217;p13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218" name="Google Shape;218;p13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4</a:t>
            </a:r>
            <a:endParaRPr/>
          </a:p>
        </p:txBody>
      </p:sp>
      <p:sp>
        <p:nvSpPr>
          <p:cNvPr id="219" name="Google Shape;219;p13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15</a:t>
            </a:r>
            <a:endParaRPr/>
          </a:p>
        </p:txBody>
      </p:sp>
      <p:sp>
        <p:nvSpPr>
          <p:cNvPr id="220" name="Google Shape;220;p13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Each character is a dict. Each fighter will be an object.</a:t>
            </a:r>
            <a:endParaRPr/>
          </a:p>
        </p:txBody>
      </p:sp>
      <p:sp>
        <p:nvSpPr>
          <p:cNvPr id="221" name="Google Shape;221;p13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Right now: characters are </a:t>
            </a:r>
            <a:r>
              <a:rPr b="0" i="1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dicts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— plain data, no behaviour.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Today: the Player </a:t>
            </a:r>
            <a:r>
              <a:rPr b="0" i="1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class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gets the same property names — so each Player object owns its own copy of those values.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When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setup()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runs, it copies from the dict into the object. Knight's walk_speed →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self.walk_speed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.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14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227" name="Google Shape;227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228" name="Google Shape;228;p14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229" name="Google Shape;229;p1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230" name="Google Shape;230;p14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4</a:t>
            </a:r>
            <a:endParaRPr/>
          </a:p>
        </p:txBody>
      </p:sp>
      <p:sp>
        <p:nvSpPr>
          <p:cNvPr id="231" name="Google Shape;231;p14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16</a:t>
            </a:r>
            <a:endParaRPr/>
          </a:p>
        </p:txBody>
      </p:sp>
      <p:sp>
        <p:nvSpPr>
          <p:cNvPr id="232" name="Google Shape;232;p14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Meet the pandas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15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238" name="Google Shape;238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239" name="Google Shape;239;p15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240" name="Google Shape;240;p15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241" name="Google Shape;241;p1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4</a:t>
            </a:r>
            <a:endParaRPr/>
          </a:p>
        </p:txBody>
      </p:sp>
      <p:sp>
        <p:nvSpPr>
          <p:cNvPr id="242" name="Google Shape;242;p15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17</a:t>
            </a:r>
            <a:endParaRPr/>
          </a:p>
        </p:txBody>
      </p:sp>
      <p:sp>
        <p:nvSpPr>
          <p:cNvPr id="243" name="Google Shape;243;p15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OBJECT</a:t>
            </a:r>
            <a:endParaRPr/>
          </a:p>
        </p:txBody>
      </p:sp>
      <p:sp>
        <p:nvSpPr>
          <p:cNvPr id="244" name="Google Shape;244;p15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An object is a thing in code that remembers its own data.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16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250" name="Google Shape;250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16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252" name="Google Shape;252;p16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253" name="Google Shape;253;p16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4</a:t>
            </a:r>
            <a:endParaRPr/>
          </a:p>
        </p:txBody>
      </p:sp>
      <p:sp>
        <p:nvSpPr>
          <p:cNvPr id="254" name="Google Shape;254;p1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18</a:t>
            </a:r>
            <a:endParaRPr/>
          </a:p>
        </p:txBody>
      </p:sp>
      <p:sp>
        <p:nvSpPr>
          <p:cNvPr id="255" name="Google Shape;255;p16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Blueprint vs panda</a:t>
            </a:r>
            <a:endParaRPr/>
          </a:p>
        </p:txBody>
      </p:sp>
      <p:sp>
        <p:nvSpPr>
          <p:cNvPr id="256" name="Google Shape;256;p16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</a:t>
            </a:r>
            <a:r>
              <a:rPr b="1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Class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= the blueprint. Describes </a:t>
            </a:r>
            <a:r>
              <a:rPr b="0" i="1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what kind of data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a panda has. Written once.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</a:t>
            </a:r>
            <a:r>
              <a:rPr b="1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Instance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= one actual panda, created from that blueprint. Has its own copy of every property.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Three pandas on screen → three </a:t>
            </a:r>
            <a:r>
              <a:rPr b="0" i="1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instances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. One blueprint → the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Panda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class.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17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262" name="Google Shape;262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263" name="Google Shape;263;p17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264" name="Google Shape;264;p17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265" name="Google Shape;265;p17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4</a:t>
            </a:r>
            <a:endParaRPr/>
          </a:p>
        </p:txBody>
      </p:sp>
      <p:sp>
        <p:nvSpPr>
          <p:cNvPr id="266" name="Google Shape;266;p17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19</a:t>
            </a:r>
            <a:endParaRPr/>
          </a:p>
        </p:txBody>
      </p:sp>
      <p:sp>
        <p:nvSpPr>
          <p:cNvPr id="267" name="Google Shape;267;p1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Properties + Methods</a:t>
            </a:r>
            <a:endParaRPr/>
          </a:p>
        </p:txBody>
      </p:sp>
      <p:sp>
        <p:nvSpPr>
          <p:cNvPr id="268" name="Google Shape;268;p17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</a:t>
            </a:r>
            <a:r>
              <a:rPr b="1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Property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= a piece of data the object remembers.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hp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,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hunger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,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personality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</a:t>
            </a:r>
            <a:r>
              <a:rPr b="1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Method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= something the object can </a:t>
            </a:r>
            <a:r>
              <a:rPr b="0" i="1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do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.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eat()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,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take_damage()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,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die()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Every instance has its own property values — but shares the same methods.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18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274" name="Google Shape;274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275" name="Google Shape;275;p18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276" name="Google Shape;276;p18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277" name="Google Shape;277;p18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4</a:t>
            </a:r>
            <a:endParaRPr/>
          </a:p>
        </p:txBody>
      </p:sp>
      <p:sp>
        <p:nvSpPr>
          <p:cNvPr id="278" name="Google Shape;278;p18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20</a:t>
            </a:r>
            <a:endParaRPr/>
          </a:p>
        </p:txBody>
      </p:sp>
      <p:sp>
        <p:nvSpPr>
          <p:cNvPr id="279" name="Google Shape;279;p18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Quick check</a:t>
            </a:r>
            <a:endParaRPr/>
          </a:p>
        </p:txBody>
      </p:sp>
      <p:sp>
        <p:nvSpPr>
          <p:cNvPr id="280" name="Google Shape;280;p1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Panda A: hp = 80, hunger = 30.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P1 attacks Panda A →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take_damage(15)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→ Panda A hp = </a:t>
            </a:r>
            <a:r>
              <a:rPr b="1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65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Does Panda B's hp change?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Answer: </a:t>
            </a:r>
            <a:r>
              <a:rPr b="1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No.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Each instance has its own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hp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. Damage to A doesn't touch B.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19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286" name="Google Shape;286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287" name="Google Shape;287;p19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288" name="Google Shape;288;p19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289" name="Google Shape;289;p19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4</a:t>
            </a:r>
            <a:endParaRPr/>
          </a:p>
        </p:txBody>
      </p:sp>
      <p:sp>
        <p:nvSpPr>
          <p:cNvPr id="290" name="Google Shape;290;p19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21</a:t>
            </a:r>
            <a:endParaRPr/>
          </a:p>
        </p:txBody>
      </p:sp>
      <p:sp>
        <p:nvSpPr>
          <p:cNvPr id="291" name="Google Shape;291;p19"/>
          <p:cNvSpPr txBox="1"/>
          <p:nvPr/>
        </p:nvSpPr>
        <p:spPr>
          <a:xfrm>
            <a:off x="457200" y="1051560"/>
            <a:ext cx="11277295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Panda class in GDScript</a:t>
            </a:r>
            <a:endParaRPr/>
          </a:p>
        </p:txBody>
      </p:sp>
      <p:sp>
        <p:nvSpPr>
          <p:cNvPr id="292" name="Google Shape;292;p19"/>
          <p:cNvSpPr/>
          <p:nvPr/>
        </p:nvSpPr>
        <p:spPr>
          <a:xfrm>
            <a:off x="1584929" y="1965960"/>
            <a:ext cx="9021836" cy="4526280"/>
          </a:xfrm>
          <a:prstGeom prst="roundRect">
            <a:avLst>
              <a:gd fmla="val 16667" name="adj"/>
            </a:avLst>
          </a:prstGeom>
          <a:solidFill>
            <a:srgbClr val="2D2D2D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137150" lIns="182875" spcFirstLastPara="1" rIns="182875" wrap="square" tIns="13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b="0" i="0" lang="en-US" sz="1800" u="none" cap="none" strike="noStrike">
                <a:solidFill>
                  <a:srgbClr val="569CD6"/>
                </a:solidFill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Panda: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b="0" i="0" lang="en-US" sz="1800" u="none" cap="none" strike="noStrike">
                <a:solidFill>
                  <a:srgbClr val="569CD6"/>
                </a:solidFill>
                <a:latin typeface="Consolas"/>
                <a:ea typeface="Consolas"/>
                <a:cs typeface="Consolas"/>
                <a:sym typeface="Consolas"/>
              </a:rPr>
              <a:t>var</a:t>
            </a: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hp    := </a:t>
            </a:r>
            <a:r>
              <a:rPr b="0" i="0" lang="en-US" sz="1800" u="none" cap="none" strike="noStrike">
                <a:solidFill>
                  <a:srgbClr val="B5CEA8"/>
                </a:solidFill>
                <a:latin typeface="Consolas"/>
                <a:ea typeface="Consolas"/>
                <a:cs typeface="Consolas"/>
                <a:sym typeface="Consolas"/>
              </a:rPr>
              <a:t>100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b="0" i="0" lang="en-US" sz="1800" u="none" cap="none" strike="noStrike">
                <a:solidFill>
                  <a:srgbClr val="569CD6"/>
                </a:solidFill>
                <a:latin typeface="Consolas"/>
                <a:ea typeface="Consolas"/>
                <a:cs typeface="Consolas"/>
                <a:sym typeface="Consolas"/>
              </a:rPr>
              <a:t>var</a:t>
            </a: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hunger := </a:t>
            </a:r>
            <a:r>
              <a:rPr b="0" i="0" lang="en-US" sz="1800" u="none" cap="none" strike="noStrike">
                <a:solidFill>
                  <a:srgbClr val="B5CEA8"/>
                </a:solidFill>
                <a:latin typeface="Consolas"/>
                <a:ea typeface="Consolas"/>
                <a:cs typeface="Consolas"/>
                <a:sym typeface="Consolas"/>
              </a:rPr>
              <a:t>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b="0" i="0" lang="en-US" sz="1800" u="none" cap="none" strike="noStrike">
                <a:solidFill>
                  <a:srgbClr val="569CD6"/>
                </a:solidFill>
                <a:latin typeface="Consolas"/>
                <a:ea typeface="Consolas"/>
                <a:cs typeface="Consolas"/>
                <a:sym typeface="Consolas"/>
              </a:rPr>
              <a:t>var</a:t>
            </a: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personality := </a:t>
            </a:r>
            <a:r>
              <a:rPr b="0" i="0" lang="en-US" sz="1800" u="none" cap="none" strike="noStrike">
                <a:solidFill>
                  <a:srgbClr val="CE9178"/>
                </a:solidFill>
                <a:latin typeface="Consolas"/>
                <a:ea typeface="Consolas"/>
                <a:cs typeface="Consolas"/>
                <a:sym typeface="Consolas"/>
              </a:rPr>
              <a:t>"lazy"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b="0" i="0" lang="en-US" sz="1800" u="none" cap="none" strike="noStrike">
                <a:solidFill>
                  <a:srgbClr val="569CD6"/>
                </a:solidFill>
                <a:latin typeface="Consolas"/>
                <a:ea typeface="Consolas"/>
                <a:cs typeface="Consolas"/>
                <a:sym typeface="Consolas"/>
              </a:rPr>
              <a:t>func</a:t>
            </a: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take_damage(amount):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         hp -= amount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         </a:t>
            </a:r>
            <a:r>
              <a:rPr b="0" i="0" lang="en-US" sz="1800" u="none" cap="none" strike="noStrike">
                <a:solidFill>
                  <a:srgbClr val="569CD6"/>
                </a:solidFill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hp &lt;= </a:t>
            </a:r>
            <a:r>
              <a:rPr b="0" i="0" lang="en-US" sz="1800" u="none" cap="none" strike="noStrike">
                <a:solidFill>
                  <a:srgbClr val="B5CEA8"/>
                </a:solidFill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             die()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b="0" i="0" lang="en-US" sz="1800" u="none" cap="none" strike="noStrike">
                <a:solidFill>
                  <a:srgbClr val="569CD6"/>
                </a:solidFill>
                <a:latin typeface="Consolas"/>
                <a:ea typeface="Consolas"/>
                <a:cs typeface="Consolas"/>
                <a:sym typeface="Consolas"/>
              </a:rPr>
              <a:t>func</a:t>
            </a: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die():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         </a:t>
            </a:r>
            <a:r>
              <a:rPr b="0" i="0" lang="en-US" sz="1800" u="none" cap="none" strike="noStrike">
                <a:solidFill>
                  <a:srgbClr val="DCDCAA"/>
                </a:solidFill>
                <a:latin typeface="Consolas"/>
                <a:ea typeface="Consolas"/>
                <a:cs typeface="Consolas"/>
                <a:sym typeface="Consolas"/>
              </a:rPr>
              <a:t>print</a:t>
            </a: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(personality, </a:t>
            </a:r>
            <a:r>
              <a:rPr b="0" i="0" lang="en-US" sz="1800" u="none" cap="none" strike="noStrike">
                <a:solidFill>
                  <a:srgbClr val="CE9178"/>
                </a:solidFill>
                <a:latin typeface="Consolas"/>
                <a:ea typeface="Consolas"/>
                <a:cs typeface="Consolas"/>
                <a:sym typeface="Consolas"/>
              </a:rPr>
              <a:t>" panda fainted"</a:t>
            </a: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)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2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298" name="Google Shape;298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299" name="Google Shape;299;p20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300" name="Google Shape;300;p20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301" name="Google Shape;301;p20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4</a:t>
            </a:r>
            <a:endParaRPr/>
          </a:p>
        </p:txBody>
      </p:sp>
      <p:sp>
        <p:nvSpPr>
          <p:cNvPr id="302" name="Google Shape;302;p20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22</a:t>
            </a:r>
            <a:endParaRPr/>
          </a:p>
        </p:txBody>
      </p:sp>
      <p:sp>
        <p:nvSpPr>
          <p:cNvPr id="303" name="Google Shape;303;p20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7 panda personalities</a:t>
            </a:r>
            <a:endParaRPr/>
          </a:p>
        </p:txBody>
      </p:sp>
      <p:sp>
        <p:nvSpPr>
          <p:cNvPr id="304" name="Google Shape;304;p20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lazy — sits around, minimal movement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playful — chases other pandas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aggressive — attacks on sight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nervous — runs away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hungry — seeks bamboo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sleepy — falls asleep mid-fight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sneezy — random sneeze knocks back nearby pandas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2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310" name="Google Shape;31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311" name="Google Shape;311;p21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312" name="Google Shape;312;p21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313" name="Google Shape;313;p21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4</a:t>
            </a:r>
            <a:endParaRPr/>
          </a:p>
        </p:txBody>
      </p:sp>
      <p:sp>
        <p:nvSpPr>
          <p:cNvPr id="314" name="Google Shape;314;p21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23</a:t>
            </a:r>
            <a:endParaRPr/>
          </a:p>
        </p:txBody>
      </p:sp>
      <p:sp>
        <p:nvSpPr>
          <p:cNvPr id="315" name="Google Shape;315;p21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Objects everywhere in games</a:t>
            </a:r>
            <a:endParaRPr/>
          </a:p>
        </p:txBody>
      </p:sp>
      <p:sp>
        <p:nvSpPr>
          <p:cNvPr id="316" name="Google Shape;316;p21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Every enemy is an object — its own HP, position, and AI state.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Every bullet is an object — its own speed, direction, and damage.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Every item on the ground is an object — its own type and pickup range.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The game loop just calls methods on them: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enemy.update(delta)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,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bullet.move(delta)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.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2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322" name="Google Shape;322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323" name="Google Shape;323;p22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324" name="Google Shape;324;p22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325" name="Google Shape;325;p22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4</a:t>
            </a:r>
            <a:endParaRPr/>
          </a:p>
        </p:txBody>
      </p:sp>
      <p:sp>
        <p:nvSpPr>
          <p:cNvPr id="326" name="Google Shape;326;p22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24</a:t>
            </a:r>
            <a:endParaRPr/>
          </a:p>
        </p:txBody>
      </p:sp>
      <p:sp>
        <p:nvSpPr>
          <p:cNvPr id="327" name="Google Shape;327;p22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One class. Two fighters.</a:t>
            </a:r>
            <a:endParaRPr/>
          </a:p>
        </p:txBody>
      </p:sp>
      <p:sp>
        <p:nvSpPr>
          <p:cNvPr id="328" name="Google Shape;328;p22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One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class (in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player.gd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).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Instantiated </a:t>
            </a:r>
            <a:r>
              <a:rPr b="1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twice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— once for P1, once for P2.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Each instance has its own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hp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,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state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,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, and character stats.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They share the same methods: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take_damage()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,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attack()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,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set_state()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.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2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p24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334" name="Google Shape;334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335" name="Google Shape;335;p24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336" name="Google Shape;336;p2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337" name="Google Shape;337;p24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4</a:t>
            </a:r>
            <a:endParaRPr/>
          </a:p>
        </p:txBody>
      </p:sp>
      <p:sp>
        <p:nvSpPr>
          <p:cNvPr id="338" name="Google Shape;338;p24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26</a:t>
            </a:r>
            <a:endParaRPr/>
          </a:p>
        </p:txBody>
      </p:sp>
      <p:sp>
        <p:nvSpPr>
          <p:cNvPr id="339" name="Google Shape;339;p24"/>
          <p:cNvSpPr/>
          <p:nvPr/>
        </p:nvSpPr>
        <p:spPr>
          <a:xfrm>
            <a:off x="457200" y="1051560"/>
            <a:ext cx="11277295" cy="1280160"/>
          </a:xfrm>
          <a:prstGeom prst="roundRect">
            <a:avLst>
              <a:gd fmla="val 16667" name="adj"/>
            </a:avLst>
          </a:prstGeom>
          <a:solidFill>
            <a:srgbClr val="F2F2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137150" lIns="274300" spcFirstLastPara="1" rIns="274300" wrap="square" tIns="13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Declare the three things every Player needs to remember about itself: hp (start at 100), max_hp (also 100, for the HP bar), and facing (start at 1 = looking right).</a:t>
            </a:r>
            <a:endParaRPr/>
          </a:p>
        </p:txBody>
      </p:sp>
      <p:sp>
        <p:nvSpPr>
          <p:cNvPr id="340" name="Google Shape;340;p24"/>
          <p:cNvSpPr txBox="1"/>
          <p:nvPr/>
        </p:nvSpPr>
        <p:spPr>
          <a:xfrm>
            <a:off x="457200" y="2606040"/>
            <a:ext cx="5501487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Pattern (board example):</a:t>
            </a:r>
            <a:endParaRPr/>
          </a:p>
        </p:txBody>
      </p:sp>
      <p:sp>
        <p:nvSpPr>
          <p:cNvPr id="341" name="Google Shape;341;p24"/>
          <p:cNvSpPr/>
          <p:nvPr/>
        </p:nvSpPr>
        <p:spPr>
          <a:xfrm>
            <a:off x="457200" y="2971800"/>
            <a:ext cx="5501487" cy="3520440"/>
          </a:xfrm>
          <a:prstGeom prst="roundRect">
            <a:avLst>
              <a:gd fmla="val 16667" name="adj"/>
            </a:avLst>
          </a:prstGeom>
          <a:solidFill>
            <a:srgbClr val="2D2D2D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137150" lIns="182875" spcFirstLastPara="1" rIns="182875" wrap="square" tIns="13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b="0" i="0" lang="en-US" sz="1800" u="none" cap="none" strike="noStrike">
                <a:solidFill>
                  <a:srgbClr val="569CD6"/>
                </a:solidFill>
                <a:latin typeface="Consolas"/>
                <a:ea typeface="Consolas"/>
                <a:cs typeface="Consolas"/>
                <a:sym typeface="Consolas"/>
              </a:rPr>
              <a:t>var</a:t>
            </a: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hp      := </a:t>
            </a:r>
            <a:r>
              <a:rPr b="0" i="0" lang="en-US" sz="1800" u="none" cap="none" strike="noStrike">
                <a:solidFill>
                  <a:srgbClr val="B5CEA8"/>
                </a:solidFill>
                <a:latin typeface="Consolas"/>
                <a:ea typeface="Consolas"/>
                <a:cs typeface="Consolas"/>
                <a:sym typeface="Consolas"/>
              </a:rPr>
              <a:t>100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b="0" i="0" lang="en-US" sz="1800" u="none" cap="none" strike="noStrike">
                <a:solidFill>
                  <a:srgbClr val="569CD6"/>
                </a:solidFill>
                <a:latin typeface="Consolas"/>
                <a:ea typeface="Consolas"/>
                <a:cs typeface="Consolas"/>
                <a:sym typeface="Consolas"/>
              </a:rPr>
              <a:t>var</a:t>
            </a: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max_hp  := </a:t>
            </a:r>
            <a:r>
              <a:rPr b="0" i="0" lang="en-US" sz="1800" u="none" cap="none" strike="noStrike">
                <a:solidFill>
                  <a:srgbClr val="B5CEA8"/>
                </a:solidFill>
                <a:latin typeface="Consolas"/>
                <a:ea typeface="Consolas"/>
                <a:cs typeface="Consolas"/>
                <a:sym typeface="Consolas"/>
              </a:rPr>
              <a:t>100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b="0" i="0" lang="en-US" sz="1800" u="none" cap="none" strike="noStrike">
                <a:solidFill>
                  <a:srgbClr val="569CD6"/>
                </a:solidFill>
                <a:latin typeface="Consolas"/>
                <a:ea typeface="Consolas"/>
                <a:cs typeface="Consolas"/>
                <a:sym typeface="Consolas"/>
              </a:rPr>
              <a:t>var</a:t>
            </a: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facing  := </a:t>
            </a:r>
            <a:r>
              <a:rPr b="0" i="0" lang="en-US" sz="1800" u="none" cap="none" strike="noStrike">
                <a:solidFill>
                  <a:srgbClr val="B5CEA8"/>
                </a:solidFill>
                <a:latin typeface="Consolas"/>
                <a:ea typeface="Consolas"/>
                <a:cs typeface="Consolas"/>
                <a:sym typeface="Consolas"/>
              </a:rPr>
              <a:t>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endParaRPr/>
          </a:p>
        </p:txBody>
      </p:sp>
      <p:sp>
        <p:nvSpPr>
          <p:cNvPr id="342" name="Google Shape;342;p24"/>
          <p:cNvSpPr txBox="1"/>
          <p:nvPr/>
        </p:nvSpPr>
        <p:spPr>
          <a:xfrm>
            <a:off x="6233007" y="2606040"/>
            <a:ext cx="5501487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Where in your code (Godot):</a:t>
            </a:r>
            <a:endParaRPr/>
          </a:p>
        </p:txBody>
      </p:sp>
      <p:pic>
        <p:nvPicPr>
          <p:cNvPr id="343" name="Google Shape;343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981649" y="3497580"/>
            <a:ext cx="6210351" cy="24231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25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349" name="Google Shape;349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350" name="Google Shape;350;p25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351" name="Google Shape;351;p25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352" name="Google Shape;352;p2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4</a:t>
            </a:r>
            <a:endParaRPr/>
          </a:p>
        </p:txBody>
      </p:sp>
      <p:sp>
        <p:nvSpPr>
          <p:cNvPr id="353" name="Google Shape;353;p25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27</a:t>
            </a:r>
            <a:endParaRPr/>
          </a:p>
        </p:txBody>
      </p:sp>
      <p:sp>
        <p:nvSpPr>
          <p:cNvPr id="354" name="Google Shape;354;p25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4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No visible payoff yet</a:t>
            </a:r>
            <a:endParaRPr/>
          </a:p>
        </p:txBody>
      </p:sp>
      <p:sp>
        <p:nvSpPr>
          <p:cNvPr id="355" name="Google Shape;355;p25"/>
          <p:cNvSpPr txBox="1"/>
          <p:nvPr/>
        </p:nvSpPr>
        <p:spPr>
          <a:xfrm>
            <a:off x="457200" y="4160520"/>
            <a:ext cx="1127729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Chunk #1 adds properties the game will use — but nothing appears on screen until chunk #4. Keep going.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9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p26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361" name="Google Shape;361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362" name="Google Shape;362;p26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363" name="Google Shape;363;p26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364" name="Google Shape;364;p26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4</a:t>
            </a:r>
            <a:endParaRPr/>
          </a:p>
        </p:txBody>
      </p:sp>
      <p:sp>
        <p:nvSpPr>
          <p:cNvPr id="365" name="Google Shape;365;p2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28</a:t>
            </a:r>
            <a:endParaRPr/>
          </a:p>
        </p:txBody>
      </p:sp>
      <p:sp>
        <p:nvSpPr>
          <p:cNvPr id="366" name="Google Shape;366;p26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Run the game — confirm no errors</a:t>
            </a:r>
            <a:endParaRPr/>
          </a:p>
        </p:txBody>
      </p:sp>
      <p:sp>
        <p:nvSpPr>
          <p:cNvPr id="367" name="Google Shape;367;p26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Run the game and confirm it opens without errors.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27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373" name="Google Shape;373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374" name="Google Shape;374;p27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375" name="Google Shape;375;p27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376" name="Google Shape;376;p27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4</a:t>
            </a:r>
            <a:endParaRPr/>
          </a:p>
        </p:txBody>
      </p:sp>
      <p:sp>
        <p:nvSpPr>
          <p:cNvPr id="377" name="Google Shape;377;p27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32</a:t>
            </a:r>
            <a:endParaRPr/>
          </a:p>
        </p:txBody>
      </p:sp>
      <p:sp>
        <p:nvSpPr>
          <p:cNvPr id="378" name="Google Shape;378;p2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4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Remember what KIND of panda it is</a:t>
            </a:r>
            <a:endParaRPr/>
          </a:p>
        </p:txBody>
      </p:sp>
      <p:sp>
        <p:nvSpPr>
          <p:cNvPr id="379" name="Google Shape;379;p27"/>
          <p:cNvSpPr txBox="1"/>
          <p:nvPr/>
        </p:nvSpPr>
        <p:spPr>
          <a:xfrm>
            <a:off x="457200" y="4160520"/>
            <a:ext cx="1127729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Every fighter has different stats — Knight hits hard, Ninja moves fast. Those differences live in the CHARACTERS dict. Now we pull them into the object.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3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p28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385" name="Google Shape;385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386" name="Google Shape;386;p28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387" name="Google Shape;387;p28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388" name="Google Shape;388;p28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4</a:t>
            </a:r>
            <a:endParaRPr/>
          </a:p>
        </p:txBody>
      </p:sp>
      <p:sp>
        <p:nvSpPr>
          <p:cNvPr id="389" name="Google Shape;389;p28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33</a:t>
            </a:r>
            <a:endParaRPr/>
          </a:p>
        </p:txBody>
      </p:sp>
      <p:sp>
        <p:nvSpPr>
          <p:cNvPr id="390" name="Google Shape;390;p28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Dict → setup() → object vars</a:t>
            </a:r>
            <a:endParaRPr/>
          </a:p>
        </p:txBody>
      </p:sp>
      <p:sp>
        <p:nvSpPr>
          <p:cNvPr id="391" name="Google Shape;391;p2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The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CHARACTERS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dict in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main.gd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holds raw stat values for each character.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setup(char_key, player_num)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runs once when a fighter spawns — it reads the dict and copies values into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self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properties.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After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setup()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, the fighter knows its own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walk_speed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,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attack_damage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, etc. — no more looking up the dict.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5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Google Shape;396;p29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397" name="Google Shape;397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398" name="Google Shape;398;p29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399" name="Google Shape;399;p29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400" name="Google Shape;400;p29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4</a:t>
            </a:r>
            <a:endParaRPr/>
          </a:p>
        </p:txBody>
      </p:sp>
      <p:sp>
        <p:nvSpPr>
          <p:cNvPr id="401" name="Google Shape;401;p29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34</a:t>
            </a:r>
            <a:endParaRPr/>
          </a:p>
        </p:txBody>
      </p:sp>
      <p:sp>
        <p:nvSpPr>
          <p:cNvPr id="402" name="Google Shape;402;p29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Quick check</a:t>
            </a:r>
            <a:endParaRPr/>
          </a:p>
        </p:txBody>
      </p:sp>
      <p:sp>
        <p:nvSpPr>
          <p:cNvPr id="403" name="Google Shape;403;p29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P1 picks Knight (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walk_speed: 220.0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). P2 picks Ninja (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walk_speed: 310.0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).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After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setup()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runs for each fighter, what is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p1.walk_speed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? What is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p2.walk_speed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?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Answer: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p1.walk_speed = 220.0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,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p2.walk_speed = 310.0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. Independent copies.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7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Google Shape;408;p3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409" name="Google Shape;409;p3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410" name="Google Shape;410;p31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411" name="Google Shape;411;p31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412" name="Google Shape;412;p31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4</a:t>
            </a:r>
            <a:endParaRPr/>
          </a:p>
        </p:txBody>
      </p:sp>
      <p:sp>
        <p:nvSpPr>
          <p:cNvPr id="413" name="Google Shape;413;p31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36</a:t>
            </a:r>
            <a:endParaRPr/>
          </a:p>
        </p:txBody>
      </p:sp>
      <p:sp>
        <p:nvSpPr>
          <p:cNvPr id="414" name="Google Shape;414;p31"/>
          <p:cNvSpPr/>
          <p:nvPr/>
        </p:nvSpPr>
        <p:spPr>
          <a:xfrm>
            <a:off x="457200" y="1051560"/>
            <a:ext cx="11277295" cy="1280160"/>
          </a:xfrm>
          <a:prstGeom prst="roundRect">
            <a:avLst>
              <a:gd fmla="val 16667" name="adj"/>
            </a:avLst>
          </a:prstGeom>
          <a:solidFill>
            <a:srgbClr val="F2F2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137150" lIns="274300" spcFirstLastPara="1" rIns="274300" wrap="square" tIns="1371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000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Declare the five properties that mirror the character config: `walk_speed`, `jump_impulse`, `attack_type`, `attack_damage`, `attack_cooldown`.</a:t>
            </a:r>
            <a:endParaRPr b="1" sz="2000">
              <a:solidFill>
                <a:srgbClr val="1A1A1A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000">
              <a:solidFill>
                <a:srgbClr val="1A1A1A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15" name="Google Shape;415;p31"/>
          <p:cNvSpPr txBox="1"/>
          <p:nvPr/>
        </p:nvSpPr>
        <p:spPr>
          <a:xfrm>
            <a:off x="457200" y="2606040"/>
            <a:ext cx="5501487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Pattern (board example):</a:t>
            </a:r>
            <a:endParaRPr/>
          </a:p>
        </p:txBody>
      </p:sp>
      <p:sp>
        <p:nvSpPr>
          <p:cNvPr id="416" name="Google Shape;416;p31"/>
          <p:cNvSpPr txBox="1"/>
          <p:nvPr/>
        </p:nvSpPr>
        <p:spPr>
          <a:xfrm>
            <a:off x="6233007" y="2606040"/>
            <a:ext cx="5501487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Where in your code (Godot):</a:t>
            </a:r>
            <a:endParaRPr/>
          </a:p>
        </p:txBody>
      </p:sp>
      <p:pic>
        <p:nvPicPr>
          <p:cNvPr id="417" name="Google Shape;417;p3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100031" y="3710382"/>
            <a:ext cx="5932170" cy="1631797"/>
          </a:xfrm>
          <a:prstGeom prst="rect">
            <a:avLst/>
          </a:prstGeom>
          <a:noFill/>
          <a:ln>
            <a:noFill/>
          </a:ln>
        </p:spPr>
      </p:pic>
      <p:pic>
        <p:nvPicPr>
          <p:cNvPr id="418" name="Google Shape;418;p3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74325" y="3336725"/>
            <a:ext cx="5501500" cy="265110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2" name="Shape 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Google Shape;423;p3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424" name="Google Shape;424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425" name="Google Shape;425;p32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426" name="Google Shape;426;p32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427" name="Google Shape;427;p32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4</a:t>
            </a:r>
            <a:endParaRPr/>
          </a:p>
        </p:txBody>
      </p:sp>
      <p:sp>
        <p:nvSpPr>
          <p:cNvPr id="428" name="Google Shape;428;p32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37</a:t>
            </a:r>
            <a:endParaRPr/>
          </a:p>
        </p:txBody>
      </p:sp>
      <p:sp>
        <p:nvSpPr>
          <p:cNvPr id="429" name="Google Shape;429;p32"/>
          <p:cNvSpPr txBox="1"/>
          <p:nvPr/>
        </p:nvSpPr>
        <p:spPr>
          <a:xfrm>
            <a:off x="457200" y="2186077"/>
            <a:ext cx="11277295" cy="175432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4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Like teaching the panda how to lose health…</a:t>
            </a:r>
            <a:endParaRPr b="1" i="0" sz="5400" u="none" cap="none" strike="noStrike">
              <a:solidFill>
                <a:srgbClr val="1A1A1A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30" name="Google Shape;430;p32"/>
          <p:cNvSpPr txBox="1"/>
          <p:nvPr/>
        </p:nvSpPr>
        <p:spPr>
          <a:xfrm>
            <a:off x="457200" y="4160520"/>
            <a:ext cx="11277295" cy="15696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We’ll teach our characters how to lose HP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rgbClr val="8A8A8A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Properties store data. Methods make the object </a:t>
            </a:r>
            <a:r>
              <a:rPr b="0" i="1" lang="en-US" sz="24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do</a:t>
            </a:r>
            <a:r>
              <a:rPr b="0" i="0" lang="en-US" sz="24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 something. Now we write the fighter's first method.</a:t>
            </a: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4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33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436" name="Google Shape;436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437" name="Google Shape;437;p3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438" name="Google Shape;438;p33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439" name="Google Shape;439;p33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4</a:t>
            </a:r>
            <a:endParaRPr/>
          </a:p>
        </p:txBody>
      </p:sp>
      <p:sp>
        <p:nvSpPr>
          <p:cNvPr id="440" name="Google Shape;440;p33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38</a:t>
            </a:r>
            <a:endParaRPr/>
          </a:p>
        </p:txBody>
      </p:sp>
      <p:sp>
        <p:nvSpPr>
          <p:cNvPr id="441" name="Google Shape;441;p33"/>
          <p:cNvSpPr txBox="1"/>
          <p:nvPr/>
        </p:nvSpPr>
        <p:spPr>
          <a:xfrm>
            <a:off x="457200" y="1051560"/>
            <a:ext cx="11277295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A method changes an object's own data</a:t>
            </a:r>
            <a:endParaRPr/>
          </a:p>
        </p:txBody>
      </p:sp>
      <p:sp>
        <p:nvSpPr>
          <p:cNvPr id="442" name="Google Shape;442;p33"/>
          <p:cNvSpPr/>
          <p:nvPr/>
        </p:nvSpPr>
        <p:spPr>
          <a:xfrm>
            <a:off x="1584929" y="1965960"/>
            <a:ext cx="9021836" cy="4526280"/>
          </a:xfrm>
          <a:prstGeom prst="roundRect">
            <a:avLst>
              <a:gd fmla="val 16667" name="adj"/>
            </a:avLst>
          </a:prstGeom>
          <a:solidFill>
            <a:srgbClr val="2D2D2D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137150" lIns="182875" spcFirstLastPara="1" rIns="182875" wrap="square" tIns="13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b="0" i="0" lang="en-US" sz="1800" u="none" cap="none" strike="noStrike">
                <a:solidFill>
                  <a:srgbClr val="569CD6"/>
                </a:solidFill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Panda: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b="0" i="0" lang="en-US" sz="1800" u="none" cap="none" strike="noStrike">
                <a:solidFill>
                  <a:srgbClr val="569CD6"/>
                </a:solidFill>
                <a:latin typeface="Consolas"/>
                <a:ea typeface="Consolas"/>
                <a:cs typeface="Consolas"/>
                <a:sym typeface="Consolas"/>
              </a:rPr>
              <a:t>var</a:t>
            </a: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hunger := </a:t>
            </a:r>
            <a:r>
              <a:rPr b="0" i="0" lang="en-US" sz="1800" u="none" cap="none" strike="noStrike">
                <a:solidFill>
                  <a:srgbClr val="B5CEA8"/>
                </a:solidFill>
                <a:latin typeface="Consolas"/>
                <a:ea typeface="Consolas"/>
                <a:cs typeface="Consolas"/>
                <a:sym typeface="Consolas"/>
              </a:rPr>
              <a:t>50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b="0" i="0" lang="en-US" sz="1800" u="none" cap="none" strike="noStrike">
                <a:solidFill>
                  <a:srgbClr val="569CD6"/>
                </a:solidFill>
                <a:latin typeface="Consolas"/>
                <a:ea typeface="Consolas"/>
                <a:cs typeface="Consolas"/>
                <a:sym typeface="Consolas"/>
              </a:rPr>
              <a:t>func</a:t>
            </a: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feed():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         hunger -= </a:t>
            </a:r>
            <a:r>
              <a:rPr b="0" i="0" lang="en-US" sz="1800" u="none" cap="none" strike="noStrike">
                <a:solidFill>
                  <a:srgbClr val="B5CEA8"/>
                </a:solidFill>
                <a:latin typeface="Consolas"/>
                <a:ea typeface="Consolas"/>
                <a:cs typeface="Consolas"/>
                <a:sym typeface="Consolas"/>
              </a:rPr>
              <a:t>10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         </a:t>
            </a:r>
            <a:r>
              <a:rPr b="0" i="0" lang="en-US" sz="1800" u="none" cap="none" strike="noStrike">
                <a:solidFill>
                  <a:srgbClr val="DCDCAA"/>
                </a:solidFill>
                <a:latin typeface="Consolas"/>
                <a:ea typeface="Consolas"/>
                <a:cs typeface="Consolas"/>
                <a:sym typeface="Consolas"/>
              </a:rPr>
              <a:t>print</a:t>
            </a: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b="0" i="0" lang="en-US" sz="1800" u="none" cap="none" strike="noStrike">
                <a:solidFill>
                  <a:srgbClr val="CE9178"/>
                </a:solidFill>
                <a:latin typeface="Consolas"/>
                <a:ea typeface="Consolas"/>
                <a:cs typeface="Consolas"/>
                <a:sym typeface="Consolas"/>
              </a:rPr>
              <a:t>"Panda ate. Hunger now:"</a:t>
            </a: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, hunger)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6" name="Shape 4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Google Shape;447;p34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448" name="Google Shape;448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449" name="Google Shape;449;p34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450" name="Google Shape;450;p3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451" name="Google Shape;451;p34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4</a:t>
            </a:r>
            <a:endParaRPr/>
          </a:p>
        </p:txBody>
      </p:sp>
      <p:sp>
        <p:nvSpPr>
          <p:cNvPr id="452" name="Google Shape;452;p34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39</a:t>
            </a:r>
            <a:endParaRPr/>
          </a:p>
        </p:txBody>
      </p:sp>
      <p:sp>
        <p:nvSpPr>
          <p:cNvPr id="453" name="Google Shape;453;p34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Pieces already in the file</a:t>
            </a:r>
            <a:endParaRPr/>
          </a:p>
        </p:txBody>
      </p:sp>
      <p:sp>
        <p:nvSpPr>
          <p:cNvPr id="454" name="Google Shape;454;p34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hp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— the property you declared in chunk #1.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max_hp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— also from chunk #1; used to compute HP bar fill ratio.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hit_flash_timer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— pre-given float; set it to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0.2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to trigger a flash effect.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set_state(new_state)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— pre-given stub (chunk #5 fills it); call it with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"hit"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die()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— pre-given method; call it when hp hits zero.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$HPBar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— pre-given node; set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scale.x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=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hp / max_hp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to shrink the bar.</a:t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8" name="Shape 4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" name="Google Shape;459;p36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460" name="Google Shape;460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461" name="Google Shape;461;p36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462" name="Google Shape;462;p36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463" name="Google Shape;463;p36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4</a:t>
            </a:r>
            <a:endParaRPr/>
          </a:p>
        </p:txBody>
      </p:sp>
      <p:sp>
        <p:nvSpPr>
          <p:cNvPr id="464" name="Google Shape;464;p3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41</a:t>
            </a:r>
            <a:endParaRPr/>
          </a:p>
        </p:txBody>
      </p:sp>
      <p:sp>
        <p:nvSpPr>
          <p:cNvPr id="465" name="Google Shape;465;p36"/>
          <p:cNvSpPr/>
          <p:nvPr/>
        </p:nvSpPr>
        <p:spPr>
          <a:xfrm>
            <a:off x="457200" y="1051560"/>
            <a:ext cx="11277295" cy="1280160"/>
          </a:xfrm>
          <a:prstGeom prst="roundRect">
            <a:avLst>
              <a:gd fmla="val 16667" name="adj"/>
            </a:avLst>
          </a:prstGeom>
          <a:solidFill>
            <a:srgbClr val="F2F2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137150" lIns="274300" spcFirstLastPara="1" rIns="274300" wrap="square" tIns="1371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000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Fill the empty `take_damage(amount)` body so opponents can actually hurt each other. Subtract `amount` from `hp`, start the hit flash, switch state to "hit", shrink the HP bar to match hp/max_hp, and call `die()` if HP dropped to zero.</a:t>
            </a:r>
            <a:endParaRPr b="1" sz="2000">
              <a:solidFill>
                <a:srgbClr val="1A1A1A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000">
              <a:solidFill>
                <a:srgbClr val="1A1A1A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66" name="Google Shape;466;p36"/>
          <p:cNvSpPr txBox="1"/>
          <p:nvPr/>
        </p:nvSpPr>
        <p:spPr>
          <a:xfrm>
            <a:off x="457200" y="2606040"/>
            <a:ext cx="5501487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Pattern (board example):</a:t>
            </a:r>
            <a:endParaRPr/>
          </a:p>
        </p:txBody>
      </p:sp>
      <p:sp>
        <p:nvSpPr>
          <p:cNvPr id="467" name="Google Shape;467;p36"/>
          <p:cNvSpPr txBox="1"/>
          <p:nvPr/>
        </p:nvSpPr>
        <p:spPr>
          <a:xfrm>
            <a:off x="6233007" y="2606040"/>
            <a:ext cx="5501487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Where in your code (Godot):</a:t>
            </a:r>
            <a:endParaRPr/>
          </a:p>
        </p:txBody>
      </p:sp>
      <p:pic>
        <p:nvPicPr>
          <p:cNvPr id="468" name="Google Shape;468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142950" y="3160671"/>
            <a:ext cx="5774425" cy="3051258"/>
          </a:xfrm>
          <a:prstGeom prst="rect">
            <a:avLst/>
          </a:prstGeom>
          <a:noFill/>
          <a:ln>
            <a:noFill/>
          </a:ln>
        </p:spPr>
      </p:pic>
      <p:pic>
        <p:nvPicPr>
          <p:cNvPr id="469" name="Google Shape;469;p3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46798" y="3860650"/>
            <a:ext cx="5882524" cy="1499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3" name="Shape 4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Google Shape;474;p37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475" name="Google Shape;475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476" name="Google Shape;476;p37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477" name="Google Shape;477;p37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478" name="Google Shape;478;p37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4</a:t>
            </a:r>
            <a:endParaRPr/>
          </a:p>
        </p:txBody>
      </p:sp>
      <p:sp>
        <p:nvSpPr>
          <p:cNvPr id="479" name="Google Shape;479;p37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42</a:t>
            </a:r>
            <a:endParaRPr/>
          </a:p>
        </p:txBody>
      </p:sp>
      <p:sp>
        <p:nvSpPr>
          <p:cNvPr id="480" name="Google Shape;480;p37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4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Time to spawn two of them</a:t>
            </a:r>
            <a:endParaRPr/>
          </a:p>
        </p:txBody>
      </p:sp>
      <p:sp>
        <p:nvSpPr>
          <p:cNvPr id="481" name="Google Shape;481;p37"/>
          <p:cNvSpPr txBox="1"/>
          <p:nvPr/>
        </p:nvSpPr>
        <p:spPr>
          <a:xfrm>
            <a:off x="457200" y="4160520"/>
            <a:ext cx="1127729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The Player class exists. The properties are declared. Now we create two instances — one for each player — and put them in the scene.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5" name="Shape 4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6" name="Google Shape;486;p38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487" name="Google Shape;487;p3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488" name="Google Shape;488;p38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489" name="Google Shape;489;p38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490" name="Google Shape;490;p38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4</a:t>
            </a:r>
            <a:endParaRPr/>
          </a:p>
        </p:txBody>
      </p:sp>
      <p:sp>
        <p:nvSpPr>
          <p:cNvPr id="491" name="Google Shape;491;p38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43</a:t>
            </a:r>
            <a:endParaRPr/>
          </a:p>
        </p:txBody>
      </p:sp>
      <p:sp>
        <p:nvSpPr>
          <p:cNvPr id="492" name="Google Shape;492;p38"/>
          <p:cNvSpPr txBox="1"/>
          <p:nvPr/>
        </p:nvSpPr>
        <p:spPr>
          <a:xfrm>
            <a:off x="457200" y="1051560"/>
            <a:ext cx="11277295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Panda.new() × 2</a:t>
            </a:r>
            <a:endParaRPr/>
          </a:p>
        </p:txBody>
      </p:sp>
      <p:sp>
        <p:nvSpPr>
          <p:cNvPr id="493" name="Google Shape;493;p38"/>
          <p:cNvSpPr/>
          <p:nvPr/>
        </p:nvSpPr>
        <p:spPr>
          <a:xfrm>
            <a:off x="1584929" y="1965960"/>
            <a:ext cx="9021836" cy="4526280"/>
          </a:xfrm>
          <a:prstGeom prst="roundRect">
            <a:avLst>
              <a:gd fmla="val 16667" name="adj"/>
            </a:avLst>
          </a:prstGeom>
          <a:solidFill>
            <a:srgbClr val="2D2D2D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137150" lIns="182875" spcFirstLastPara="1" rIns="182875" wrap="square" tIns="13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b="0" i="0" lang="en-US" sz="1800" u="none" cap="none" strike="noStrike">
                <a:solidFill>
                  <a:srgbClr val="6A9955"/>
                </a:solidFill>
                <a:latin typeface="Consolas"/>
                <a:ea typeface="Consolas"/>
                <a:cs typeface="Consolas"/>
                <a:sym typeface="Consolas"/>
              </a:rPr>
              <a:t># Two independent instances from one blueprint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b="0" i="0" lang="en-US" sz="1800" u="none" cap="none" strike="noStrike">
                <a:solidFill>
                  <a:srgbClr val="569CD6"/>
                </a:solidFill>
                <a:latin typeface="Consolas"/>
                <a:ea typeface="Consolas"/>
                <a:cs typeface="Consolas"/>
                <a:sym typeface="Consolas"/>
              </a:rPr>
              <a:t>var</a:t>
            </a: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panda_a = Panda.new()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b="0" i="0" lang="en-US" sz="1800" u="none" cap="none" strike="noStrike">
                <a:solidFill>
                  <a:srgbClr val="569CD6"/>
                </a:solidFill>
                <a:latin typeface="Consolas"/>
                <a:ea typeface="Consolas"/>
                <a:cs typeface="Consolas"/>
                <a:sym typeface="Consolas"/>
              </a:rPr>
              <a:t>var</a:t>
            </a: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panda_b = Panda.new()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 panda_a.hp = </a:t>
            </a:r>
            <a:r>
              <a:rPr b="0" i="0" lang="en-US" sz="1800" u="none" cap="none" strike="noStrike">
                <a:solidFill>
                  <a:srgbClr val="B5CEA8"/>
                </a:solidFill>
                <a:latin typeface="Consolas"/>
                <a:ea typeface="Consolas"/>
                <a:cs typeface="Consolas"/>
                <a:sym typeface="Consolas"/>
              </a:rPr>
              <a:t>80</a:t>
            </a: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  </a:t>
            </a:r>
            <a:r>
              <a:rPr b="0" i="0" lang="en-US" sz="1800" u="none" cap="none" strike="noStrike">
                <a:solidFill>
                  <a:srgbClr val="6A9955"/>
                </a:solidFill>
                <a:latin typeface="Consolas"/>
                <a:ea typeface="Consolas"/>
                <a:cs typeface="Consolas"/>
                <a:sym typeface="Consolas"/>
              </a:rPr>
              <a:t># only A changes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b="0" i="0" lang="en-US" sz="1800" u="none" cap="none" strike="noStrike">
                <a:solidFill>
                  <a:srgbClr val="DCDCAA"/>
                </a:solidFill>
                <a:latin typeface="Consolas"/>
                <a:ea typeface="Consolas"/>
                <a:cs typeface="Consolas"/>
                <a:sym typeface="Consolas"/>
              </a:rPr>
              <a:t>print</a:t>
            </a: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(panda_b.hp) </a:t>
            </a:r>
            <a:r>
              <a:rPr b="0" i="0" lang="en-US" sz="1800" u="none" cap="none" strike="noStrike">
                <a:solidFill>
                  <a:srgbClr val="6A9955"/>
                </a:solidFill>
                <a:latin typeface="Consolas"/>
                <a:ea typeface="Consolas"/>
                <a:cs typeface="Consolas"/>
                <a:sym typeface="Consolas"/>
              </a:rPr>
              <a:t># still 100 — B is unaffected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7" name="Shape 4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Google Shape;498;p39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499" name="Google Shape;499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500" name="Google Shape;500;p39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501" name="Google Shape;501;p39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502" name="Google Shape;502;p39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4</a:t>
            </a:r>
            <a:endParaRPr/>
          </a:p>
        </p:txBody>
      </p:sp>
      <p:sp>
        <p:nvSpPr>
          <p:cNvPr id="503" name="Google Shape;503;p39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44</a:t>
            </a:r>
            <a:endParaRPr/>
          </a:p>
        </p:txBody>
      </p:sp>
      <p:sp>
        <p:nvSpPr>
          <p:cNvPr id="504" name="Google Shape;504;p39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In Godot: PLAYER_SCENE.instantiate()</a:t>
            </a:r>
            <a:endParaRPr/>
          </a:p>
        </p:txBody>
      </p:sp>
      <p:sp>
        <p:nvSpPr>
          <p:cNvPr id="505" name="Google Shape;505;p39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Panda.new()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in plain GDScript =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PLAYER_SCENE.instantiate()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in Godot.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Both create a fresh copy of the blueprint.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After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instantiate()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, call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add_child()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to put it in the scene tree, then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setup()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to load character data.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9" name="Shape 5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Google Shape;510;p4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511" name="Google Shape;511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512" name="Google Shape;512;p40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513" name="Google Shape;513;p40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514" name="Google Shape;514;p40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4</a:t>
            </a:r>
            <a:endParaRPr/>
          </a:p>
        </p:txBody>
      </p:sp>
      <p:sp>
        <p:nvSpPr>
          <p:cNvPr id="515" name="Google Shape;515;p40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45</a:t>
            </a:r>
            <a:endParaRPr/>
          </a:p>
        </p:txBody>
      </p:sp>
      <p:sp>
        <p:nvSpPr>
          <p:cNvPr id="516" name="Google Shape;516;p40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Where you'll type it —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main.gd:205-212</a:t>
            </a:r>
            <a:endParaRPr/>
          </a:p>
        </p:txBody>
      </p:sp>
      <p:pic>
        <p:nvPicPr>
          <p:cNvPr id="517" name="Google Shape;517;p4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7505" y="1186703"/>
            <a:ext cx="6733582" cy="52598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1" name="Shape 5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Google Shape;522;p4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523" name="Google Shape;523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524" name="Google Shape;524;p41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525" name="Google Shape;525;p41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526" name="Google Shape;526;p41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4</a:t>
            </a:r>
            <a:endParaRPr/>
          </a:p>
        </p:txBody>
      </p:sp>
      <p:sp>
        <p:nvSpPr>
          <p:cNvPr id="527" name="Google Shape;527;p41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46</a:t>
            </a:r>
            <a:endParaRPr/>
          </a:p>
        </p:txBody>
      </p:sp>
      <p:sp>
        <p:nvSpPr>
          <p:cNvPr id="528" name="Google Shape;528;p41"/>
          <p:cNvSpPr/>
          <p:nvPr/>
        </p:nvSpPr>
        <p:spPr>
          <a:xfrm>
            <a:off x="457200" y="1051560"/>
            <a:ext cx="11277295" cy="1280160"/>
          </a:xfrm>
          <a:prstGeom prst="roundRect">
            <a:avLst>
              <a:gd fmla="val 16667" name="adj"/>
            </a:avLst>
          </a:prstGeom>
          <a:solidFill>
            <a:srgbClr val="F2F2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137150" lIns="274300" spcFirstLastPara="1" rIns="274300" wrap="square" tIns="13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Instantiate the Player scene twice — once for Player 1, once for Player 2. Add each to the tree and call setup() — Player 1 at Vector2(200, 500), Player 2 at Vector2(1080, 500).</a:t>
            </a:r>
            <a:endParaRPr/>
          </a:p>
        </p:txBody>
      </p:sp>
      <p:sp>
        <p:nvSpPr>
          <p:cNvPr id="529" name="Google Shape;529;p41"/>
          <p:cNvSpPr txBox="1"/>
          <p:nvPr/>
        </p:nvSpPr>
        <p:spPr>
          <a:xfrm>
            <a:off x="457200" y="2606040"/>
            <a:ext cx="5501487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Pattern (board example):</a:t>
            </a:r>
            <a:endParaRPr/>
          </a:p>
        </p:txBody>
      </p:sp>
      <p:sp>
        <p:nvSpPr>
          <p:cNvPr id="530" name="Google Shape;530;p41"/>
          <p:cNvSpPr/>
          <p:nvPr/>
        </p:nvSpPr>
        <p:spPr>
          <a:xfrm>
            <a:off x="-188750" y="2971800"/>
            <a:ext cx="7109700" cy="3520500"/>
          </a:xfrm>
          <a:prstGeom prst="roundRect">
            <a:avLst>
              <a:gd fmla="val 16667" name="adj"/>
            </a:avLst>
          </a:prstGeom>
          <a:solidFill>
            <a:srgbClr val="2D2D2D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137150" lIns="182875" spcFirstLastPara="1" rIns="182875" wrap="square" tIns="13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b="0" i="0" lang="en-US" sz="1800" u="none" cap="none" strike="noStrike">
                <a:solidFill>
                  <a:srgbClr val="6A9955"/>
                </a:solidFill>
                <a:latin typeface="Consolas"/>
                <a:ea typeface="Consolas"/>
                <a:cs typeface="Consolas"/>
                <a:sym typeface="Consolas"/>
              </a:rPr>
              <a:t># Panda analogy: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panda_a = P</a:t>
            </a:r>
            <a:r>
              <a:rPr lang="en-US" sz="180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ANDA_SCENE</a:t>
            </a: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-US" sz="180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instantiate</a:t>
            </a: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()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add_child(panda_a</a:t>
            </a:r>
            <a:r>
              <a:rPr lang="en-US" sz="180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800">
              <a:solidFill>
                <a:srgbClr val="E6E6E6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panda_a.setup(1, panda_a_char, Vector2(200, 500))</a:t>
            </a:r>
            <a:endParaRPr sz="1800">
              <a:solidFill>
                <a:srgbClr val="E6E6E6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panda_b = </a:t>
            </a:r>
            <a:r>
              <a:rPr lang="en-US" sz="180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PANDA_SCENE</a:t>
            </a:r>
            <a:r>
              <a:rPr lang="en-US" sz="180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.instantiate()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add_child(panda_b)</a:t>
            </a:r>
            <a:endParaRPr b="0" i="0" sz="1800" u="none" cap="none" strike="noStrike">
              <a:solidFill>
                <a:srgbClr val="E6E6E6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80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panda_b.setup(2, panda_b_char, Vector2(1080, 500))</a:t>
            </a:r>
            <a:endParaRPr sz="1800">
              <a:solidFill>
                <a:srgbClr val="E6E6E6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endParaRPr/>
          </a:p>
        </p:txBody>
      </p:sp>
      <p:sp>
        <p:nvSpPr>
          <p:cNvPr id="531" name="Google Shape;531;p41"/>
          <p:cNvSpPr txBox="1"/>
          <p:nvPr/>
        </p:nvSpPr>
        <p:spPr>
          <a:xfrm>
            <a:off x="6233007" y="2606040"/>
            <a:ext cx="5501487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Where in your code (Godot):</a:t>
            </a:r>
            <a:endParaRPr/>
          </a:p>
        </p:txBody>
      </p:sp>
      <p:pic>
        <p:nvPicPr>
          <p:cNvPr id="532" name="Google Shape;532;p4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993969" y="2971800"/>
            <a:ext cx="4786763" cy="373909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6" name="Shape 5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7" name="Google Shape;537;p4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538" name="Google Shape;538;p4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539" name="Google Shape;539;p42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540" name="Google Shape;540;p42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541" name="Google Shape;541;p42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4</a:t>
            </a:r>
            <a:endParaRPr/>
          </a:p>
        </p:txBody>
      </p:sp>
      <p:sp>
        <p:nvSpPr>
          <p:cNvPr id="542" name="Google Shape;542;p42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47</a:t>
            </a:r>
            <a:endParaRPr/>
          </a:p>
        </p:txBody>
      </p:sp>
      <p:sp>
        <p:nvSpPr>
          <p:cNvPr id="543" name="Google Shape;543;p42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4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Objects can change mode.</a:t>
            </a:r>
            <a:endParaRPr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47" name="Shape 5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" name="Google Shape;548;p43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549" name="Google Shape;549;p4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550" name="Google Shape;550;p4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551" name="Google Shape;551;p43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552" name="Google Shape;552;p43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4</a:t>
            </a:r>
            <a:endParaRPr/>
          </a:p>
        </p:txBody>
      </p:sp>
      <p:sp>
        <p:nvSpPr>
          <p:cNvPr id="553" name="Google Shape;553;p43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48</a:t>
            </a:r>
            <a:endParaRPr/>
          </a:p>
        </p:txBody>
      </p:sp>
      <p:sp>
        <p:nvSpPr>
          <p:cNvPr id="554" name="Google Shape;554;p43"/>
          <p:cNvSpPr txBox="1"/>
          <p:nvPr/>
        </p:nvSpPr>
        <p:spPr>
          <a:xfrm>
            <a:off x="457200" y="2186077"/>
            <a:ext cx="11277295" cy="175432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4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What does the traffic light know?</a:t>
            </a:r>
            <a:endParaRPr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8" name="Shape 5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Google Shape;559;p44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560" name="Google Shape;560;p4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561" name="Google Shape;561;p44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562" name="Google Shape;562;p4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563" name="Google Shape;563;p44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4</a:t>
            </a:r>
            <a:endParaRPr/>
          </a:p>
        </p:txBody>
      </p:sp>
      <p:sp>
        <p:nvSpPr>
          <p:cNvPr id="564" name="Google Shape;564;p44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49</a:t>
            </a:r>
            <a:endParaRPr/>
          </a:p>
        </p:txBody>
      </p:sp>
      <p:sp>
        <p:nvSpPr>
          <p:cNvPr id="565" name="Google Shape;565;p44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STATE</a:t>
            </a:r>
            <a:endParaRPr/>
          </a:p>
        </p:txBody>
      </p:sp>
      <p:sp>
        <p:nvSpPr>
          <p:cNvPr id="566" name="Google Shape;566;p44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A state is a mode — one string that tells the object what it's doing right now.</a:t>
            </a:r>
            <a:endParaRPr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0" name="Shape 5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1" name="Google Shape;571;p45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572" name="Google Shape;572;p4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573" name="Google Shape;573;p45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574" name="Google Shape;574;p45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575" name="Google Shape;575;p4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4</a:t>
            </a:r>
            <a:endParaRPr/>
          </a:p>
        </p:txBody>
      </p:sp>
      <p:sp>
        <p:nvSpPr>
          <p:cNvPr id="576" name="Google Shape;576;p45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50</a:t>
            </a:r>
            <a:endParaRPr/>
          </a:p>
        </p:txBody>
      </p:sp>
      <p:sp>
        <p:nvSpPr>
          <p:cNvPr id="577" name="Google Shape;577;p45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State controls behavior</a:t>
            </a:r>
            <a:endParaRPr/>
          </a:p>
        </p:txBody>
      </p:sp>
      <p:sp>
        <p:nvSpPr>
          <p:cNvPr id="578" name="Google Shape;578;p45"/>
          <p:cNvSpPr txBox="1"/>
          <p:nvPr/>
        </p:nvSpPr>
        <p:spPr>
          <a:xfrm>
            <a:off x="457200" y="2148840"/>
            <a:ext cx="11277295" cy="163121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State 		What the light does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1A1A1A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"red"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		Cars must stop. Pedestrians walk. </a:t>
            </a:r>
            <a:endParaRPr b="0" i="0" sz="2000" u="none" cap="none" strike="noStrike">
              <a:solidFill>
                <a:srgbClr val="1A1A1A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"yellow"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	Cars slow down. No new pedestrians. </a:t>
            </a:r>
            <a:endParaRPr b="0" i="0" sz="2000" u="none" cap="none" strike="noStrike">
              <a:solidFill>
                <a:srgbClr val="1A1A1A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"green"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	Cars go. Pedestrians wait. </a:t>
            </a:r>
            <a:endParaRPr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2" name="Shape 5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" name="Google Shape;583;p46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584" name="Google Shape;584;p4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585" name="Google Shape;585;p46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586" name="Google Shape;586;p46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587" name="Google Shape;587;p46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4</a:t>
            </a:r>
            <a:endParaRPr/>
          </a:p>
        </p:txBody>
      </p:sp>
      <p:sp>
        <p:nvSpPr>
          <p:cNvPr id="588" name="Google Shape;588;p4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51</a:t>
            </a:r>
            <a:endParaRPr/>
          </a:p>
        </p:txBody>
      </p:sp>
      <p:sp>
        <p:nvSpPr>
          <p:cNvPr id="589" name="Google Shape;589;p46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States change on events</a:t>
            </a:r>
            <a:endParaRPr/>
          </a:p>
        </p:txBody>
      </p:sp>
      <p:sp>
        <p:nvSpPr>
          <p:cNvPr id="590" name="Google Shape;590;p46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Timer runs out →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"red"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→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"green"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Timer runs out →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"green"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→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"yellow"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Timer runs out →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"yellow"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→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"red"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A state machine: a set of states + the rules for switching between them.</a:t>
            </a:r>
            <a:endParaRPr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4" name="Shape 5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5" name="Google Shape;595;p47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596" name="Google Shape;596;p4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597" name="Google Shape;597;p47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598" name="Google Shape;598;p47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599" name="Google Shape;599;p47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4</a:t>
            </a:r>
            <a:endParaRPr/>
          </a:p>
        </p:txBody>
      </p:sp>
      <p:sp>
        <p:nvSpPr>
          <p:cNvPr id="600" name="Google Shape;600;p47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52</a:t>
            </a:r>
            <a:endParaRPr/>
          </a:p>
        </p:txBody>
      </p:sp>
      <p:sp>
        <p:nvSpPr>
          <p:cNvPr id="601" name="Google Shape;601;p47"/>
          <p:cNvSpPr txBox="1"/>
          <p:nvPr/>
        </p:nvSpPr>
        <p:spPr>
          <a:xfrm>
            <a:off x="457200" y="1051560"/>
            <a:ext cx="11277295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State machine in GDScript</a:t>
            </a:r>
            <a:endParaRPr/>
          </a:p>
        </p:txBody>
      </p:sp>
      <p:sp>
        <p:nvSpPr>
          <p:cNvPr id="602" name="Google Shape;602;p47"/>
          <p:cNvSpPr/>
          <p:nvPr/>
        </p:nvSpPr>
        <p:spPr>
          <a:xfrm>
            <a:off x="1584929" y="1656413"/>
            <a:ext cx="9021836" cy="4835827"/>
          </a:xfrm>
          <a:prstGeom prst="roundRect">
            <a:avLst>
              <a:gd fmla="val 16667" name="adj"/>
            </a:avLst>
          </a:prstGeom>
          <a:solidFill>
            <a:srgbClr val="2D2D2D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137150" lIns="182875" spcFirstLastPara="1" rIns="182875" wrap="square" tIns="13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b="0" i="0" lang="en-US" sz="1800" u="none" cap="none" strike="noStrike">
                <a:solidFill>
                  <a:srgbClr val="569CD6"/>
                </a:solidFill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TrafficLight: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b="0" i="0" lang="en-US" sz="1800" u="none" cap="none" strike="noStrike">
                <a:solidFill>
                  <a:srgbClr val="569CD6"/>
                </a:solidFill>
                <a:latin typeface="Consolas"/>
                <a:ea typeface="Consolas"/>
                <a:cs typeface="Consolas"/>
                <a:sym typeface="Consolas"/>
              </a:rPr>
              <a:t>var</a:t>
            </a: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state := </a:t>
            </a:r>
            <a:r>
              <a:rPr b="0" i="0" lang="en-US" sz="1800" u="none" cap="none" strike="noStrike">
                <a:solidFill>
                  <a:srgbClr val="CE9178"/>
                </a:solidFill>
                <a:latin typeface="Consolas"/>
                <a:ea typeface="Consolas"/>
                <a:cs typeface="Consolas"/>
                <a:sym typeface="Consolas"/>
              </a:rPr>
              <a:t>"red"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b="0" i="0" lang="en-US" sz="1800" u="none" cap="none" strike="noStrike">
                <a:solidFill>
                  <a:srgbClr val="569CD6"/>
                </a:solidFill>
                <a:latin typeface="Consolas"/>
                <a:ea typeface="Consolas"/>
                <a:cs typeface="Consolas"/>
                <a:sym typeface="Consolas"/>
              </a:rPr>
              <a:t>func</a:t>
            </a: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tick(delta):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         </a:t>
            </a:r>
            <a:r>
              <a:rPr b="0" i="0" lang="en-US" sz="1800" u="none" cap="none" strike="noStrike">
                <a:solidFill>
                  <a:srgbClr val="569CD6"/>
                </a:solidFill>
                <a:latin typeface="Consolas"/>
                <a:ea typeface="Consolas"/>
                <a:cs typeface="Consolas"/>
                <a:sym typeface="Consolas"/>
              </a:rPr>
              <a:t>match</a:t>
            </a: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state: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             </a:t>
            </a:r>
            <a:r>
              <a:rPr b="0" i="0" lang="en-US" sz="1800" u="none" cap="none" strike="noStrike">
                <a:solidFill>
                  <a:srgbClr val="CE9178"/>
                </a:solidFill>
                <a:latin typeface="Consolas"/>
                <a:ea typeface="Consolas"/>
                <a:cs typeface="Consolas"/>
                <a:sym typeface="Consolas"/>
              </a:rPr>
              <a:t>"red"</a:t>
            </a: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                 cars_must_stop()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             </a:t>
            </a:r>
            <a:r>
              <a:rPr b="0" i="0" lang="en-US" sz="1800" u="none" cap="none" strike="noStrike">
                <a:solidFill>
                  <a:srgbClr val="CE9178"/>
                </a:solidFill>
                <a:latin typeface="Consolas"/>
                <a:ea typeface="Consolas"/>
                <a:cs typeface="Consolas"/>
                <a:sym typeface="Consolas"/>
              </a:rPr>
              <a:t>"yellow"</a:t>
            </a: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                 cars_slow_down()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             </a:t>
            </a:r>
            <a:r>
              <a:rPr b="0" i="0" lang="en-US" sz="1800" u="none" cap="none" strike="noStrike">
                <a:solidFill>
                  <a:srgbClr val="CE9178"/>
                </a:solidFill>
                <a:latin typeface="Consolas"/>
                <a:ea typeface="Consolas"/>
                <a:cs typeface="Consolas"/>
                <a:sym typeface="Consolas"/>
              </a:rPr>
              <a:t>"green"</a:t>
            </a: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                 cars_go()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b="0" i="0" lang="en-US" sz="1800" u="none" cap="none" strike="noStrike">
                <a:solidFill>
                  <a:srgbClr val="569CD6"/>
                </a:solidFill>
                <a:latin typeface="Consolas"/>
                <a:ea typeface="Consolas"/>
                <a:cs typeface="Consolas"/>
                <a:sym typeface="Consolas"/>
              </a:rPr>
              <a:t>func</a:t>
            </a: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set_state(new_state):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         </a:t>
            </a:r>
            <a:r>
              <a:rPr b="0" i="0" lang="en-US" sz="1800" u="none" cap="none" strike="noStrike">
                <a:solidFill>
                  <a:srgbClr val="569CD6"/>
                </a:solidFill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new_state == state: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             </a:t>
            </a:r>
            <a:r>
              <a:rPr b="0" i="0" lang="en-US" sz="1800" u="none" cap="none" strike="noStrike">
                <a:solidFill>
                  <a:srgbClr val="569CD6"/>
                </a:solidFill>
                <a:latin typeface="Consolas"/>
                <a:ea typeface="Consolas"/>
                <a:cs typeface="Consolas"/>
                <a:sym typeface="Consolas"/>
              </a:rPr>
              <a:t>return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         state = new_state</a:t>
            </a:r>
            <a:endParaRPr b="0" i="0" sz="1800" u="none" cap="none" strike="noStrike">
              <a:solidFill>
                <a:srgbClr val="E6E6E6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endParaRPr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6" name="Shape 6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Google Shape;607;p48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608" name="Google Shape;608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609" name="Google Shape;609;p48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610" name="Google Shape;610;p48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611" name="Google Shape;611;p48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4</a:t>
            </a:r>
            <a:endParaRPr/>
          </a:p>
        </p:txBody>
      </p:sp>
      <p:sp>
        <p:nvSpPr>
          <p:cNvPr id="612" name="Google Shape;612;p48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53</a:t>
            </a:r>
            <a:endParaRPr/>
          </a:p>
        </p:txBody>
      </p:sp>
      <p:sp>
        <p:nvSpPr>
          <p:cNvPr id="613" name="Google Shape;613;p48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Quick check</a:t>
            </a:r>
            <a:endParaRPr/>
          </a:p>
        </p:txBody>
      </p:sp>
      <p:sp>
        <p:nvSpPr>
          <p:cNvPr id="614" name="Google Shape;614;p48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Traffic light is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"red"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. A pedestrian presses the crossing button.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set_state("green")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is called.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What happens? What is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state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after the call?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Answer: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state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becomes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"green"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. On next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tick()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,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cars_go()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runs instead of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cars_must_stop()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.</a:t>
            </a:r>
            <a:endParaRPr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8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p49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620" name="Google Shape;620;p4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621" name="Google Shape;621;p49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622" name="Google Shape;622;p49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623" name="Google Shape;623;p49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4</a:t>
            </a:r>
            <a:endParaRPr/>
          </a:p>
        </p:txBody>
      </p:sp>
      <p:sp>
        <p:nvSpPr>
          <p:cNvPr id="624" name="Google Shape;624;p49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54</a:t>
            </a:r>
            <a:endParaRPr/>
          </a:p>
        </p:txBody>
      </p:sp>
      <p:sp>
        <p:nvSpPr>
          <p:cNvPr id="625" name="Google Shape;625;p49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Your fighter's 6 states</a:t>
            </a:r>
            <a:endParaRPr/>
          </a:p>
        </p:txBody>
      </p:sp>
      <p:sp>
        <p:nvSpPr>
          <p:cNvPr id="626" name="Google Shape;626;p49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"idle"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→ stand still; press move →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"walk"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; press jump →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"jump"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"walk"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→ move; release →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"idle"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; jump key →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"jump"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"jump"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→ rising; velocity flips →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"fall"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"fall"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→ falling; land →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"idle"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"attack"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→ swing/fire; timer done →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"idle"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(pre-given)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"hit"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→ flash; timer done →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"idle"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(pre-given)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"dead"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→ terminal; no transitions out (pre-given)</a:t>
            </a:r>
            <a:endParaRPr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0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Google Shape;631;p5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632" name="Google Shape;632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633" name="Google Shape;633;p50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634" name="Google Shape;634;p50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635" name="Google Shape;635;p50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4</a:t>
            </a:r>
            <a:endParaRPr/>
          </a:p>
        </p:txBody>
      </p:sp>
      <p:sp>
        <p:nvSpPr>
          <p:cNvPr id="636" name="Google Shape;636;p50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55</a:t>
            </a:r>
            <a:endParaRPr/>
          </a:p>
        </p:txBody>
      </p:sp>
      <p:sp>
        <p:nvSpPr>
          <p:cNvPr id="637" name="Google Shape;637;p50"/>
          <p:cNvSpPr txBox="1"/>
          <p:nvPr/>
        </p:nvSpPr>
        <p:spPr>
          <a:xfrm>
            <a:off x="7497897" y="3064460"/>
            <a:ext cx="4236598" cy="132343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Back to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player.gd</a:t>
            </a:r>
            <a:endParaRPr b="0" i="0" sz="2000" u="none" cap="none" strike="noStrike">
              <a:solidFill>
                <a:srgbClr val="1A1A1A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1A1A1A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Where you'll type it —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player.gd:63-72</a:t>
            </a:r>
            <a:endParaRPr/>
          </a:p>
        </p:txBody>
      </p:sp>
      <p:pic>
        <p:nvPicPr>
          <p:cNvPr id="638" name="Google Shape;638;p5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74320" y="2629518"/>
            <a:ext cx="7119078" cy="205616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2" name="Shape 6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3" name="Google Shape;643;p5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644" name="Google Shape;644;p5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645" name="Google Shape;645;p51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646" name="Google Shape;646;p51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647" name="Google Shape;647;p51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4</a:t>
            </a:r>
            <a:endParaRPr/>
          </a:p>
        </p:txBody>
      </p:sp>
      <p:sp>
        <p:nvSpPr>
          <p:cNvPr id="648" name="Google Shape;648;p51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56</a:t>
            </a:r>
            <a:endParaRPr/>
          </a:p>
        </p:txBody>
      </p:sp>
      <p:sp>
        <p:nvSpPr>
          <p:cNvPr id="649" name="Google Shape;649;p51"/>
          <p:cNvSpPr/>
          <p:nvPr/>
        </p:nvSpPr>
        <p:spPr>
          <a:xfrm>
            <a:off x="457200" y="1051560"/>
            <a:ext cx="11277295" cy="1280160"/>
          </a:xfrm>
          <a:prstGeom prst="roundRect">
            <a:avLst>
              <a:gd fmla="val 16667" name="adj"/>
            </a:avLst>
          </a:prstGeom>
          <a:solidFill>
            <a:srgbClr val="F2F2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137150" lIns="274300" spcFirstLastPara="1" rIns="274300" wrap="square" tIns="13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Declare state (start at "idle"). In set_state(new_state) return if it matches the current state, otherwise print new_state and update state.</a:t>
            </a:r>
            <a:endParaRPr/>
          </a:p>
        </p:txBody>
      </p:sp>
      <p:sp>
        <p:nvSpPr>
          <p:cNvPr id="650" name="Google Shape;650;p51"/>
          <p:cNvSpPr txBox="1"/>
          <p:nvPr/>
        </p:nvSpPr>
        <p:spPr>
          <a:xfrm>
            <a:off x="457200" y="2606040"/>
            <a:ext cx="5501487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Pattern (board example):</a:t>
            </a:r>
            <a:endParaRPr/>
          </a:p>
        </p:txBody>
      </p:sp>
      <p:sp>
        <p:nvSpPr>
          <p:cNvPr id="651" name="Google Shape;651;p51"/>
          <p:cNvSpPr txBox="1"/>
          <p:nvPr/>
        </p:nvSpPr>
        <p:spPr>
          <a:xfrm>
            <a:off x="6233007" y="2606040"/>
            <a:ext cx="5501487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Where in your code (Godot):</a:t>
            </a:r>
            <a:endParaRPr/>
          </a:p>
        </p:txBody>
      </p:sp>
      <p:pic>
        <p:nvPicPr>
          <p:cNvPr id="652" name="Google Shape;652;p5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105439" y="3786540"/>
            <a:ext cx="5811936" cy="1678629"/>
          </a:xfrm>
          <a:prstGeom prst="rect">
            <a:avLst/>
          </a:prstGeom>
          <a:noFill/>
          <a:ln>
            <a:noFill/>
          </a:ln>
        </p:spPr>
      </p:pic>
      <p:pic>
        <p:nvPicPr>
          <p:cNvPr id="653" name="Google Shape;653;p5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8525" y="3587497"/>
            <a:ext cx="5811925" cy="20767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7" name="Shape 6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Google Shape;658;p5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659" name="Google Shape;659;p5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660" name="Google Shape;660;p52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661" name="Google Shape;661;p52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662" name="Google Shape;662;p52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4</a:t>
            </a:r>
            <a:endParaRPr/>
          </a:p>
        </p:txBody>
      </p:sp>
      <p:sp>
        <p:nvSpPr>
          <p:cNvPr id="663" name="Google Shape;663;p52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57</a:t>
            </a:r>
            <a:endParaRPr/>
          </a:p>
        </p:txBody>
      </p:sp>
      <p:sp>
        <p:nvSpPr>
          <p:cNvPr id="664" name="Google Shape;664;p52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4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No new visible payoff</a:t>
            </a:r>
            <a:endParaRPr/>
          </a:p>
        </p:txBody>
      </p:sp>
      <p:sp>
        <p:nvSpPr>
          <p:cNvPr id="665" name="Google Shape;665;p52"/>
          <p:cNvSpPr txBox="1"/>
          <p:nvPr/>
        </p:nvSpPr>
        <p:spPr>
          <a:xfrm>
            <a:off x="457200" y="4160520"/>
            <a:ext cx="1127729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State is declared. But nothing reacts to it yet — chunk #6 fills the branches. Keep going.</a:t>
            </a:r>
            <a:endParaRPr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9" name="Shape 6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0" name="Google Shape;670;p53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671" name="Google Shape;671;p5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672" name="Google Shape;672;p5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673" name="Google Shape;673;p53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674" name="Google Shape;674;p53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4</a:t>
            </a:r>
            <a:endParaRPr/>
          </a:p>
        </p:txBody>
      </p:sp>
      <p:sp>
        <p:nvSpPr>
          <p:cNvPr id="675" name="Google Shape;675;p53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58</a:t>
            </a:r>
            <a:endParaRPr/>
          </a:p>
        </p:txBody>
      </p:sp>
      <p:sp>
        <p:nvSpPr>
          <p:cNvPr id="676" name="Google Shape;676;p53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4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Use the state — make the panda behave per state</a:t>
            </a:r>
            <a:endParaRPr/>
          </a:p>
        </p:txBody>
      </p:sp>
      <p:sp>
        <p:nvSpPr>
          <p:cNvPr id="677" name="Google Shape;677;p53"/>
          <p:cNvSpPr txBox="1"/>
          <p:nvPr/>
        </p:nvSpPr>
        <p:spPr>
          <a:xfrm>
            <a:off x="457200" y="4160520"/>
            <a:ext cx="1127729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The state string exists. Now write the rules: what does each state DO every frame?</a:t>
            </a:r>
            <a:endParaRPr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54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683" name="Google Shape;683;p5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684" name="Google Shape;684;p54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685" name="Google Shape;685;p5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686" name="Google Shape;686;p54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4</a:t>
            </a:r>
            <a:endParaRPr/>
          </a:p>
        </p:txBody>
      </p:sp>
      <p:sp>
        <p:nvSpPr>
          <p:cNvPr id="687" name="Google Shape;687;p54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59</a:t>
            </a:r>
            <a:endParaRPr/>
          </a:p>
        </p:txBody>
      </p:sp>
      <p:sp>
        <p:nvSpPr>
          <p:cNvPr id="688" name="Google Shape;688;p54"/>
          <p:cNvSpPr txBox="1"/>
          <p:nvPr/>
        </p:nvSpPr>
        <p:spPr>
          <a:xfrm>
            <a:off x="457200" y="960120"/>
            <a:ext cx="112772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match state:</a:t>
            </a:r>
            <a:r>
              <a:rPr b="1" i="0" lang="en-US" sz="36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— six branches</a:t>
            </a:r>
            <a:endParaRPr/>
          </a:p>
        </p:txBody>
      </p:sp>
      <p:sp>
        <p:nvSpPr>
          <p:cNvPr id="689" name="Google Shape;689;p54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_physics_process(delta)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runs every frame (~60×/second).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Inside it: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match state: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checks the current state string.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Six branches: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"idle"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,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"walk"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,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"jump"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,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"fall"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,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"attack"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,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"hit"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Each branch runs ONLY when the fighter is in that state.</a:t>
            </a:r>
            <a:endParaRPr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3" name="Shape 6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4" name="Google Shape;694;p55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695" name="Google Shape;695;p5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696" name="Google Shape;696;p55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697" name="Google Shape;697;p55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698" name="Google Shape;698;p5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4</a:t>
            </a:r>
            <a:endParaRPr/>
          </a:p>
        </p:txBody>
      </p:sp>
      <p:sp>
        <p:nvSpPr>
          <p:cNvPr id="699" name="Google Shape;699;p55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60</a:t>
            </a:r>
            <a:endParaRPr/>
          </a:p>
        </p:txBody>
      </p:sp>
      <p:sp>
        <p:nvSpPr>
          <p:cNvPr id="700" name="Google Shape;700;p55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What's written vs what you write</a:t>
            </a:r>
            <a:endParaRPr/>
          </a:p>
        </p:txBody>
      </p:sp>
      <p:sp>
        <p:nvSpPr>
          <p:cNvPr id="701" name="Google Shape;701;p55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Pre-given (gray):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The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match state: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dispatcher itself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Velocity application (gravity, horizontal movement)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attack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branch (full — you wrote attack() in chunk #7)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hit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branch (full — uses hit_flash_timer)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dead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branch (full — freezes the fighter)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You write (red — 4 holes):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Inside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"idle"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: when to switch to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"walk"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and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"jump"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Inside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"walk"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: when to switch to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"idle"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and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"jump"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Inside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"jump"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: when to switch to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"fall"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Inside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"fall"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: when to switch to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"idle"</a:t>
            </a:r>
            <a:endParaRPr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5" name="Shape 7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" name="Google Shape;706;p57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707" name="Google Shape;707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708" name="Google Shape;708;p57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709" name="Google Shape;709;p57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710" name="Google Shape;710;p57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4</a:t>
            </a:r>
            <a:endParaRPr/>
          </a:p>
        </p:txBody>
      </p:sp>
      <p:sp>
        <p:nvSpPr>
          <p:cNvPr id="711" name="Google Shape;711;p57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62</a:t>
            </a:r>
            <a:endParaRPr/>
          </a:p>
        </p:txBody>
      </p:sp>
      <p:sp>
        <p:nvSpPr>
          <p:cNvPr id="712" name="Google Shape;712;p57"/>
          <p:cNvSpPr txBox="1"/>
          <p:nvPr/>
        </p:nvSpPr>
        <p:spPr>
          <a:xfrm>
            <a:off x="4114800" y="0"/>
            <a:ext cx="4236598" cy="5166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The full state machine — your four holes</a:t>
            </a:r>
            <a:endParaRPr/>
          </a:p>
        </p:txBody>
      </p:sp>
      <p:pic>
        <p:nvPicPr>
          <p:cNvPr id="713" name="Google Shape;713;p5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58755" y="3296430"/>
            <a:ext cx="9620377" cy="209853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7" name="Shape 7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8" name="Google Shape;718;g3f191634368_0_8"/>
          <p:cNvSpPr/>
          <p:nvPr/>
        </p:nvSpPr>
        <p:spPr>
          <a:xfrm>
            <a:off x="0" y="0"/>
            <a:ext cx="12192000" cy="8688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719" name="Google Shape;719;g3f191634368_0_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7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720" name="Google Shape;720;g3f191634368_0_8"/>
          <p:cNvSpPr txBox="1"/>
          <p:nvPr/>
        </p:nvSpPr>
        <p:spPr>
          <a:xfrm>
            <a:off x="1051588" y="45720"/>
            <a:ext cx="18288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721" name="Google Shape;721;g3f191634368_0_8"/>
          <p:cNvSpPr txBox="1"/>
          <p:nvPr/>
        </p:nvSpPr>
        <p:spPr>
          <a:xfrm>
            <a:off x="1051588" y="548640"/>
            <a:ext cx="22860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722" name="Google Shape;722;g3f191634368_0_8"/>
          <p:cNvSpPr txBox="1"/>
          <p:nvPr/>
        </p:nvSpPr>
        <p:spPr>
          <a:xfrm>
            <a:off x="10454614" y="228600"/>
            <a:ext cx="14631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4</a:t>
            </a:r>
            <a:endParaRPr/>
          </a:p>
        </p:txBody>
      </p:sp>
      <p:sp>
        <p:nvSpPr>
          <p:cNvPr id="723" name="Google Shape;723;g3f191634368_0_8"/>
          <p:cNvSpPr txBox="1"/>
          <p:nvPr/>
        </p:nvSpPr>
        <p:spPr>
          <a:xfrm>
            <a:off x="2743273" y="164592"/>
            <a:ext cx="68583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TODO #6 — State Machine  (player.gd)</a:t>
            </a:r>
            <a:endParaRPr/>
          </a:p>
        </p:txBody>
      </p:sp>
      <p:sp>
        <p:nvSpPr>
          <p:cNvPr id="724" name="Google Shape;724;g3f191634368_0_8"/>
          <p:cNvSpPr/>
          <p:nvPr/>
        </p:nvSpPr>
        <p:spPr>
          <a:xfrm>
            <a:off x="320049" y="1033272"/>
            <a:ext cx="5675400" cy="2729400"/>
          </a:xfrm>
          <a:prstGeom prst="rect">
            <a:avLst/>
          </a:prstGeom>
          <a:solidFill>
            <a:srgbClr val="2D2D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5" name="Google Shape;725;g3f191634368_0_8"/>
          <p:cNvSpPr/>
          <p:nvPr/>
        </p:nvSpPr>
        <p:spPr>
          <a:xfrm>
            <a:off x="320049" y="1033272"/>
            <a:ext cx="5675400" cy="365700"/>
          </a:xfrm>
          <a:prstGeom prst="rect">
            <a:avLst/>
          </a:prstGeom>
          <a:solidFill>
            <a:srgbClr val="E53A2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6" name="Google Shape;726;g3f191634368_0_8"/>
          <p:cNvSpPr txBox="1"/>
          <p:nvPr/>
        </p:nvSpPr>
        <p:spPr>
          <a:xfrm>
            <a:off x="429779" y="1033272"/>
            <a:ext cx="54558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91425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#6a  </a:t>
            </a:r>
            <a:r>
              <a:rPr b="0" i="0" lang="en-US" sz="1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"idle" state exits</a:t>
            </a:r>
            <a:endParaRPr/>
          </a:p>
        </p:txBody>
      </p:sp>
      <p:sp>
        <p:nvSpPr>
          <p:cNvPr id="727" name="Google Shape;727;g3f191634368_0_8"/>
          <p:cNvSpPr txBox="1"/>
          <p:nvPr/>
        </p:nvSpPr>
        <p:spPr>
          <a:xfrm>
            <a:off x="429779" y="1399032"/>
            <a:ext cx="54558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91425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1000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← Chunk #6  ·  inside  match state:</a:t>
            </a:r>
            <a:endParaRPr/>
          </a:p>
        </p:txBody>
      </p:sp>
      <p:sp>
        <p:nvSpPr>
          <p:cNvPr id="728" name="Google Shape;728;g3f191634368_0_8"/>
          <p:cNvSpPr txBox="1"/>
          <p:nvPr/>
        </p:nvSpPr>
        <p:spPr>
          <a:xfrm>
            <a:off x="429779" y="1764792"/>
            <a:ext cx="5455800" cy="11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91425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CE9178"/>
                </a:solidFill>
                <a:latin typeface="Consolas"/>
                <a:ea typeface="Consolas"/>
                <a:cs typeface="Consolas"/>
                <a:sym typeface="Consolas"/>
              </a:rPr>
              <a:t>"idle"</a:t>
            </a:r>
            <a:r>
              <a:rPr lang="en-US" sz="120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-US" sz="1200">
                <a:solidFill>
                  <a:srgbClr val="C586C0"/>
                </a:solidFill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-US" sz="120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DCDCAA"/>
                </a:solidFill>
                <a:latin typeface="Consolas"/>
                <a:ea typeface="Consolas"/>
                <a:cs typeface="Consolas"/>
                <a:sym typeface="Consolas"/>
              </a:rPr>
              <a:t>get_move_direction</a:t>
            </a:r>
            <a:r>
              <a:rPr lang="en-US" sz="120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() != </a:t>
            </a:r>
            <a:r>
              <a:rPr lang="en-US" sz="1200">
                <a:solidFill>
                  <a:srgbClr val="B5CEA8"/>
                </a:solidFill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-US" sz="120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-US" sz="1200">
                <a:solidFill>
                  <a:srgbClr val="DCDCAA"/>
                </a:solidFill>
                <a:latin typeface="Consolas"/>
                <a:ea typeface="Consolas"/>
                <a:cs typeface="Consolas"/>
                <a:sym typeface="Consolas"/>
              </a:rPr>
              <a:t>set_state</a:t>
            </a:r>
            <a:r>
              <a:rPr lang="en-US" sz="120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-US" sz="1200">
                <a:solidFill>
                  <a:srgbClr val="CE9178"/>
                </a:solidFill>
                <a:latin typeface="Consolas"/>
                <a:ea typeface="Consolas"/>
                <a:cs typeface="Consolas"/>
                <a:sym typeface="Consolas"/>
              </a:rPr>
              <a:t>"walk"</a:t>
            </a:r>
            <a:r>
              <a:rPr lang="en-US" sz="120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)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-US" sz="1200">
                <a:solidFill>
                  <a:srgbClr val="C586C0"/>
                </a:solidFill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-US" sz="120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DCDCAA"/>
                </a:solidFill>
                <a:latin typeface="Consolas"/>
                <a:ea typeface="Consolas"/>
                <a:cs typeface="Consolas"/>
                <a:sym typeface="Consolas"/>
              </a:rPr>
              <a:t>get_input_just_pressed</a:t>
            </a:r>
            <a:r>
              <a:rPr lang="en-US" sz="120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-US" sz="1200">
                <a:solidFill>
                  <a:srgbClr val="CE9178"/>
                </a:solidFill>
                <a:latin typeface="Consolas"/>
                <a:ea typeface="Consolas"/>
                <a:cs typeface="Consolas"/>
                <a:sym typeface="Consolas"/>
              </a:rPr>
              <a:t>"jump"</a:t>
            </a:r>
            <a:r>
              <a:rPr lang="en-US" sz="120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-US" sz="1200">
                <a:solidFill>
                  <a:srgbClr val="569CD6"/>
                </a:solidFill>
                <a:latin typeface="Consolas"/>
                <a:ea typeface="Consolas"/>
                <a:cs typeface="Consolas"/>
                <a:sym typeface="Consolas"/>
              </a:rPr>
              <a:t>and</a:t>
            </a:r>
            <a:r>
              <a:rPr lang="en-US" sz="120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DCDCAA"/>
                </a:solidFill>
                <a:latin typeface="Consolas"/>
                <a:ea typeface="Consolas"/>
                <a:cs typeface="Consolas"/>
                <a:sym typeface="Consolas"/>
              </a:rPr>
              <a:t>is_on_floor</a:t>
            </a:r>
            <a:r>
              <a:rPr lang="en-US" sz="120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():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       velocity.y = -jump_impulse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-US" sz="1200">
                <a:solidFill>
                  <a:srgbClr val="DCDCAA"/>
                </a:solidFill>
                <a:latin typeface="Consolas"/>
                <a:ea typeface="Consolas"/>
                <a:cs typeface="Consolas"/>
                <a:sym typeface="Consolas"/>
              </a:rPr>
              <a:t>set_state</a:t>
            </a:r>
            <a:r>
              <a:rPr lang="en-US" sz="120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-US" sz="1200">
                <a:solidFill>
                  <a:srgbClr val="CE9178"/>
                </a:solidFill>
                <a:latin typeface="Consolas"/>
                <a:ea typeface="Consolas"/>
                <a:cs typeface="Consolas"/>
                <a:sym typeface="Consolas"/>
              </a:rPr>
              <a:t>"jump"</a:t>
            </a:r>
            <a:r>
              <a:rPr lang="en-US" sz="120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)</a:t>
            </a:r>
            <a:endParaRPr/>
          </a:p>
        </p:txBody>
      </p:sp>
      <p:sp>
        <p:nvSpPr>
          <p:cNvPr id="729" name="Google Shape;729;g3f191634368_0_8"/>
          <p:cNvSpPr/>
          <p:nvPr/>
        </p:nvSpPr>
        <p:spPr>
          <a:xfrm>
            <a:off x="6196596" y="1033272"/>
            <a:ext cx="5675400" cy="2729400"/>
          </a:xfrm>
          <a:prstGeom prst="rect">
            <a:avLst/>
          </a:prstGeom>
          <a:solidFill>
            <a:srgbClr val="2D2D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0" name="Google Shape;730;g3f191634368_0_8"/>
          <p:cNvSpPr/>
          <p:nvPr/>
        </p:nvSpPr>
        <p:spPr>
          <a:xfrm>
            <a:off x="6196596" y="1033272"/>
            <a:ext cx="5675400" cy="365700"/>
          </a:xfrm>
          <a:prstGeom prst="rect">
            <a:avLst/>
          </a:prstGeom>
          <a:solidFill>
            <a:srgbClr val="E53A2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1" name="Google Shape;731;g3f191634368_0_8"/>
          <p:cNvSpPr txBox="1"/>
          <p:nvPr/>
        </p:nvSpPr>
        <p:spPr>
          <a:xfrm>
            <a:off x="6306327" y="1033272"/>
            <a:ext cx="54558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91425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#6b  </a:t>
            </a:r>
            <a:r>
              <a:rPr b="0" lang="en-US" sz="12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"walk" state exits</a:t>
            </a:r>
            <a:endParaRPr/>
          </a:p>
        </p:txBody>
      </p:sp>
      <p:sp>
        <p:nvSpPr>
          <p:cNvPr id="732" name="Google Shape;732;g3f191634368_0_8"/>
          <p:cNvSpPr txBox="1"/>
          <p:nvPr/>
        </p:nvSpPr>
        <p:spPr>
          <a:xfrm>
            <a:off x="6306327" y="1399032"/>
            <a:ext cx="54558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91425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1000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← Chunk #6  ·  inside  match state:</a:t>
            </a:r>
            <a:endParaRPr/>
          </a:p>
        </p:txBody>
      </p:sp>
      <p:sp>
        <p:nvSpPr>
          <p:cNvPr id="733" name="Google Shape;733;g3f191634368_0_8"/>
          <p:cNvSpPr txBox="1"/>
          <p:nvPr/>
        </p:nvSpPr>
        <p:spPr>
          <a:xfrm>
            <a:off x="6306327" y="1764792"/>
            <a:ext cx="5455800" cy="11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91425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CE9178"/>
                </a:solidFill>
                <a:latin typeface="Consolas"/>
                <a:ea typeface="Consolas"/>
                <a:cs typeface="Consolas"/>
                <a:sym typeface="Consolas"/>
              </a:rPr>
              <a:t>"walk"</a:t>
            </a:r>
            <a:r>
              <a:rPr lang="en-US" sz="120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-US" sz="1200">
                <a:solidFill>
                  <a:srgbClr val="C586C0"/>
                </a:solidFill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-US" sz="120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DCDCAA"/>
                </a:solidFill>
                <a:latin typeface="Consolas"/>
                <a:ea typeface="Consolas"/>
                <a:cs typeface="Consolas"/>
                <a:sym typeface="Consolas"/>
              </a:rPr>
              <a:t>get_move_direction</a:t>
            </a:r>
            <a:r>
              <a:rPr lang="en-US" sz="120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() == </a:t>
            </a:r>
            <a:r>
              <a:rPr lang="en-US" sz="1200">
                <a:solidFill>
                  <a:srgbClr val="B5CEA8"/>
                </a:solidFill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-US" sz="120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-US" sz="1200">
                <a:solidFill>
                  <a:srgbClr val="DCDCAA"/>
                </a:solidFill>
                <a:latin typeface="Consolas"/>
                <a:ea typeface="Consolas"/>
                <a:cs typeface="Consolas"/>
                <a:sym typeface="Consolas"/>
              </a:rPr>
              <a:t>set_state</a:t>
            </a:r>
            <a:r>
              <a:rPr lang="en-US" sz="120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-US" sz="1200">
                <a:solidFill>
                  <a:srgbClr val="CE9178"/>
                </a:solidFill>
                <a:latin typeface="Consolas"/>
                <a:ea typeface="Consolas"/>
                <a:cs typeface="Consolas"/>
                <a:sym typeface="Consolas"/>
              </a:rPr>
              <a:t>"idle"</a:t>
            </a:r>
            <a:r>
              <a:rPr lang="en-US" sz="120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)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-US" sz="1200">
                <a:solidFill>
                  <a:srgbClr val="C586C0"/>
                </a:solidFill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-US" sz="120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DCDCAA"/>
                </a:solidFill>
                <a:latin typeface="Consolas"/>
                <a:ea typeface="Consolas"/>
                <a:cs typeface="Consolas"/>
                <a:sym typeface="Consolas"/>
              </a:rPr>
              <a:t>get_input_just_pressed</a:t>
            </a:r>
            <a:r>
              <a:rPr lang="en-US" sz="120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-US" sz="1200">
                <a:solidFill>
                  <a:srgbClr val="CE9178"/>
                </a:solidFill>
                <a:latin typeface="Consolas"/>
                <a:ea typeface="Consolas"/>
                <a:cs typeface="Consolas"/>
                <a:sym typeface="Consolas"/>
              </a:rPr>
              <a:t>"jump"</a:t>
            </a:r>
            <a:r>
              <a:rPr lang="en-US" sz="120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-US" sz="1200">
                <a:solidFill>
                  <a:srgbClr val="569CD6"/>
                </a:solidFill>
                <a:latin typeface="Consolas"/>
                <a:ea typeface="Consolas"/>
                <a:cs typeface="Consolas"/>
                <a:sym typeface="Consolas"/>
              </a:rPr>
              <a:t>and</a:t>
            </a:r>
            <a:r>
              <a:rPr lang="en-US" sz="120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DCDCAA"/>
                </a:solidFill>
                <a:latin typeface="Consolas"/>
                <a:ea typeface="Consolas"/>
                <a:cs typeface="Consolas"/>
                <a:sym typeface="Consolas"/>
              </a:rPr>
              <a:t>is_on_floor</a:t>
            </a:r>
            <a:r>
              <a:rPr lang="en-US" sz="120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():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       velocity.y = -jump_impulse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-US" sz="1200">
                <a:solidFill>
                  <a:srgbClr val="DCDCAA"/>
                </a:solidFill>
                <a:latin typeface="Consolas"/>
                <a:ea typeface="Consolas"/>
                <a:cs typeface="Consolas"/>
                <a:sym typeface="Consolas"/>
              </a:rPr>
              <a:t>set_state</a:t>
            </a:r>
            <a:r>
              <a:rPr lang="en-US" sz="120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-US" sz="1200">
                <a:solidFill>
                  <a:srgbClr val="CE9178"/>
                </a:solidFill>
                <a:latin typeface="Consolas"/>
                <a:ea typeface="Consolas"/>
                <a:cs typeface="Consolas"/>
                <a:sym typeface="Consolas"/>
              </a:rPr>
              <a:t>"jump"</a:t>
            </a:r>
            <a:r>
              <a:rPr lang="en-US" sz="120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)</a:t>
            </a:r>
            <a:endParaRPr/>
          </a:p>
        </p:txBody>
      </p:sp>
      <p:sp>
        <p:nvSpPr>
          <p:cNvPr id="734" name="Google Shape;734;g3f191634368_0_8"/>
          <p:cNvSpPr/>
          <p:nvPr/>
        </p:nvSpPr>
        <p:spPr>
          <a:xfrm>
            <a:off x="320049" y="3963924"/>
            <a:ext cx="5675400" cy="2729400"/>
          </a:xfrm>
          <a:prstGeom prst="rect">
            <a:avLst/>
          </a:prstGeom>
          <a:solidFill>
            <a:srgbClr val="2D2D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5" name="Google Shape;735;g3f191634368_0_8"/>
          <p:cNvSpPr/>
          <p:nvPr/>
        </p:nvSpPr>
        <p:spPr>
          <a:xfrm>
            <a:off x="320049" y="3963924"/>
            <a:ext cx="5675400" cy="365700"/>
          </a:xfrm>
          <a:prstGeom prst="rect">
            <a:avLst/>
          </a:prstGeom>
          <a:solidFill>
            <a:srgbClr val="E53A2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6" name="Google Shape;736;g3f191634368_0_8"/>
          <p:cNvSpPr txBox="1"/>
          <p:nvPr/>
        </p:nvSpPr>
        <p:spPr>
          <a:xfrm>
            <a:off x="429779" y="3963924"/>
            <a:ext cx="54558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91425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#6c  </a:t>
            </a:r>
            <a:r>
              <a:rPr b="0" lang="en-US" sz="12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"jump" state exit</a:t>
            </a:r>
            <a:endParaRPr/>
          </a:p>
        </p:txBody>
      </p:sp>
      <p:sp>
        <p:nvSpPr>
          <p:cNvPr id="737" name="Google Shape;737;g3f191634368_0_8"/>
          <p:cNvSpPr txBox="1"/>
          <p:nvPr/>
        </p:nvSpPr>
        <p:spPr>
          <a:xfrm>
            <a:off x="429779" y="4329684"/>
            <a:ext cx="54558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91425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1000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← Chunk #6  ·  inside  match state:</a:t>
            </a:r>
            <a:endParaRPr/>
          </a:p>
        </p:txBody>
      </p:sp>
      <p:sp>
        <p:nvSpPr>
          <p:cNvPr id="738" name="Google Shape;738;g3f191634368_0_8"/>
          <p:cNvSpPr txBox="1"/>
          <p:nvPr/>
        </p:nvSpPr>
        <p:spPr>
          <a:xfrm>
            <a:off x="429779" y="4695444"/>
            <a:ext cx="54558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91425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CE9178"/>
                </a:solidFill>
                <a:latin typeface="Consolas"/>
                <a:ea typeface="Consolas"/>
                <a:cs typeface="Consolas"/>
                <a:sym typeface="Consolas"/>
              </a:rPr>
              <a:t>"jump"</a:t>
            </a:r>
            <a:r>
              <a:rPr lang="en-US" sz="120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-US" sz="1200">
                <a:solidFill>
                  <a:srgbClr val="C586C0"/>
                </a:solidFill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-US" sz="120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velocity.y &gt; </a:t>
            </a:r>
            <a:r>
              <a:rPr lang="en-US" sz="1200">
                <a:solidFill>
                  <a:srgbClr val="B5CEA8"/>
                </a:solidFill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-US" sz="120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-US" sz="1200">
                <a:solidFill>
                  <a:srgbClr val="DCDCAA"/>
                </a:solidFill>
                <a:latin typeface="Consolas"/>
                <a:ea typeface="Consolas"/>
                <a:cs typeface="Consolas"/>
                <a:sym typeface="Consolas"/>
              </a:rPr>
              <a:t>set_state</a:t>
            </a:r>
            <a:r>
              <a:rPr lang="en-US" sz="120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-US" sz="1200">
                <a:solidFill>
                  <a:srgbClr val="CE9178"/>
                </a:solidFill>
                <a:latin typeface="Consolas"/>
                <a:ea typeface="Consolas"/>
                <a:cs typeface="Consolas"/>
                <a:sym typeface="Consolas"/>
              </a:rPr>
              <a:t>"fall"</a:t>
            </a:r>
            <a:r>
              <a:rPr lang="en-US" sz="120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)</a:t>
            </a:r>
            <a:endParaRPr/>
          </a:p>
        </p:txBody>
      </p:sp>
      <p:sp>
        <p:nvSpPr>
          <p:cNvPr id="739" name="Google Shape;739;g3f191634368_0_8"/>
          <p:cNvSpPr/>
          <p:nvPr/>
        </p:nvSpPr>
        <p:spPr>
          <a:xfrm>
            <a:off x="6196596" y="3963924"/>
            <a:ext cx="5675400" cy="2729400"/>
          </a:xfrm>
          <a:prstGeom prst="rect">
            <a:avLst/>
          </a:prstGeom>
          <a:solidFill>
            <a:srgbClr val="2D2D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0" name="Google Shape;740;g3f191634368_0_8"/>
          <p:cNvSpPr/>
          <p:nvPr/>
        </p:nvSpPr>
        <p:spPr>
          <a:xfrm>
            <a:off x="6196596" y="3963924"/>
            <a:ext cx="5675400" cy="365700"/>
          </a:xfrm>
          <a:prstGeom prst="rect">
            <a:avLst/>
          </a:prstGeom>
          <a:solidFill>
            <a:srgbClr val="E53A2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1" name="Google Shape;741;g3f191634368_0_8"/>
          <p:cNvSpPr txBox="1"/>
          <p:nvPr/>
        </p:nvSpPr>
        <p:spPr>
          <a:xfrm>
            <a:off x="6306327" y="3963924"/>
            <a:ext cx="54558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91425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#6d  </a:t>
            </a:r>
            <a:r>
              <a:rPr b="0" lang="en-US" sz="12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"fall" state exit</a:t>
            </a:r>
            <a:endParaRPr/>
          </a:p>
        </p:txBody>
      </p:sp>
      <p:sp>
        <p:nvSpPr>
          <p:cNvPr id="742" name="Google Shape;742;g3f191634368_0_8"/>
          <p:cNvSpPr txBox="1"/>
          <p:nvPr/>
        </p:nvSpPr>
        <p:spPr>
          <a:xfrm>
            <a:off x="6306327" y="4329684"/>
            <a:ext cx="54558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91425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1000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← Chunk #6  ·  inside  match state:</a:t>
            </a:r>
            <a:endParaRPr/>
          </a:p>
        </p:txBody>
      </p:sp>
      <p:sp>
        <p:nvSpPr>
          <p:cNvPr id="743" name="Google Shape;743;g3f191634368_0_8"/>
          <p:cNvSpPr txBox="1"/>
          <p:nvPr/>
        </p:nvSpPr>
        <p:spPr>
          <a:xfrm>
            <a:off x="6306327" y="4695444"/>
            <a:ext cx="54558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91425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CE9178"/>
                </a:solidFill>
                <a:latin typeface="Consolas"/>
                <a:ea typeface="Consolas"/>
                <a:cs typeface="Consolas"/>
                <a:sym typeface="Consolas"/>
              </a:rPr>
              <a:t>"fall"</a:t>
            </a:r>
            <a:r>
              <a:rPr lang="en-US" sz="120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-US" sz="1200">
                <a:solidFill>
                  <a:srgbClr val="C586C0"/>
                </a:solidFill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-US" sz="120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1200">
                <a:solidFill>
                  <a:srgbClr val="DCDCAA"/>
                </a:solidFill>
                <a:latin typeface="Consolas"/>
                <a:ea typeface="Consolas"/>
                <a:cs typeface="Consolas"/>
                <a:sym typeface="Consolas"/>
              </a:rPr>
              <a:t>is_on_floor</a:t>
            </a:r>
            <a:r>
              <a:rPr lang="en-US" sz="120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():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-US" sz="1200">
                <a:solidFill>
                  <a:srgbClr val="DCDCAA"/>
                </a:solidFill>
                <a:latin typeface="Consolas"/>
                <a:ea typeface="Consolas"/>
                <a:cs typeface="Consolas"/>
                <a:sym typeface="Consolas"/>
              </a:rPr>
              <a:t>set_state</a:t>
            </a:r>
            <a:r>
              <a:rPr lang="en-US" sz="120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-US" sz="1200">
                <a:solidFill>
                  <a:srgbClr val="CE9178"/>
                </a:solidFill>
                <a:latin typeface="Consolas"/>
                <a:ea typeface="Consolas"/>
                <a:cs typeface="Consolas"/>
                <a:sym typeface="Consolas"/>
              </a:rPr>
              <a:t>"idle"</a:t>
            </a:r>
            <a:r>
              <a:rPr lang="en-US" sz="120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)</a:t>
            </a:r>
            <a:endParaRPr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7" name="Shape 7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8" name="Google Shape;748;p6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749" name="Google Shape;749;p6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750" name="Google Shape;750;p62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751" name="Google Shape;751;p62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752" name="Google Shape;752;p62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4</a:t>
            </a:r>
            <a:endParaRPr/>
          </a:p>
        </p:txBody>
      </p:sp>
      <p:sp>
        <p:nvSpPr>
          <p:cNvPr id="753" name="Google Shape;753;p62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67</a:t>
            </a:r>
            <a:endParaRPr/>
          </a:p>
        </p:txBody>
      </p:sp>
      <p:sp>
        <p:nvSpPr>
          <p:cNvPr id="754" name="Google Shape;754;p62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4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Make the attack DO something</a:t>
            </a:r>
            <a:endParaRPr/>
          </a:p>
        </p:txBody>
      </p:sp>
      <p:sp>
        <p:nvSpPr>
          <p:cNvPr id="755" name="Google Shape;755;p62"/>
          <p:cNvSpPr txBox="1"/>
          <p:nvPr/>
        </p:nvSpPr>
        <p:spPr>
          <a:xfrm>
            <a:off x="457200" y="4160520"/>
            <a:ext cx="1127729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Fighters can move. Now make the attack key actually deal damage.</a:t>
            </a:r>
            <a:endParaRPr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9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p63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761" name="Google Shape;761;p6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762" name="Google Shape;762;p6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763" name="Google Shape;763;p63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764" name="Google Shape;764;p63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4</a:t>
            </a:r>
            <a:endParaRPr/>
          </a:p>
        </p:txBody>
      </p:sp>
      <p:sp>
        <p:nvSpPr>
          <p:cNvPr id="765" name="Google Shape;765;p63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68</a:t>
            </a:r>
            <a:endParaRPr/>
          </a:p>
        </p:txBody>
      </p:sp>
      <p:sp>
        <p:nvSpPr>
          <p:cNvPr id="766" name="Google Shape;766;p63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match attack_type:</a:t>
            </a:r>
            <a:r>
              <a:rPr b="1" i="0" lang="en-US" sz="36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— two branches</a:t>
            </a:r>
            <a:endParaRPr/>
          </a:p>
        </p:txBody>
      </p:sp>
      <p:sp>
        <p:nvSpPr>
          <p:cNvPr id="767" name="Google Shape;767;p63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attack_type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is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"melee"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or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"projectile"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(set by chunk #2 /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setup()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).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Inside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attack()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: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match attack_type: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branches once — melee hits the nearby opponent directly; projectile fires a scene instance.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Same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match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pattern as the state machine — one string decides what happens.</a:t>
            </a:r>
            <a:endParaRPr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1" name="Shape 7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2" name="Google Shape;772;p64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773" name="Google Shape;773;p6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774" name="Google Shape;774;p64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775" name="Google Shape;775;p6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776" name="Google Shape;776;p64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4</a:t>
            </a:r>
            <a:endParaRPr/>
          </a:p>
        </p:txBody>
      </p:sp>
      <p:sp>
        <p:nvSpPr>
          <p:cNvPr id="777" name="Google Shape;777;p64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69</a:t>
            </a:r>
            <a:endParaRPr/>
          </a:p>
        </p:txBody>
      </p:sp>
      <p:sp>
        <p:nvSpPr>
          <p:cNvPr id="778" name="Google Shape;778;p64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Pieces already in the file</a:t>
            </a:r>
            <a:endParaRPr/>
          </a:p>
        </p:txBody>
      </p:sp>
      <p:sp>
        <p:nvSpPr>
          <p:cNvPr id="779" name="Google Shape;779;p64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attack_cooldown_timer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— pre-given float; set to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attack_cooldown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to start the cooldown.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melee_swing_timer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— pre-given float; set to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0.15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to trigger the swing rectangle draw.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queue_redraw()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— pre-given Godot call; redraws the swing rectangle.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get_opponent()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— pre-given method; returns the other Player node (or null if dead).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spawn_projectile()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— pre-given method; fires a Projectile scene in the facing direction.</a:t>
            </a:r>
            <a:endParaRPr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3" name="Shape 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p65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785" name="Google Shape;785;p6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786" name="Google Shape;786;p65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787" name="Google Shape;787;p65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788" name="Google Shape;788;p6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4</a:t>
            </a:r>
            <a:endParaRPr/>
          </a:p>
        </p:txBody>
      </p:sp>
      <p:sp>
        <p:nvSpPr>
          <p:cNvPr id="789" name="Google Shape;789;p65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70</a:t>
            </a:r>
            <a:endParaRPr/>
          </a:p>
        </p:txBody>
      </p:sp>
      <p:sp>
        <p:nvSpPr>
          <p:cNvPr id="790" name="Google Shape;790;p65"/>
          <p:cNvSpPr/>
          <p:nvPr/>
        </p:nvSpPr>
        <p:spPr>
          <a:xfrm>
            <a:off x="457200" y="1051560"/>
            <a:ext cx="11277295" cy="1280160"/>
          </a:xfrm>
          <a:prstGeom prst="roundRect">
            <a:avLst>
              <a:gd fmla="val 16667" name="adj"/>
            </a:avLst>
          </a:prstGeom>
          <a:solidFill>
            <a:srgbClr val="F2F2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137150" lIns="274300" spcFirstLastPara="1" rIns="274300" wrap="square" tIns="13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The same check with named booleans: three readable lines instead of one unreadable wall. If it breaks, you know which condition failed.</a:t>
            </a:r>
            <a:endParaRPr/>
          </a:p>
        </p:txBody>
      </p:sp>
      <p:sp>
        <p:nvSpPr>
          <p:cNvPr id="791" name="Google Shape;791;p65"/>
          <p:cNvSpPr txBox="1"/>
          <p:nvPr/>
        </p:nvSpPr>
        <p:spPr>
          <a:xfrm>
            <a:off x="457200" y="2606040"/>
            <a:ext cx="11277295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Pattern (board example):</a:t>
            </a:r>
            <a:endParaRPr/>
          </a:p>
        </p:txBody>
      </p:sp>
      <p:sp>
        <p:nvSpPr>
          <p:cNvPr id="792" name="Google Shape;792;p65"/>
          <p:cNvSpPr/>
          <p:nvPr/>
        </p:nvSpPr>
        <p:spPr>
          <a:xfrm>
            <a:off x="457200" y="2971800"/>
            <a:ext cx="11277295" cy="3520440"/>
          </a:xfrm>
          <a:prstGeom prst="roundRect">
            <a:avLst>
              <a:gd fmla="val 16667" name="adj"/>
            </a:avLst>
          </a:prstGeom>
          <a:solidFill>
            <a:srgbClr val="2D2D2D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137150" lIns="182875" spcFirstLastPara="1" rIns="182875" wrap="square" tIns="13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b="0" i="0" lang="en-US" sz="1800" u="none" cap="none" strike="noStrike">
                <a:solidFill>
                  <a:srgbClr val="6A9955"/>
                </a:solidFill>
                <a:latin typeface="Consolas"/>
                <a:ea typeface="Consolas"/>
                <a:cs typeface="Consolas"/>
                <a:sym typeface="Consolas"/>
              </a:rPr>
              <a:t># BAD — one wicked one-liner: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b="0" i="0" lang="en-US" sz="1800" u="none" cap="none" strike="noStrike">
                <a:solidFill>
                  <a:srgbClr val="569CD6"/>
                </a:solidFill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b="0" i="0" lang="en-US" sz="1800" u="none" cap="none" strike="noStrike">
                <a:solidFill>
                  <a:srgbClr val="DCDCAA"/>
                </a:solidFill>
                <a:latin typeface="Consolas"/>
                <a:ea typeface="Consolas"/>
                <a:cs typeface="Consolas"/>
                <a:sym typeface="Consolas"/>
              </a:rPr>
              <a:t>abs</a:t>
            </a: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(opponent.pos.x - pos.x) &lt; rng \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    and </a:t>
            </a:r>
            <a:r>
              <a:rPr b="0" i="0" lang="en-US" sz="1800" u="none" cap="none" strike="noStrike">
                <a:solidFill>
                  <a:srgbClr val="DCDCAA"/>
                </a:solidFill>
                <a:latin typeface="Consolas"/>
                <a:ea typeface="Consolas"/>
                <a:cs typeface="Consolas"/>
                <a:sym typeface="Consolas"/>
              </a:rPr>
              <a:t>abs</a:t>
            </a: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(opponent.pos.y - pos.y) &lt; </a:t>
            </a:r>
            <a:r>
              <a:rPr b="0" i="0" lang="en-US" sz="1800" u="none" cap="none" strike="noStrike">
                <a:solidFill>
                  <a:srgbClr val="B5CEA8"/>
                </a:solidFill>
                <a:latin typeface="Consolas"/>
                <a:ea typeface="Consolas"/>
                <a:cs typeface="Consolas"/>
                <a:sym typeface="Consolas"/>
              </a:rPr>
              <a:t>40</a:t>
            </a: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\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    and </a:t>
            </a:r>
            <a:r>
              <a:rPr b="0" i="0" lang="en-US" sz="1800" u="none" cap="none" strike="noStrike">
                <a:solidFill>
                  <a:srgbClr val="DCDCAA"/>
                </a:solidFill>
                <a:latin typeface="Consolas"/>
                <a:ea typeface="Consolas"/>
                <a:cs typeface="Consolas"/>
                <a:sym typeface="Consolas"/>
              </a:rPr>
              <a:t>sign</a:t>
            </a: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(opponent.pos.x - pos.x) == facing: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     opponent.take_damage(dmg)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endParaRPr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6" name="Shape 7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7" name="Google Shape;797;p66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798" name="Google Shape;798;p6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799" name="Google Shape;799;p66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800" name="Google Shape;800;p66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801" name="Google Shape;801;p66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4</a:t>
            </a:r>
            <a:endParaRPr/>
          </a:p>
        </p:txBody>
      </p:sp>
      <p:sp>
        <p:nvSpPr>
          <p:cNvPr id="802" name="Google Shape;802;p66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Why abs()? Distance has no direction.</a:t>
            </a:r>
            <a:endParaRPr/>
          </a:p>
        </p:txBody>
      </p:sp>
      <p:sp>
        <p:nvSpPr>
          <p:cNvPr id="803" name="Google Shape;803;p66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When your opponent moves to the LEFT, their x position goes DOWN — so the gap between you becomes a negative number.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When your opponent moves to the RIGHT, their x position goes UP — so the gap is a positive number.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But you're the same distance apart either way! The sign just tells you which side they're on.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abs() throws away the sign and gives you the plain distance — like a tape measure that doesn't care which direction you hold it.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    abs(−300) = 300     abs(+300) = 300</a:t>
            </a:r>
            <a:endParaRPr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7" name="Shape 8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8" name="Google Shape;808;p67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809" name="Google Shape;809;p6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810" name="Google Shape;810;p67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811" name="Google Shape;811;p67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812" name="Google Shape;812;p67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4</a:t>
            </a:r>
            <a:endParaRPr/>
          </a:p>
        </p:txBody>
      </p:sp>
      <p:sp>
        <p:nvSpPr>
          <p:cNvPr id="813" name="Google Shape;813;p67"/>
          <p:cNvSpPr txBox="1"/>
          <p:nvPr/>
        </p:nvSpPr>
        <p:spPr>
          <a:xfrm>
            <a:off x="457200" y="1051560"/>
            <a:ext cx="11277295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What breaks without abs()</a:t>
            </a:r>
            <a:endParaRPr/>
          </a:p>
        </p:txBody>
      </p:sp>
      <p:sp>
        <p:nvSpPr>
          <p:cNvPr id="814" name="Google Shape;814;p67"/>
          <p:cNvSpPr txBox="1"/>
          <p:nvPr/>
        </p:nvSpPr>
        <p:spPr>
          <a:xfrm>
            <a:off x="457200" y="1965960"/>
            <a:ext cx="5455767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❌  Without abs()</a:t>
            </a:r>
            <a:endParaRPr/>
          </a:p>
        </p:txBody>
      </p:sp>
      <p:sp>
        <p:nvSpPr>
          <p:cNvPr id="815" name="Google Shape;815;p67"/>
          <p:cNvSpPr txBox="1"/>
          <p:nvPr/>
        </p:nvSpPr>
        <p:spPr>
          <a:xfrm>
            <a:off x="457200" y="2606040"/>
            <a:ext cx="5455767" cy="3886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Your attack range is 70 pixels.</a:t>
            </a:r>
            <a:b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</a:b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Your opponent is way over to the left — 300 pixels away.</a:t>
            </a:r>
            <a:b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</a:br>
            <a:b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</a:b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The gap comes out as −300 (negative because they're to your left).</a:t>
            </a:r>
            <a:b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</a:br>
            <a:b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</a:b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The game checks: is −300 ≤ 70?</a:t>
            </a:r>
            <a:b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</a:b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→ YES — so the punch lands!</a:t>
            </a:r>
            <a:b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</a:br>
            <a:b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</a:b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But they're 300 pixels away.</a:t>
            </a:r>
            <a:b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</a:b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That punch should never have hit.</a:t>
            </a:r>
            <a:endParaRPr/>
          </a:p>
        </p:txBody>
      </p:sp>
      <p:sp>
        <p:nvSpPr>
          <p:cNvPr id="816" name="Google Shape;816;p67"/>
          <p:cNvSpPr txBox="1"/>
          <p:nvPr/>
        </p:nvSpPr>
        <p:spPr>
          <a:xfrm>
            <a:off x="6278727" y="1965960"/>
            <a:ext cx="5455767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✅  With abs()</a:t>
            </a:r>
            <a:endParaRPr/>
          </a:p>
        </p:txBody>
      </p:sp>
      <p:sp>
        <p:nvSpPr>
          <p:cNvPr id="817" name="Google Shape;817;p67"/>
          <p:cNvSpPr txBox="1"/>
          <p:nvPr/>
        </p:nvSpPr>
        <p:spPr>
          <a:xfrm>
            <a:off x="6278727" y="2606040"/>
            <a:ext cx="5455767" cy="3886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Your attack range is 70 pixels.</a:t>
            </a:r>
            <a:b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</a:b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Your opponent is way over to the left — 300 pixels away.</a:t>
            </a:r>
            <a:b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</a:br>
            <a:b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</a:b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The gap comes out as −300.</a:t>
            </a:r>
            <a:b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</a:b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abs(−300) turns that into 300.</a:t>
            </a:r>
            <a:b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</a:br>
            <a:b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</a:b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The game checks: is 300 ≤ 70?</a:t>
            </a:r>
            <a:b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</a:b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→ NO — punch misses. Correct!</a:t>
            </a:r>
            <a:b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</a:br>
            <a:b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</a:b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Now it works the same</a:t>
            </a:r>
            <a:b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</a:b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no matter which side they're on.</a:t>
            </a:r>
            <a:endParaRPr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1" name="Shape 8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2" name="Google Shape;822;p69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823" name="Google Shape;823;p6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824" name="Google Shape;824;p69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825" name="Google Shape;825;p69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826" name="Google Shape;826;p69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4</a:t>
            </a:r>
            <a:endParaRPr/>
          </a:p>
        </p:txBody>
      </p:sp>
      <p:sp>
        <p:nvSpPr>
          <p:cNvPr id="827" name="Google Shape;827;p69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72</a:t>
            </a:r>
            <a:endParaRPr/>
          </a:p>
        </p:txBody>
      </p:sp>
      <p:sp>
        <p:nvSpPr>
          <p:cNvPr id="828" name="Google Shape;828;p69"/>
          <p:cNvSpPr txBox="1"/>
          <p:nvPr/>
        </p:nvSpPr>
        <p:spPr>
          <a:xfrm>
            <a:off x="367259" y="868680"/>
            <a:ext cx="5501487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Pattern (board example):</a:t>
            </a:r>
            <a:endParaRPr/>
          </a:p>
        </p:txBody>
      </p:sp>
      <p:sp>
        <p:nvSpPr>
          <p:cNvPr id="829" name="Google Shape;829;p69"/>
          <p:cNvSpPr/>
          <p:nvPr/>
        </p:nvSpPr>
        <p:spPr>
          <a:xfrm>
            <a:off x="184378" y="1270794"/>
            <a:ext cx="10773431" cy="2074261"/>
          </a:xfrm>
          <a:prstGeom prst="roundRect">
            <a:avLst>
              <a:gd fmla="val 16667" name="adj"/>
            </a:avLst>
          </a:prstGeom>
          <a:solidFill>
            <a:srgbClr val="2D2D2D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137150" lIns="182875" spcFirstLastPara="1" rIns="182875" wrap="square" tIns="13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b="0" i="0" lang="en-US" sz="1800" u="none" cap="none" strike="noStrike">
                <a:solidFill>
                  <a:srgbClr val="6A9955"/>
                </a:solidFill>
                <a:latin typeface="Consolas"/>
                <a:ea typeface="Consolas"/>
                <a:cs typeface="Consolas"/>
                <a:sym typeface="Consolas"/>
              </a:rPr>
              <a:t># Named booleans — the good way: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b="0" i="0" lang="en-US" sz="1800" u="none" cap="none" strike="noStrike">
                <a:solidFill>
                  <a:srgbClr val="569CD6"/>
                </a:solidFill>
                <a:latin typeface="Consolas"/>
                <a:ea typeface="Consolas"/>
                <a:cs typeface="Consolas"/>
                <a:sym typeface="Consolas"/>
              </a:rPr>
              <a:t>var</a:t>
            </a: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in_range = </a:t>
            </a:r>
            <a:r>
              <a:rPr b="0" i="0" lang="en-US" sz="1800" u="none" cap="none" strike="noStrike">
                <a:solidFill>
                  <a:srgbClr val="DCDCAA"/>
                </a:solidFill>
                <a:latin typeface="Consolas"/>
                <a:ea typeface="Consolas"/>
                <a:cs typeface="Consolas"/>
                <a:sym typeface="Consolas"/>
              </a:rPr>
              <a:t>abs</a:t>
            </a: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(to_opp.x) &lt; attack_range  </a:t>
            </a:r>
            <a:r>
              <a:rPr b="0" i="0" lang="en-US" sz="1800" u="none" cap="none" strike="noStrike">
                <a:solidFill>
                  <a:srgbClr val="6A9955"/>
                </a:solidFill>
                <a:latin typeface="Consolas"/>
                <a:ea typeface="Consolas"/>
                <a:cs typeface="Consolas"/>
                <a:sym typeface="Consolas"/>
              </a:rPr>
              <a:t># pre-given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b="0" i="0" lang="en-US" sz="1800" u="none" cap="none" strike="noStrike">
                <a:solidFill>
                  <a:srgbClr val="569CD6"/>
                </a:solidFill>
                <a:latin typeface="Consolas"/>
                <a:ea typeface="Consolas"/>
                <a:cs typeface="Consolas"/>
                <a:sym typeface="Consolas"/>
              </a:rPr>
              <a:t>var</a:t>
            </a: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same_height = </a:t>
            </a:r>
            <a:r>
              <a:rPr b="0" i="0" lang="en-US" sz="1800" u="none" cap="none" strike="noStrike">
                <a:solidFill>
                  <a:srgbClr val="DCDCAA"/>
                </a:solidFill>
                <a:latin typeface="Consolas"/>
                <a:ea typeface="Consolas"/>
                <a:cs typeface="Consolas"/>
                <a:sym typeface="Consolas"/>
              </a:rPr>
              <a:t>abs</a:t>
            </a: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(to_opp.y) &lt; </a:t>
            </a:r>
            <a:r>
              <a:rPr b="0" i="0" lang="en-US" sz="1800" u="none" cap="none" strike="noStrike">
                <a:solidFill>
                  <a:srgbClr val="B5CEA8"/>
                </a:solidFill>
                <a:latin typeface="Consolas"/>
                <a:ea typeface="Consolas"/>
                <a:cs typeface="Consolas"/>
                <a:sym typeface="Consolas"/>
              </a:rPr>
              <a:t>40.0</a:t>
            </a: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      </a:t>
            </a:r>
            <a:r>
              <a:rPr b="0" i="0" lang="en-US" sz="1800" u="none" cap="none" strike="noStrike">
                <a:solidFill>
                  <a:srgbClr val="6A9955"/>
                </a:solidFill>
                <a:latin typeface="Consolas"/>
                <a:ea typeface="Consolas"/>
                <a:cs typeface="Consolas"/>
                <a:sym typeface="Consolas"/>
              </a:rPr>
              <a:t># pre-given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b="0" i="0" lang="en-US" sz="1800" u="none" cap="none" strike="noStrike">
                <a:solidFill>
                  <a:srgbClr val="569CD6"/>
                </a:solidFill>
                <a:latin typeface="Consolas"/>
                <a:ea typeface="Consolas"/>
                <a:cs typeface="Consolas"/>
                <a:sym typeface="Consolas"/>
              </a:rPr>
              <a:t>var</a:t>
            </a: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facing_opponent = </a:t>
            </a:r>
            <a:r>
              <a:rPr b="0" i="0" lang="en-US" sz="1800" u="none" cap="none" strike="noStrike">
                <a:solidFill>
                  <a:srgbClr val="DCDCAA"/>
                </a:solidFill>
                <a:latin typeface="Consolas"/>
                <a:ea typeface="Consolas"/>
                <a:cs typeface="Consolas"/>
                <a:sym typeface="Consolas"/>
              </a:rPr>
              <a:t>sign</a:t>
            </a: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(to_opp.x) == facing  </a:t>
            </a:r>
            <a:r>
              <a:rPr b="0" i="0" lang="en-US" sz="1800" u="none" cap="none" strike="noStrike">
                <a:solidFill>
                  <a:srgbClr val="6A9955"/>
                </a:solidFill>
                <a:latin typeface="Consolas"/>
                <a:ea typeface="Consolas"/>
                <a:cs typeface="Consolas"/>
                <a:sym typeface="Consolas"/>
              </a:rPr>
              <a:t># YOU write this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b="0" i="0" lang="en-US" sz="1800" u="none" cap="none" strike="noStrike">
                <a:solidFill>
                  <a:srgbClr val="569CD6"/>
                </a:solidFill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in_range and facing_opponent and same_height: </a:t>
            </a:r>
            <a:r>
              <a:rPr b="0" i="0" lang="en-US" sz="1800" u="none" cap="none" strike="noStrike">
                <a:solidFill>
                  <a:srgbClr val="6A9955"/>
                </a:solidFill>
                <a:latin typeface="Consolas"/>
                <a:ea typeface="Consolas"/>
                <a:cs typeface="Consolas"/>
                <a:sym typeface="Consolas"/>
              </a:rPr>
              <a:t># YOU write this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     opponent.take_damage(attack_damage)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</a:t>
            </a:r>
            <a:endParaRPr/>
          </a:p>
        </p:txBody>
      </p:sp>
      <p:sp>
        <p:nvSpPr>
          <p:cNvPr id="830" name="Google Shape;830;p69"/>
          <p:cNvSpPr txBox="1"/>
          <p:nvPr/>
        </p:nvSpPr>
        <p:spPr>
          <a:xfrm>
            <a:off x="367259" y="3406892"/>
            <a:ext cx="5501487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Where in your code (Godot):</a:t>
            </a:r>
            <a:endParaRPr/>
          </a:p>
        </p:txBody>
      </p:sp>
      <p:pic>
        <p:nvPicPr>
          <p:cNvPr id="831" name="Google Shape;831;p6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264702" y="3432575"/>
            <a:ext cx="4728642" cy="34254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5" name="Shape 8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6" name="Google Shape;836;p7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837" name="Google Shape;837;p7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838" name="Google Shape;838;p70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839" name="Google Shape;839;p70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840" name="Google Shape;840;p70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4</a:t>
            </a:r>
            <a:endParaRPr/>
          </a:p>
        </p:txBody>
      </p:sp>
      <p:sp>
        <p:nvSpPr>
          <p:cNvPr id="841" name="Google Shape;841;p70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72</a:t>
            </a:r>
            <a:endParaRPr/>
          </a:p>
        </p:txBody>
      </p:sp>
      <p:sp>
        <p:nvSpPr>
          <p:cNvPr id="842" name="Google Shape;842;p70"/>
          <p:cNvSpPr/>
          <p:nvPr/>
        </p:nvSpPr>
        <p:spPr>
          <a:xfrm>
            <a:off x="274320" y="1005840"/>
            <a:ext cx="11277295" cy="1280160"/>
          </a:xfrm>
          <a:prstGeom prst="roundRect">
            <a:avLst>
              <a:gd fmla="val 16667" name="adj"/>
            </a:avLst>
          </a:prstGeom>
          <a:solidFill>
            <a:srgbClr val="F2F2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137150" lIns="274300" spcFirstLastPara="1" rIns="274300" wrap="square" tIns="1371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This one is a little spicy.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2000" u="none" cap="none" strike="noStrike">
              <a:solidFill>
                <a:srgbClr val="1A1A1A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Your code needs to decide 3 things: </a:t>
            </a:r>
            <a:endParaRPr/>
          </a:p>
        </p:txBody>
      </p:sp>
      <p:sp>
        <p:nvSpPr>
          <p:cNvPr id="843" name="Google Shape;843;p70"/>
          <p:cNvSpPr txBox="1"/>
          <p:nvPr/>
        </p:nvSpPr>
        <p:spPr>
          <a:xfrm>
            <a:off x="365760" y="2377440"/>
            <a:ext cx="11277295" cy="122084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2000"/>
              <a:buFont typeface="Arial"/>
              <a:buChar char="•"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Can I attack? (cooldown timer handles this automatically)</a:t>
            </a:r>
            <a:endParaRPr/>
          </a:p>
          <a:p>
            <a:pPr indent="-342900" lvl="0" marL="342900" marR="0" rtl="0" algn="l">
              <a:spcBef>
                <a:spcPts val="800"/>
              </a:spcBef>
              <a:spcAft>
                <a:spcPts val="0"/>
              </a:spcAft>
              <a:buClr>
                <a:srgbClr val="1A1A1A"/>
              </a:buClr>
              <a:buSzPts val="2000"/>
              <a:buFont typeface="Arial"/>
              <a:buChar char="•"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What kind of attack am I? (Projectile/Melee)</a:t>
            </a:r>
            <a:endParaRPr/>
          </a:p>
          <a:p>
            <a:pPr indent="-342900" lvl="0" marL="342900" marR="0" rtl="0" algn="l">
              <a:spcBef>
                <a:spcPts val="800"/>
              </a:spcBef>
              <a:spcAft>
                <a:spcPts val="0"/>
              </a:spcAft>
              <a:buClr>
                <a:srgbClr val="1A1A1A"/>
              </a:buClr>
              <a:buSzPts val="2000"/>
              <a:buFont typeface="Arial"/>
              <a:buChar char="•"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Did I actually hit? (Melee only – close enough, facing you, same height?)</a:t>
            </a:r>
            <a:endParaRPr b="0" i="0" sz="2000" u="none" cap="none" strike="noStrike">
              <a:solidFill>
                <a:srgbClr val="1A1A1A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844" name="Google Shape;844;p7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44347" y="3885753"/>
            <a:ext cx="5651500" cy="2273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8" name="Shape 8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" name="Google Shape;849;p7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850" name="Google Shape;850;p7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851" name="Google Shape;851;p71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852" name="Google Shape;852;p71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853" name="Google Shape;853;p71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4</a:t>
            </a:r>
            <a:endParaRPr/>
          </a:p>
        </p:txBody>
      </p:sp>
      <p:sp>
        <p:nvSpPr>
          <p:cNvPr id="854" name="Google Shape;854;p71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73</a:t>
            </a:r>
            <a:endParaRPr/>
          </a:p>
        </p:txBody>
      </p:sp>
      <p:sp>
        <p:nvSpPr>
          <p:cNvPr id="855" name="Google Shape;855;p71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4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Make it yours</a:t>
            </a:r>
            <a:endParaRPr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9" name="Shape 8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0" name="Google Shape;860;p7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861" name="Google Shape;861;p7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862" name="Google Shape;862;p72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863" name="Google Shape;863;p72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864" name="Google Shape;864;p72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4</a:t>
            </a:r>
            <a:endParaRPr/>
          </a:p>
        </p:txBody>
      </p:sp>
      <p:sp>
        <p:nvSpPr>
          <p:cNvPr id="865" name="Google Shape;865;p72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74</a:t>
            </a:r>
            <a:endParaRPr/>
          </a:p>
        </p:txBody>
      </p:sp>
      <p:pic>
        <p:nvPicPr>
          <p:cNvPr descr="D4B5S1.png" id="866" name="Google Shape;866;p7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7200" y="1655739"/>
            <a:ext cx="6766377" cy="4140881"/>
          </a:xfrm>
          <a:prstGeom prst="rect">
            <a:avLst/>
          </a:prstGeom>
          <a:noFill/>
          <a:ln>
            <a:noFill/>
          </a:ln>
        </p:spPr>
      </p:pic>
      <p:sp>
        <p:nvSpPr>
          <p:cNvPr id="867" name="Google Shape;867;p72"/>
          <p:cNvSpPr txBox="1"/>
          <p:nvPr/>
        </p:nvSpPr>
        <p:spPr>
          <a:xfrm>
            <a:off x="7497897" y="1143000"/>
            <a:ext cx="4236598" cy="5166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Beat 5 — Add a fifth map</a:t>
            </a:r>
            <a:endParaRPr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1" name="Shape 8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2" name="Google Shape;872;g3edb4d6d02e_0_0"/>
          <p:cNvSpPr/>
          <p:nvPr/>
        </p:nvSpPr>
        <p:spPr>
          <a:xfrm>
            <a:off x="0" y="0"/>
            <a:ext cx="12191700" cy="8688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873" name="Google Shape;873;g3edb4d6d02e_0_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874" name="Google Shape;874;g3edb4d6d02e_0_0"/>
          <p:cNvSpPr txBox="1"/>
          <p:nvPr/>
        </p:nvSpPr>
        <p:spPr>
          <a:xfrm>
            <a:off x="1051560" y="45720"/>
            <a:ext cx="18288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875" name="Google Shape;875;g3edb4d6d02e_0_0"/>
          <p:cNvSpPr txBox="1"/>
          <p:nvPr/>
        </p:nvSpPr>
        <p:spPr>
          <a:xfrm>
            <a:off x="1051560" y="548640"/>
            <a:ext cx="22860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876" name="Google Shape;876;g3edb4d6d02e_0_0"/>
          <p:cNvSpPr txBox="1"/>
          <p:nvPr/>
        </p:nvSpPr>
        <p:spPr>
          <a:xfrm>
            <a:off x="10454335" y="228600"/>
            <a:ext cx="14631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4</a:t>
            </a:r>
            <a:endParaRPr/>
          </a:p>
        </p:txBody>
      </p:sp>
      <p:sp>
        <p:nvSpPr>
          <p:cNvPr id="877" name="Google Shape;877;g3edb4d6d02e_0_0"/>
          <p:cNvSpPr txBox="1"/>
          <p:nvPr/>
        </p:nvSpPr>
        <p:spPr>
          <a:xfrm>
            <a:off x="11277295" y="6446520"/>
            <a:ext cx="7314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74</a:t>
            </a:r>
            <a:endParaRPr/>
          </a:p>
        </p:txBody>
      </p:sp>
      <p:sp>
        <p:nvSpPr>
          <p:cNvPr id="878" name="Google Shape;878;g3edb4d6d02e_0_0"/>
          <p:cNvSpPr txBox="1"/>
          <p:nvPr/>
        </p:nvSpPr>
        <p:spPr>
          <a:xfrm>
            <a:off x="7466447" y="3429000"/>
            <a:ext cx="4236600" cy="70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Change the map colors to match your theme </a:t>
            </a:r>
            <a:endParaRPr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2" name="Shape 8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Google Shape;883;p73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884" name="Google Shape;884;p7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885" name="Google Shape;885;p73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886" name="Google Shape;886;p73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887" name="Google Shape;887;p73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4</a:t>
            </a:r>
            <a:endParaRPr/>
          </a:p>
        </p:txBody>
      </p:sp>
      <p:sp>
        <p:nvSpPr>
          <p:cNvPr id="888" name="Google Shape;888;p73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75</a:t>
            </a:r>
            <a:endParaRPr/>
          </a:p>
        </p:txBody>
      </p:sp>
      <p:sp>
        <p:nvSpPr>
          <p:cNvPr id="889" name="Google Shape;889;p73"/>
          <p:cNvSpPr txBox="1"/>
          <p:nvPr/>
        </p:nvSpPr>
        <p:spPr>
          <a:xfrm>
            <a:off x="457200" y="2601575"/>
            <a:ext cx="11277295" cy="92333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4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Final Challenge time</a:t>
            </a:r>
            <a:endParaRPr b="1" i="0" sz="5400" u="none" cap="none" strike="noStrike">
              <a:solidFill>
                <a:srgbClr val="1A1A1A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90" name="Google Shape;890;p73"/>
          <p:cNvSpPr txBox="1"/>
          <p:nvPr/>
        </p:nvSpPr>
        <p:spPr>
          <a:xfrm>
            <a:off x="457200" y="4160520"/>
            <a:ext cx="1127729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Invent a 5th fighter: custom stats, custom sprite, custom attack. Then fight your friend with it.</a:t>
            </a:r>
            <a:endParaRPr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4" name="Shape 8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Google Shape;895;p74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896" name="Google Shape;896;p7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897" name="Google Shape;897;p74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898" name="Google Shape;898;p74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899" name="Google Shape;899;p74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4</a:t>
            </a:r>
            <a:endParaRPr/>
          </a:p>
        </p:txBody>
      </p:sp>
      <p:sp>
        <p:nvSpPr>
          <p:cNvPr id="900" name="Google Shape;900;p74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77</a:t>
            </a:r>
            <a:endParaRPr/>
          </a:p>
        </p:txBody>
      </p:sp>
      <p:sp>
        <p:nvSpPr>
          <p:cNvPr id="901" name="Google Shape;901;p74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What you unlock</a:t>
            </a:r>
            <a:endParaRPr/>
          </a:p>
        </p:txBody>
      </p:sp>
      <p:sp>
        <p:nvSpPr>
          <p:cNvPr id="902" name="Google Shape;902;p74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Build a 5th playable character with whatever stats, sprite, and attack type you want.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Give them a custom attack: invent the behavior — projectile burst, screen shake, freeze, anything.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Play it against your friend in the map you built in Beat 5.</a:t>
            </a:r>
            <a:endParaRPr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6" name="Shape 9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7" name="Google Shape;907;p75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908" name="Google Shape;908;p7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909" name="Google Shape;909;p75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910" name="Google Shape;910;p75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911" name="Google Shape;911;p75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4</a:t>
            </a:r>
            <a:endParaRPr/>
          </a:p>
        </p:txBody>
      </p:sp>
      <p:sp>
        <p:nvSpPr>
          <p:cNvPr id="912" name="Google Shape;912;p75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84</a:t>
            </a:r>
            <a:endParaRPr/>
          </a:p>
        </p:txBody>
      </p:sp>
      <p:sp>
        <p:nvSpPr>
          <p:cNvPr id="913" name="Google Shape;913;p75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More ideas — stats</a:t>
            </a:r>
            <a:endParaRPr/>
          </a:p>
        </p:txBody>
      </p:sp>
      <p:sp>
        <p:nvSpPr>
          <p:cNvPr id="914" name="Google Shape;914;p75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Max walk_speed before clipping through walls: ~800. Above 1000 = chaos.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jump_impulse = 1000 → moon jump.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attack_cooldown = 0.05 → machine gun attacks.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attack_damage = 99 → one-punch.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Combine: slow + high damage = tank. Fast + low damage = glass cannon.</a:t>
            </a:r>
            <a:endParaRPr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8" name="Shape 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Google Shape;919;p76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920" name="Google Shape;920;p7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921" name="Google Shape;921;p76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922" name="Google Shape;922;p76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923" name="Google Shape;923;p76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4</a:t>
            </a:r>
            <a:endParaRPr/>
          </a:p>
        </p:txBody>
      </p:sp>
      <p:sp>
        <p:nvSpPr>
          <p:cNvPr id="924" name="Google Shape;924;p76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85</a:t>
            </a:r>
            <a:endParaRPr/>
          </a:p>
        </p:txBody>
      </p:sp>
      <p:sp>
        <p:nvSpPr>
          <p:cNvPr id="925" name="Google Shape;925;p76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More ideas — attack behavior</a:t>
            </a:r>
            <a:endParaRPr/>
          </a:p>
        </p:txBody>
      </p:sp>
      <p:sp>
        <p:nvSpPr>
          <p:cNvPr id="926" name="Google Shape;926;p76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Two projectiles: call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spawn_projectile()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twice with a tiny delay trick.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Area burst: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opponent.take_damage(attack_damage)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without checking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in_range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— always hits if facing.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Boomerang: set projectile_gravity_scale to a negative value in the dict.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Self-heal: instead of damaging the opponent, call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hp = min(hp + 10, max_hp)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Taunt: call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set_state("attack")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without dealing damage — wastes the opponent's dodge.</a:t>
            </a:r>
            <a:endParaRPr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0" name="Shape 9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" name="Google Shape;931;p77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932" name="Google Shape;932;p7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933" name="Google Shape;933;p77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934" name="Google Shape;934;p77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935" name="Google Shape;935;p77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4</a:t>
            </a:r>
            <a:endParaRPr/>
          </a:p>
        </p:txBody>
      </p:sp>
      <p:sp>
        <p:nvSpPr>
          <p:cNvPr id="936" name="Google Shape;936;p77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78</a:t>
            </a:r>
            <a:endParaRPr/>
          </a:p>
        </p:txBody>
      </p:sp>
      <p:sp>
        <p:nvSpPr>
          <p:cNvPr id="937" name="Google Shape;937;p77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You already know how to do this</a:t>
            </a:r>
            <a:endParaRPr/>
          </a:p>
        </p:txBody>
      </p:sp>
      <p:sp>
        <p:nvSpPr>
          <p:cNvPr id="938" name="Google Shape;938;p77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FC-1 ← chunks #1 + #2 (property declarations → a fresh stats dict)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FC-2 ← chunk #4 (hook a new instance into the existing system)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FC-3 ← chunks #6 + #7 (add a new </a:t>
            </a:r>
            <a:r>
              <a:rPr b="0" i="0" lang="en-US" sz="2000" u="none" cap="none" strike="noStrike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match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branch + invent attack behavior)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Every FC hole is a </a:t>
            </a:r>
            <a:r>
              <a:rPr b="0" i="1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reword</a:t>
            </a:r>
            <a:r>
              <a:rPr b="0" i="0" lang="en-US" sz="2000" u="none" cap="none" strike="noStrike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of something you wrote this morning.</a:t>
            </a:r>
            <a:endParaRPr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2" name="Shape 9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3" name="Google Shape;943;g3edd019661e_0_12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4" name="Google Shape;944;g3edd019661e_0_123"/>
          <p:cNvSpPr/>
          <p:nvPr/>
        </p:nvSpPr>
        <p:spPr>
          <a:xfrm>
            <a:off x="0" y="0"/>
            <a:ext cx="12192000" cy="457200"/>
          </a:xfrm>
          <a:prstGeom prst="rect">
            <a:avLst/>
          </a:prstGeom>
          <a:solidFill>
            <a:srgbClr val="111111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5" name="Google Shape;945;g3edd019661e_0_123"/>
          <p:cNvSpPr txBox="1"/>
          <p:nvPr/>
        </p:nvSpPr>
        <p:spPr>
          <a:xfrm>
            <a:off x="256039" y="73152"/>
            <a:ext cx="109731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Day 4  --  Adding a 5th Character</a:t>
            </a:r>
            <a:r>
              <a:rPr b="0" i="0" lang="en-US" sz="1000" u="none" cap="none" strike="noStrike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   Steps 1-3 of 6  --  main.gd</a:t>
            </a:r>
            <a:endParaRPr/>
          </a:p>
        </p:txBody>
      </p:sp>
      <p:sp>
        <p:nvSpPr>
          <p:cNvPr id="946" name="Google Shape;946;g3edd019661e_0_123"/>
          <p:cNvSpPr/>
          <p:nvPr/>
        </p:nvSpPr>
        <p:spPr>
          <a:xfrm>
            <a:off x="155452" y="557784"/>
            <a:ext cx="3911400" cy="61995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7" name="Google Shape;947;g3edd019661e_0_123"/>
          <p:cNvSpPr/>
          <p:nvPr/>
        </p:nvSpPr>
        <p:spPr>
          <a:xfrm>
            <a:off x="155452" y="557784"/>
            <a:ext cx="3911400" cy="201300"/>
          </a:xfrm>
          <a:prstGeom prst="rect">
            <a:avLst/>
          </a:prstGeom>
          <a:solidFill>
            <a:srgbClr val="111111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8" name="Google Shape;948;g3edd019661e_0_123"/>
          <p:cNvSpPr txBox="1"/>
          <p:nvPr/>
        </p:nvSpPr>
        <p:spPr>
          <a:xfrm>
            <a:off x="246895" y="589788"/>
            <a:ext cx="3728700" cy="197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8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Step 1 — Add entry to CHARACTERS  (main.gd)</a:t>
            </a:r>
            <a:endParaRPr/>
          </a:p>
        </p:txBody>
      </p:sp>
      <p:sp>
        <p:nvSpPr>
          <p:cNvPr id="949" name="Google Shape;949;g3edd019661e_0_123"/>
          <p:cNvSpPr/>
          <p:nvPr/>
        </p:nvSpPr>
        <p:spPr>
          <a:xfrm>
            <a:off x="192029" y="786384"/>
            <a:ext cx="3838200" cy="1828800"/>
          </a:xfrm>
          <a:prstGeom prst="rect">
            <a:avLst/>
          </a:prstGeom>
          <a:solidFill>
            <a:srgbClr val="2D2D2D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0" name="Google Shape;950;g3edd019661e_0_123"/>
          <p:cNvSpPr txBox="1"/>
          <p:nvPr/>
        </p:nvSpPr>
        <p:spPr>
          <a:xfrm>
            <a:off x="246895" y="809244"/>
            <a:ext cx="3728700" cy="169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"yourchar": {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   "display_name": "YourChar",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   "sprite": "res://assets/.../tile_0003.png",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   "tint": Color(1.0, 0.5, 0.0),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   "walk_speed": 250.0,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   "jump_impulse": 500.0,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   "attack_type": "melee",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   "attack_damage": 20,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   "attack_cooldown": 0.6,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   "attack_range": 70.0,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   "projectile_speed": 0.0,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   "projectile_gravity_scale": 0.0,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},</a:t>
            </a:r>
            <a:endParaRPr/>
          </a:p>
        </p:txBody>
      </p:sp>
      <p:sp>
        <p:nvSpPr>
          <p:cNvPr id="951" name="Google Shape;951;g3edd019661e_0_123"/>
          <p:cNvSpPr txBox="1"/>
          <p:nvPr/>
        </p:nvSpPr>
        <p:spPr>
          <a:xfrm>
            <a:off x="246895" y="2651760"/>
            <a:ext cx="3728700" cy="1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550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melee needs attack_range &gt; 0  |  projectile needs projectile_speed &gt; 0</a:t>
            </a:r>
            <a:endParaRPr/>
          </a:p>
        </p:txBody>
      </p:sp>
      <p:sp>
        <p:nvSpPr>
          <p:cNvPr id="952" name="Google Shape;952;g3edd019661e_0_123"/>
          <p:cNvSpPr/>
          <p:nvPr/>
        </p:nvSpPr>
        <p:spPr>
          <a:xfrm>
            <a:off x="4140208" y="557784"/>
            <a:ext cx="3911400" cy="61995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3" name="Google Shape;953;g3edd019661e_0_123"/>
          <p:cNvSpPr/>
          <p:nvPr/>
        </p:nvSpPr>
        <p:spPr>
          <a:xfrm>
            <a:off x="4140208" y="557784"/>
            <a:ext cx="3911400" cy="201300"/>
          </a:xfrm>
          <a:prstGeom prst="rect">
            <a:avLst/>
          </a:prstGeom>
          <a:solidFill>
            <a:srgbClr val="111111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4" name="Google Shape;954;g3edd019661e_0_123"/>
          <p:cNvSpPr txBox="1"/>
          <p:nvPr/>
        </p:nvSpPr>
        <p:spPr>
          <a:xfrm>
            <a:off x="4231651" y="589788"/>
            <a:ext cx="3728700" cy="197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8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Step 2 — Add name to keys list  (main.gd)</a:t>
            </a:r>
            <a:endParaRPr/>
          </a:p>
        </p:txBody>
      </p:sp>
      <p:sp>
        <p:nvSpPr>
          <p:cNvPr id="955" name="Google Shape;955;g3edd019661e_0_123"/>
          <p:cNvSpPr/>
          <p:nvPr/>
        </p:nvSpPr>
        <p:spPr>
          <a:xfrm>
            <a:off x="4176785" y="786384"/>
            <a:ext cx="3838200" cy="731400"/>
          </a:xfrm>
          <a:prstGeom prst="rect">
            <a:avLst/>
          </a:prstGeom>
          <a:solidFill>
            <a:srgbClr val="2D2D2D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6" name="Google Shape;956;g3edd019661e_0_123"/>
          <p:cNvSpPr txBox="1"/>
          <p:nvPr/>
        </p:nvSpPr>
        <p:spPr>
          <a:xfrm>
            <a:off x="4231651" y="809244"/>
            <a:ext cx="3728700" cy="708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var keys = [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   "knight", "ninja",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   "mage", "archer",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   "beast", "yourchar"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]</a:t>
            </a:r>
            <a:endParaRPr/>
          </a:p>
        </p:txBody>
      </p:sp>
      <p:sp>
        <p:nvSpPr>
          <p:cNvPr id="957" name="Google Shape;957;g3edd019661e_0_123"/>
          <p:cNvSpPr txBox="1"/>
          <p:nvPr/>
        </p:nvSpPr>
        <p:spPr>
          <a:xfrm>
            <a:off x="4231651" y="1554480"/>
            <a:ext cx="3728700" cy="1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550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_unhandled_input()  •  name must match Step 1 key exactly</a:t>
            </a:r>
            <a:endParaRPr/>
          </a:p>
        </p:txBody>
      </p:sp>
      <p:sp>
        <p:nvSpPr>
          <p:cNvPr id="958" name="Google Shape;958;g3edd019661e_0_123"/>
          <p:cNvSpPr/>
          <p:nvPr/>
        </p:nvSpPr>
        <p:spPr>
          <a:xfrm>
            <a:off x="8124965" y="557784"/>
            <a:ext cx="3911400" cy="61995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9" name="Google Shape;959;g3edd019661e_0_123"/>
          <p:cNvSpPr/>
          <p:nvPr/>
        </p:nvSpPr>
        <p:spPr>
          <a:xfrm>
            <a:off x="8124965" y="557784"/>
            <a:ext cx="3911400" cy="201300"/>
          </a:xfrm>
          <a:prstGeom prst="rect">
            <a:avLst/>
          </a:prstGeom>
          <a:solidFill>
            <a:srgbClr val="111111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0" name="Google Shape;960;g3edd019661e_0_123"/>
          <p:cNvSpPr txBox="1"/>
          <p:nvPr/>
        </p:nvSpPr>
        <p:spPr>
          <a:xfrm>
            <a:off x="8216407" y="589788"/>
            <a:ext cx="3728700" cy="197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8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Step 3 — Expand key capture range  (main.gd)</a:t>
            </a:r>
            <a:endParaRPr/>
          </a:p>
        </p:txBody>
      </p:sp>
      <p:sp>
        <p:nvSpPr>
          <p:cNvPr id="961" name="Google Shape;961;g3edd019661e_0_123"/>
          <p:cNvSpPr/>
          <p:nvPr/>
        </p:nvSpPr>
        <p:spPr>
          <a:xfrm>
            <a:off x="8161542" y="786384"/>
            <a:ext cx="3838200" cy="731400"/>
          </a:xfrm>
          <a:prstGeom prst="rect">
            <a:avLst/>
          </a:prstGeom>
          <a:solidFill>
            <a:srgbClr val="2D2D2D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2" name="Google Shape;962;g3edd019661e_0_123"/>
          <p:cNvSpPr txBox="1"/>
          <p:nvPr/>
        </p:nvSpPr>
        <p:spPr>
          <a:xfrm>
            <a:off x="8216407" y="809244"/>
            <a:ext cx="3728700" cy="708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# Before (captures keys 1-5):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event.keycode &lt;= KEY_5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800">
              <a:solidFill>
                <a:srgbClr val="E6E6E6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# After (captures keys 1-6):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event.keycode &lt;= KEY_6</a:t>
            </a:r>
            <a:endParaRPr/>
          </a:p>
        </p:txBody>
      </p:sp>
      <p:sp>
        <p:nvSpPr>
          <p:cNvPr id="963" name="Google Shape;963;g3edd019661e_0_123"/>
          <p:cNvSpPr txBox="1"/>
          <p:nvPr/>
        </p:nvSpPr>
        <p:spPr>
          <a:xfrm>
            <a:off x="8216407" y="1554480"/>
            <a:ext cx="3728700" cy="1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550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_unhandled_input()  •  change the upper bound to match your new key number</a:t>
            </a:r>
            <a:endParaRPr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7" name="Shape 9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8" name="Google Shape;968;g3edd019661e_0_147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9" name="Google Shape;969;g3edd019661e_0_147"/>
          <p:cNvSpPr/>
          <p:nvPr/>
        </p:nvSpPr>
        <p:spPr>
          <a:xfrm>
            <a:off x="0" y="0"/>
            <a:ext cx="12192000" cy="457200"/>
          </a:xfrm>
          <a:prstGeom prst="rect">
            <a:avLst/>
          </a:prstGeom>
          <a:solidFill>
            <a:srgbClr val="111111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0" name="Google Shape;970;g3edd019661e_0_147"/>
          <p:cNvSpPr txBox="1"/>
          <p:nvPr/>
        </p:nvSpPr>
        <p:spPr>
          <a:xfrm>
            <a:off x="256039" y="73152"/>
            <a:ext cx="109731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Day 4  --  Adding a 5th Character</a:t>
            </a:r>
            <a:r>
              <a:rPr b="0" i="0" lang="en-US" sz="1000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   Steps 4-6 of 6  --  main.gd  /  player.gd</a:t>
            </a:r>
            <a:endParaRPr/>
          </a:p>
        </p:txBody>
      </p:sp>
      <p:sp>
        <p:nvSpPr>
          <p:cNvPr id="971" name="Google Shape;971;g3edd019661e_0_147"/>
          <p:cNvSpPr/>
          <p:nvPr/>
        </p:nvSpPr>
        <p:spPr>
          <a:xfrm>
            <a:off x="155452" y="557784"/>
            <a:ext cx="3911400" cy="61995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2" name="Google Shape;972;g3edd019661e_0_147"/>
          <p:cNvSpPr/>
          <p:nvPr/>
        </p:nvSpPr>
        <p:spPr>
          <a:xfrm>
            <a:off x="155452" y="557784"/>
            <a:ext cx="3911400" cy="201300"/>
          </a:xfrm>
          <a:prstGeom prst="rect">
            <a:avLst/>
          </a:prstGeom>
          <a:solidFill>
            <a:srgbClr val="111111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3" name="Google Shape;973;g3edd019661e_0_147"/>
          <p:cNvSpPr txBox="1"/>
          <p:nvPr/>
        </p:nvSpPr>
        <p:spPr>
          <a:xfrm>
            <a:off x="246895" y="589788"/>
            <a:ext cx="3728700" cy="197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8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Step 4 — Update selection guard  (main.gd)</a:t>
            </a:r>
            <a:endParaRPr/>
          </a:p>
        </p:txBody>
      </p:sp>
      <p:sp>
        <p:nvSpPr>
          <p:cNvPr id="974" name="Google Shape;974;g3edd019661e_0_147"/>
          <p:cNvSpPr/>
          <p:nvPr/>
        </p:nvSpPr>
        <p:spPr>
          <a:xfrm>
            <a:off x="192029" y="786384"/>
            <a:ext cx="3838200" cy="1005900"/>
          </a:xfrm>
          <a:prstGeom prst="rect">
            <a:avLst/>
          </a:prstGeom>
          <a:solidFill>
            <a:srgbClr val="2D2D2D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5" name="Google Shape;975;g3edd019661e_0_147"/>
          <p:cNvSpPr txBox="1"/>
          <p:nvPr/>
        </p:nvSpPr>
        <p:spPr>
          <a:xfrm>
            <a:off x="246895" y="809244"/>
            <a:ext cx="3728700" cy="95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# Before (both char_select branches):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if key_num &gt;= 1 and key_num &lt;= 5: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   p1_choice = keys[key_num - 1]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800">
              <a:solidFill>
                <a:srgbClr val="E6E6E6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# After: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if key_num &gt;= 1 and key_num &lt;= 6: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   p1_choice = keys[key_num - 1]</a:t>
            </a:r>
            <a:endParaRPr/>
          </a:p>
        </p:txBody>
      </p:sp>
      <p:sp>
        <p:nvSpPr>
          <p:cNvPr id="976" name="Google Shape;976;g3edd019661e_0_147"/>
          <p:cNvSpPr txBox="1"/>
          <p:nvPr/>
        </p:nvSpPr>
        <p:spPr>
          <a:xfrm>
            <a:off x="246895" y="1828800"/>
            <a:ext cx="3728700" cy="1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550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_unhandled_input()  •  change in BOTH char_select_p1 and char_select_p2 branches</a:t>
            </a:r>
            <a:endParaRPr/>
          </a:p>
        </p:txBody>
      </p:sp>
      <p:sp>
        <p:nvSpPr>
          <p:cNvPr id="977" name="Google Shape;977;g3edd019661e_0_147"/>
          <p:cNvSpPr/>
          <p:nvPr/>
        </p:nvSpPr>
        <p:spPr>
          <a:xfrm>
            <a:off x="4140208" y="557784"/>
            <a:ext cx="3911400" cy="61995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8" name="Google Shape;978;g3edd019661e_0_147"/>
          <p:cNvSpPr/>
          <p:nvPr/>
        </p:nvSpPr>
        <p:spPr>
          <a:xfrm>
            <a:off x="4140208" y="557784"/>
            <a:ext cx="3911400" cy="201300"/>
          </a:xfrm>
          <a:prstGeom prst="rect">
            <a:avLst/>
          </a:prstGeom>
          <a:solidFill>
            <a:srgbClr val="111111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9" name="Google Shape;979;g3edd019661e_0_147"/>
          <p:cNvSpPr txBox="1"/>
          <p:nvPr/>
        </p:nvSpPr>
        <p:spPr>
          <a:xfrm>
            <a:off x="4231651" y="589788"/>
            <a:ext cx="3728700" cy="197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8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Step 5 — Update menu display text  (main.gd)</a:t>
            </a:r>
            <a:endParaRPr/>
          </a:p>
        </p:txBody>
      </p:sp>
      <p:sp>
        <p:nvSpPr>
          <p:cNvPr id="980" name="Google Shape;980;g3edd019661e_0_147"/>
          <p:cNvSpPr/>
          <p:nvPr/>
        </p:nvSpPr>
        <p:spPr>
          <a:xfrm>
            <a:off x="4176785" y="786384"/>
            <a:ext cx="3838200" cy="1005900"/>
          </a:xfrm>
          <a:prstGeom prst="rect">
            <a:avLst/>
          </a:prstGeom>
          <a:solidFill>
            <a:srgbClr val="2D2D2D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1" name="Google Shape;981;g3edd019661e_0_147"/>
          <p:cNvSpPr txBox="1"/>
          <p:nvPr/>
        </p:nvSpPr>
        <p:spPr>
          <a:xfrm>
            <a:off x="4231651" y="809244"/>
            <a:ext cx="3728700" cy="95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# Find title_label.text in set_screen().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# Add your character at the end: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800">
              <a:solidFill>
                <a:srgbClr val="E6E6E6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"P1 — pick your fighter:\n"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"1=Knight  2=Ninja  3=Mage\n"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"4=Archer  5=Beast  6=YourChar\n"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"(Space confirms)"</a:t>
            </a:r>
            <a:endParaRPr/>
          </a:p>
        </p:txBody>
      </p:sp>
      <p:sp>
        <p:nvSpPr>
          <p:cNvPr id="982" name="Google Shape;982;g3edd019661e_0_147"/>
          <p:cNvSpPr txBox="1"/>
          <p:nvPr/>
        </p:nvSpPr>
        <p:spPr>
          <a:xfrm>
            <a:off x="4231651" y="1828800"/>
            <a:ext cx="3728700" cy="1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550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set_screen()  •  update BOTH "char_select_p1" and "char_select_p2" text strings</a:t>
            </a:r>
            <a:endParaRPr/>
          </a:p>
        </p:txBody>
      </p:sp>
      <p:sp>
        <p:nvSpPr>
          <p:cNvPr id="983" name="Google Shape;983;g3edd019661e_0_147"/>
          <p:cNvSpPr/>
          <p:nvPr/>
        </p:nvSpPr>
        <p:spPr>
          <a:xfrm>
            <a:off x="8124965" y="557784"/>
            <a:ext cx="3911400" cy="61995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CCCCC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4" name="Google Shape;984;g3edd019661e_0_147"/>
          <p:cNvSpPr/>
          <p:nvPr/>
        </p:nvSpPr>
        <p:spPr>
          <a:xfrm>
            <a:off x="8124965" y="557784"/>
            <a:ext cx="3911400" cy="201300"/>
          </a:xfrm>
          <a:prstGeom prst="rect">
            <a:avLst/>
          </a:prstGeom>
          <a:solidFill>
            <a:srgbClr val="111111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5" name="Google Shape;985;g3edd019661e_0_147"/>
          <p:cNvSpPr txBox="1"/>
          <p:nvPr/>
        </p:nvSpPr>
        <p:spPr>
          <a:xfrm>
            <a:off x="8216407" y="589788"/>
            <a:ext cx="3728700" cy="197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8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Step 6 — Add attack branch  (player.gd)</a:t>
            </a:r>
            <a:endParaRPr/>
          </a:p>
        </p:txBody>
      </p:sp>
      <p:sp>
        <p:nvSpPr>
          <p:cNvPr id="986" name="Google Shape;986;g3edd019661e_0_147"/>
          <p:cNvSpPr/>
          <p:nvPr/>
        </p:nvSpPr>
        <p:spPr>
          <a:xfrm>
            <a:off x="8161542" y="786384"/>
            <a:ext cx="3838200" cy="1143000"/>
          </a:xfrm>
          <a:prstGeom prst="rect">
            <a:avLst/>
          </a:prstGeom>
          <a:solidFill>
            <a:srgbClr val="2D2D2D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7" name="Google Shape;987;g3edd019661e_0_147"/>
          <p:cNvSpPr txBox="1"/>
          <p:nvPr/>
        </p:nvSpPr>
        <p:spPr>
          <a:xfrm>
            <a:off x="8216407" y="809244"/>
            <a:ext cx="3728700" cy="1077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# In attack()  match attack_type: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"custom":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   var opp = get_opponent()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   if opp == null or opp.is_dead():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       return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   opp.take_damage(attack_damage)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   # hp += 10   # heal instead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>
                <a:solidFill>
                  <a:srgbClr val="E6E6E6"/>
                </a:solidFill>
                <a:latin typeface="Consolas"/>
                <a:ea typeface="Consolas"/>
                <a:cs typeface="Consolas"/>
                <a:sym typeface="Consolas"/>
              </a:rPr>
              <a:t>    # spawn_projectile()   # fire shot</a:t>
            </a:r>
            <a:endParaRPr/>
          </a:p>
        </p:txBody>
      </p:sp>
      <p:sp>
        <p:nvSpPr>
          <p:cNvPr id="988" name="Google Shape;988;g3edd019661e_0_147"/>
          <p:cNvSpPr txBox="1"/>
          <p:nvPr/>
        </p:nvSpPr>
        <p:spPr>
          <a:xfrm>
            <a:off x="8216407" y="1965960"/>
            <a:ext cx="3728700" cy="1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550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Only needed if attack_type is "custom" — skip for melee or projectile</a:t>
            </a:r>
            <a:endParaRPr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2" name="Shape 9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" name="Google Shape;993;p79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994" name="Google Shape;994;p7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995" name="Google Shape;995;p79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2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996" name="Google Shape;996;p79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997" name="Google Shape;997;p79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4</a:t>
            </a:r>
            <a:endParaRPr/>
          </a:p>
        </p:txBody>
      </p:sp>
      <p:sp>
        <p:nvSpPr>
          <p:cNvPr id="998" name="Google Shape;998;p79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86</a:t>
            </a:r>
            <a:endParaRPr/>
          </a:p>
        </p:txBody>
      </p:sp>
      <p:sp>
        <p:nvSpPr>
          <p:cNvPr id="999" name="Google Shape;999;p79"/>
          <p:cNvSpPr txBox="1"/>
          <p:nvPr/>
        </p:nvSpPr>
        <p:spPr>
          <a:xfrm>
            <a:off x="457200" y="1051560"/>
            <a:ext cx="11277295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Objects + State. Two big ideas.</a:t>
            </a:r>
            <a:endParaRPr/>
          </a:p>
        </p:txBody>
      </p:sp>
      <p:sp>
        <p:nvSpPr>
          <p:cNvPr id="1000" name="Google Shape;1000;p79"/>
          <p:cNvSpPr txBox="1"/>
          <p:nvPr/>
        </p:nvSpPr>
        <p:spPr>
          <a:xfrm>
            <a:off x="457200" y="2148840"/>
            <a:ext cx="11277295" cy="43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</a:t>
            </a:r>
            <a:r>
              <a:rPr b="1" i="0" lang="en-US" sz="2000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OBJECT</a:t>
            </a:r>
            <a:r>
              <a:rPr b="0" i="0" lang="en-US" sz="2000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— a thing in code that remembers its own data and can do things. Every fighter is one </a:t>
            </a:r>
            <a:r>
              <a:rPr b="0" i="0" lang="en-US" sz="2000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b="0" i="0" lang="en-US" sz="2000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object with its own </a:t>
            </a:r>
            <a:r>
              <a:rPr b="0" i="0" lang="en-US" sz="2000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hp</a:t>
            </a:r>
            <a:r>
              <a:rPr b="0" i="0" lang="en-US" sz="2000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, </a:t>
            </a:r>
            <a:r>
              <a:rPr b="0" i="0" lang="en-US" sz="2000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walk_speed</a:t>
            </a:r>
            <a:r>
              <a:rPr b="0" i="0" lang="en-US" sz="2000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, and </a:t>
            </a:r>
            <a:r>
              <a:rPr b="0" i="0" lang="en-US" sz="2000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state</a:t>
            </a:r>
            <a:r>
              <a:rPr b="0" i="0" lang="en-US" sz="2000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</a:t>
            </a:r>
            <a:r>
              <a:rPr b="1" i="0" lang="en-US" sz="2000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STATE</a:t>
            </a:r>
            <a:r>
              <a:rPr b="0" i="0" lang="en-US" sz="2000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 — a mode that changes the object's behavior every frame. Six states: </a:t>
            </a:r>
            <a:r>
              <a:rPr b="0" i="0" lang="en-US" sz="2000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idle</a:t>
            </a:r>
            <a:r>
              <a:rPr b="0" i="0" lang="en-US" sz="2000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, </a:t>
            </a:r>
            <a:r>
              <a:rPr b="0" i="0" lang="en-US" sz="2000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walk</a:t>
            </a:r>
            <a:r>
              <a:rPr b="0" i="0" lang="en-US" sz="2000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, </a:t>
            </a:r>
            <a:r>
              <a:rPr b="0" i="0" lang="en-US" sz="2000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jump</a:t>
            </a:r>
            <a:r>
              <a:rPr b="0" i="0" lang="en-US" sz="2000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, </a:t>
            </a:r>
            <a:r>
              <a:rPr b="0" i="0" lang="en-US" sz="2000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fall</a:t>
            </a:r>
            <a:r>
              <a:rPr b="0" i="0" lang="en-US" sz="2000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, </a:t>
            </a:r>
            <a:r>
              <a:rPr b="0" i="0" lang="en-US" sz="2000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attack</a:t>
            </a:r>
            <a:r>
              <a:rPr b="0" i="0" lang="en-US" sz="2000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, </a:t>
            </a:r>
            <a:r>
              <a:rPr b="0" i="0" lang="en-US" sz="2000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hit</a:t>
            </a:r>
            <a:r>
              <a:rPr b="0" i="0" lang="en-US" sz="2000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/</a:t>
            </a:r>
            <a:r>
              <a:rPr b="0" i="0" lang="en-US" sz="2000">
                <a:solidFill>
                  <a:srgbClr val="1A1A1A"/>
                </a:solidFill>
                <a:latin typeface="Consolas"/>
                <a:ea typeface="Consolas"/>
                <a:cs typeface="Consolas"/>
                <a:sym typeface="Consolas"/>
              </a:rPr>
              <a:t>dead</a:t>
            </a:r>
            <a:r>
              <a:rPr b="0" i="0" lang="en-US" sz="2000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•  </a:t>
            </a:r>
            <a:r>
              <a:rPr b="0" i="0" lang="en-US" sz="2000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Together: a fighter that knows what it is AND what it's doing. That's a game character.</a:t>
            </a:r>
            <a:endParaRPr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4" name="Shape 10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Google Shape;1005;p8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1006" name="Google Shape;1006;p8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1007" name="Google Shape;1007;p80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2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1008" name="Google Shape;1008;p80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1009" name="Google Shape;1009;p80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4</a:t>
            </a:r>
            <a:endParaRPr/>
          </a:p>
        </p:txBody>
      </p:sp>
      <p:sp>
        <p:nvSpPr>
          <p:cNvPr id="1010" name="Google Shape;1010;p80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87</a:t>
            </a:r>
            <a:endParaRPr/>
          </a:p>
        </p:txBody>
      </p:sp>
      <p:sp>
        <p:nvSpPr>
          <p:cNvPr id="1011" name="Google Shape;1011;p80"/>
          <p:cNvSpPr txBox="1"/>
          <p:nvPr/>
        </p:nvSpPr>
        <p:spPr>
          <a:xfrm>
            <a:off x="457200" y="2148840"/>
            <a:ext cx="11277295" cy="182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400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Tomorrow: Day 5</a:t>
            </a:r>
            <a:endParaRPr/>
          </a:p>
        </p:txBody>
      </p:sp>
      <p:sp>
        <p:nvSpPr>
          <p:cNvPr id="1012" name="Google Shape;1012;p80"/>
          <p:cNvSpPr txBox="1"/>
          <p:nvPr/>
        </p:nvSpPr>
        <p:spPr>
          <a:xfrm>
            <a:off x="457200" y="4160520"/>
            <a:ext cx="1127729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No new code. Play what you built across four days, show it off, and take it home.</a:t>
            </a:r>
            <a:endParaRPr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6" name="Shape 10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7" name="Google Shape;1017;p8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code_logo_red.png" id="1018" name="Google Shape;1018;p8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7160"/>
            <a:ext cx="784435" cy="594360"/>
          </a:xfrm>
          <a:prstGeom prst="rect">
            <a:avLst/>
          </a:prstGeom>
          <a:noFill/>
          <a:ln>
            <a:noFill/>
          </a:ln>
        </p:spPr>
      </p:pic>
      <p:sp>
        <p:nvSpPr>
          <p:cNvPr id="1019" name="Google Shape;1019;p81"/>
          <p:cNvSpPr txBox="1"/>
          <p:nvPr/>
        </p:nvSpPr>
        <p:spPr>
          <a:xfrm>
            <a:off x="1051560" y="4572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2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iCode</a:t>
            </a:r>
            <a:endParaRPr/>
          </a:p>
        </p:txBody>
      </p:sp>
      <p:sp>
        <p:nvSpPr>
          <p:cNvPr id="1020" name="Google Shape;1020;p81"/>
          <p:cNvSpPr txBox="1"/>
          <p:nvPr/>
        </p:nvSpPr>
        <p:spPr>
          <a:xfrm>
            <a:off x="1051560" y="54864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EMPOWERING FUTURE INNOVATORS</a:t>
            </a:r>
            <a:endParaRPr/>
          </a:p>
        </p:txBody>
      </p:sp>
      <p:sp>
        <p:nvSpPr>
          <p:cNvPr id="1021" name="Google Shape;1021;p81"/>
          <p:cNvSpPr txBox="1"/>
          <p:nvPr/>
        </p:nvSpPr>
        <p:spPr>
          <a:xfrm>
            <a:off x="10454335" y="228600"/>
            <a:ext cx="1463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E53A2C"/>
                </a:solidFill>
                <a:latin typeface="Poppins"/>
                <a:ea typeface="Poppins"/>
                <a:cs typeface="Poppins"/>
                <a:sym typeface="Poppins"/>
              </a:rPr>
              <a:t>DAY 4</a:t>
            </a:r>
            <a:endParaRPr/>
          </a:p>
        </p:txBody>
      </p:sp>
      <p:sp>
        <p:nvSpPr>
          <p:cNvPr id="1022" name="Google Shape;1022;p81"/>
          <p:cNvSpPr txBox="1"/>
          <p:nvPr/>
        </p:nvSpPr>
        <p:spPr>
          <a:xfrm>
            <a:off x="11277295" y="6446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88</a:t>
            </a:r>
            <a:endParaRPr/>
          </a:p>
        </p:txBody>
      </p:sp>
      <p:sp>
        <p:nvSpPr>
          <p:cNvPr id="1023" name="Google Shape;1023;p81"/>
          <p:cNvSpPr txBox="1"/>
          <p:nvPr/>
        </p:nvSpPr>
        <p:spPr>
          <a:xfrm>
            <a:off x="457200" y="2601575"/>
            <a:ext cx="11277295" cy="92333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400">
                <a:solidFill>
                  <a:srgbClr val="1A1A1A"/>
                </a:solidFill>
                <a:latin typeface="Poppins"/>
                <a:ea typeface="Poppins"/>
                <a:cs typeface="Poppins"/>
                <a:sym typeface="Poppins"/>
              </a:rPr>
              <a:t>Export’n time</a:t>
            </a:r>
            <a:endParaRPr b="1" i="0" sz="5400">
              <a:solidFill>
                <a:srgbClr val="1A1A1A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24" name="Google Shape;1024;p81"/>
          <p:cNvSpPr txBox="1"/>
          <p:nvPr/>
        </p:nvSpPr>
        <p:spPr>
          <a:xfrm>
            <a:off x="457200" y="4160520"/>
            <a:ext cx="11277295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>
                <a:solidFill>
                  <a:srgbClr val="8A8A8A"/>
                </a:solidFill>
                <a:latin typeface="Poppins"/>
                <a:ea typeface="Poppins"/>
                <a:cs typeface="Poppins"/>
                <a:sym typeface="Poppins"/>
              </a:rPr>
              <a:t>.exe bro, ain’t no other way to go</a:t>
            </a:r>
            <a:endParaRPr b="0" i="0" sz="2400">
              <a:solidFill>
                <a:srgbClr val="8A8A8A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