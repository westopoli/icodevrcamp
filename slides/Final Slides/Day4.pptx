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46" r:id="rId67"/>
    <p:sldId id="347" r:id="rId68"/>
    <p:sldId id="326" r:id="rId69"/>
    <p:sldId id="327" r:id="rId70"/>
    <p:sldId id="344" r:id="rId71"/>
    <p:sldId id="328" r:id="rId72"/>
    <p:sldId id="329" r:id="rId73"/>
    <p:sldId id="330" r:id="rId74"/>
    <p:sldId id="332" r:id="rId75"/>
    <p:sldId id="339" r:id="rId76"/>
    <p:sldId id="340" r:id="rId77"/>
    <p:sldId id="333" r:id="rId78"/>
    <p:sldId id="345" r:id="rId79"/>
    <p:sldId id="341" r:id="rId80"/>
    <p:sldId id="342" r:id="rId81"/>
    <p:sldId id="343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3"/>
    <p:restoredTop sz="94638"/>
  </p:normalViewPr>
  <p:slideViewPr>
    <p:cSldViewPr snapToGrid="0" snapToObjects="1">
      <p:cViewPr varScale="1">
        <p:scale>
          <a:sx n="173" d="100"/>
          <a:sy n="173" d="100"/>
        </p:scale>
        <p:origin x="81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0579"/>
            <a:ext cx="11277295" cy="25853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Day 4 — 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VR Camp</a:t>
            </a:r>
          </a:p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2-Player Fighter · 1999 · Smash Bros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fighters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1984: Karate Champ — two-player on one screen, invented the genre.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1992: Street Fighter II goes to arcades — quarter-eating, combos, characters with personalities.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1999: Super Smash Bros — stock lives, platform stages, no health bars, four players. Chaos perfected.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2D fighters are the petri dish where character stats, state machines, and hitboxes were invented.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D3: Functions + Lists — every enemy is a dict in a list; functions scan it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D4: Objects + State — every fighter is an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object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remembers its own HP and knows what it's doing right now.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Shift: from "a list of dicts" → "a class that gives each fighter its own memory."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D1: Variables + Conditions — Racer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D2: Loops + Functions (intro) — Maze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D3: Functions (deep) + Lists —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D4: Objects + State — Fighter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you are here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D5: No new code — Showcase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new ideas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OBJECTS — a fighter that remembers its own stats and handles its own damage.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STATE — a fighter that knows what it's doing right now (idle / walk / jump / attack / hit / dead).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the Day 4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the Day 4 Fighter project the same way you did yesterday.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script editor — this is where most of today's chunks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player.gd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FileSystem panel (lower-left)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double-click → Script editor opens.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D4WM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5006"/>
            <a:ext cx="6766377" cy="36423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menus already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D4WC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0423"/>
            <a:ext cx="6766377" cy="41115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CHARACTERS dict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11 properties per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display_name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shown in char-select panel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sprite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path to the Kenney sprite PNG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Color(R, G, B)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tint applied via Modulate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pixels/second horizontal movement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jump_impulse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upward velocity on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attack_type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"melee"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"projectile"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HP removed per hit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seconds between attacks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melee reach in pixels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projectile_speed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speed of fired projectile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projectile_gravity_scale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projectile falls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Each character is a dict. Each fighter will be an object.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Right now: characters are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dicts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plain data, no behaviour.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Today: the Player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class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gets the same property names — so each Player object owns its own copy of those values.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runs, it copies from the dict into the object. Knight's walk_speed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self.walk_speed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Meet the pandas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An object is a thing in code that remembers its own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Blueprint vs panda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Class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the blueprint. Describes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what kind of data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 panda has. Written once.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Instance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one actual panda, created from that blueprint. Has its own copy of every property.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Three pandas on screen → three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instances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One blueprint →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Panda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class.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Properties +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Property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a piece of data the object remembers.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hunger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personality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Method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something the object can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eat()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instance has its own property values — but shares the same methods.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Quick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Panda A: hp = 80, hunger = 30.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P1 attacks Panda A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take_damage(15)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Panda A hp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65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Does Panda B's hp change?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Each instance has its own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Damage to A doesn't touch 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Panda class in GDScript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class</a:t>
            </a:r>
            <a:r>
              <a:rPr sz="1800">
                <a:solidFill>
                  <a:srgbClr val="E6E6E6"/>
                </a:solidFill>
                <a:latin typeface="Consolas"/>
              </a:rPr>
              <a:t> Panda: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hp    :=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hunger :=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personality := </a:t>
            </a:r>
            <a:r>
              <a:rPr sz="1800">
                <a:solidFill>
                  <a:srgbClr val="CE9178"/>
                </a:solidFill>
                <a:latin typeface="Consolas"/>
              </a:rPr>
              <a:t>"lazy"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take_damage(amount):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hp -= 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hp &lt;=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die()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die():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(personality, </a:t>
            </a:r>
            <a:r>
              <a:rPr sz="1800">
                <a:solidFill>
                  <a:srgbClr val="CE9178"/>
                </a:solidFill>
                <a:latin typeface="Consolas"/>
              </a:rPr>
              <a:t>" panda fainted"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7 panda personalities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lazy — sits around, minimal movement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playful — chases other pandas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aggressive — attacks on sight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nervous — runs away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hungry — seeks bamboo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sleepy — falls asleep mid-fight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sneezy — random sneeze knocks back nearby pandas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Objects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enemy is an object — its own HP, position, and AI state.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bullet is an object — its own speed, direction, and damage.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item on the ground is an object — its own type and pickup range.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game loop just calls methods on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enemy.update(delta)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bullet.move(delta)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One class. Two fighters.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class (in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Instantiated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twice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once for P1, once for P2.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instance has its own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position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character stats.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They share the same methods: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player.gd:48-52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5A2533-29FF-A0AC-C773-DC30DB793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74" y="2313068"/>
            <a:ext cx="6891841" cy="26890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Declare the three things every Player needs to remember about itself: hp (start at 100), max_hp (also 100, for the HP bar), and facing (start at 1 = looking right).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Panda analogy: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class</a:t>
            </a:r>
            <a:r>
              <a:rPr sz="1800">
                <a:solidFill>
                  <a:srgbClr val="E6E6E6"/>
                </a:solidFill>
                <a:latin typeface="Consolas"/>
              </a:rPr>
              <a:t> Panda: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hp      :=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max_hp  :=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facing  :=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A20515-929E-49EA-65D1-3203E1BEC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49" y="3497580"/>
            <a:ext cx="6210351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No visible payoff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Chunk #1 adds properties the game will use — but nothing appears on screen until chunk #4. Keep going.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Run the game — confirm no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and confirm it opens without errors.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what KIND of panda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Every fighter has different stats — Knight hits hard, Ninja moves fast. Those differences live in the CHARACTERS dict. Now we pull them into the object.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Dict → setup() → object vars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dict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holds raw stat values for each character.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setup(char_key, player_num)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once when a fighter spawns — it reads the dict and copies values into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self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properties.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 fighter knows its own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etc. — no more looking up the dict.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Quick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P1 picks Knight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walk_speed: 220.0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 P2 picks Ninja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walk_speed: 310.0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for each fighter, what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p1.walk_speed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 What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p2.walk_speed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p1.walk_speed = 220.0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p2.walk_speed = 310.0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Independent copies.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player.gd:54-61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08EA5A-AF22-3A2F-7568-5FFCF349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71" y="2910215"/>
            <a:ext cx="6854457" cy="18854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Declare five more properties — walk_speed, jump_impulse, attack_type, attack_damage, attack_cooldown — with Knight's stats as defaults (see main.gd:6-59 CHARACTERS[\"knight\"]). setup() overwrites them with the picked character's stats.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In main.gd CHARACTERS["knight"]: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"walk_speed"</a:t>
            </a:r>
            <a:r>
              <a:rPr sz="1800">
                <a:solidFill>
                  <a:srgbClr val="E6E6E6"/>
                </a:solidFill>
                <a:latin typeface="Consolas"/>
              </a:rPr>
              <a:t>:    </a:t>
            </a:r>
            <a:r>
              <a:rPr sz="1800">
                <a:solidFill>
                  <a:srgbClr val="B5CEA8"/>
                </a:solidFill>
                <a:latin typeface="Consolas"/>
              </a:rPr>
              <a:t>220.0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"jump_impulse"</a:t>
            </a:r>
            <a:r>
              <a:rPr sz="1800">
                <a:solidFill>
                  <a:srgbClr val="E6E6E6"/>
                </a:solidFill>
                <a:latin typeface="Consolas"/>
              </a:rPr>
              <a:t>:  </a:t>
            </a:r>
            <a:r>
              <a:rPr sz="1800">
                <a:solidFill>
                  <a:srgbClr val="B5CEA8"/>
                </a:solidFill>
                <a:latin typeface="Consolas"/>
              </a:rPr>
              <a:t>540.0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"attack_type"</a:t>
            </a:r>
            <a:r>
              <a:rPr sz="1800">
                <a:solidFill>
                  <a:srgbClr val="E6E6E6"/>
                </a:solidFill>
                <a:latin typeface="Consolas"/>
              </a:rPr>
              <a:t>:   </a:t>
            </a:r>
            <a:r>
              <a:rPr sz="1800">
                <a:solidFill>
                  <a:srgbClr val="CE9178"/>
                </a:solidFill>
                <a:latin typeface="Consolas"/>
              </a:rPr>
              <a:t>"melee"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"attack_damage"</a:t>
            </a:r>
            <a:r>
              <a:rPr sz="1800">
                <a:solidFill>
                  <a:srgbClr val="E6E6E6"/>
                </a:solidFill>
                <a:latin typeface="Consolas"/>
              </a:rPr>
              <a:t>: </a:t>
            </a:r>
            <a:r>
              <a:rPr sz="1800">
                <a:solidFill>
                  <a:srgbClr val="B5CEA8"/>
                </a:solidFill>
                <a:latin typeface="Consolas"/>
              </a:rPr>
              <a:t>15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"attack_cooldown"</a:t>
            </a:r>
            <a:r>
              <a:rPr sz="1800">
                <a:solidFill>
                  <a:srgbClr val="E6E6E6"/>
                </a:solidFill>
                <a:latin typeface="Consolas"/>
              </a:rPr>
              <a:t>: </a:t>
            </a:r>
            <a:r>
              <a:rPr sz="1800">
                <a:solidFill>
                  <a:srgbClr val="B5CEA8"/>
                </a:solidFill>
                <a:latin typeface="Consolas"/>
              </a:rPr>
              <a:t>0.5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A44CA9-1E07-A3C5-9421-634E80311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31" y="3710382"/>
            <a:ext cx="5932170" cy="163179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6077"/>
            <a:ext cx="11277295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Like </a:t>
            </a:r>
            <a:r>
              <a:rPr lang="en-US" sz="5400" b="1" dirty="0">
                <a:solidFill>
                  <a:srgbClr val="1A1A1A"/>
                </a:solidFill>
                <a:latin typeface="Poppins"/>
              </a:rPr>
              <a:t>t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each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ing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 the panda how to lose 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health</a:t>
            </a:r>
            <a:r>
              <a:rPr lang="en-US" sz="5400" b="1" dirty="0">
                <a:solidFill>
                  <a:srgbClr val="1A1A1A"/>
                </a:solidFill>
                <a:latin typeface="Poppins"/>
              </a:rPr>
              <a:t>…</a:t>
            </a:r>
            <a:endParaRPr sz="54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We’ll teach our characters how to lose HP</a:t>
            </a:r>
          </a:p>
          <a:p>
            <a:pPr algn="ctr"/>
            <a:endParaRPr lang="en-US" sz="2400" dirty="0">
              <a:solidFill>
                <a:srgbClr val="8A8A8A"/>
              </a:solidFill>
              <a:latin typeface="Poppins"/>
            </a:endParaRPr>
          </a:p>
          <a:p>
            <a:pPr algn="ctr"/>
            <a:r>
              <a:rPr sz="2400" b="0" i="0" dirty="0">
                <a:solidFill>
                  <a:srgbClr val="8A8A8A"/>
                </a:solidFill>
                <a:latin typeface="Poppins"/>
              </a:rPr>
              <a:t>Properties store data. Methods make the object </a:t>
            </a:r>
            <a:r>
              <a:rPr sz="2400" b="0" i="1" dirty="0">
                <a:solidFill>
                  <a:srgbClr val="8A8A8A"/>
                </a:solidFill>
                <a:latin typeface="Poppins"/>
              </a:rPr>
              <a:t>do</a:t>
            </a:r>
            <a:r>
              <a:rPr sz="2400" b="0" i="0" dirty="0">
                <a:solidFill>
                  <a:srgbClr val="8A8A8A"/>
                </a:solidFill>
                <a:latin typeface="Poppins"/>
              </a:rPr>
              <a:t> something. Now we write the fighter's first method.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method changes an object's own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class</a:t>
            </a:r>
            <a:r>
              <a:rPr sz="1800">
                <a:solidFill>
                  <a:srgbClr val="E6E6E6"/>
                </a:solidFill>
                <a:latin typeface="Consolas"/>
              </a:rPr>
              <a:t> Panda: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hunger := 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feed():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hunger -=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"Panda ate. Hunger now:"</a:t>
            </a:r>
            <a:r>
              <a:rPr sz="1800">
                <a:solidFill>
                  <a:srgbClr val="E6E6E6"/>
                </a:solidFill>
                <a:latin typeface="Consolas"/>
              </a:rPr>
              <a:t>, hunger)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Pieces already in the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property you declared in chunk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max_hp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also from chunk #1; used to compute HP bar fill ratio.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hit_flash_timer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float; set it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0.2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trigger a flash effect.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set_state(new_state)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stub (chunk #5 fills it); call it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"hit"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method; call it when hp hits zero.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$HPBar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node; set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scale.x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 / max_hp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shrink the bar.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7311" y="3372237"/>
            <a:ext cx="3827184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player.gd:167-176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3E4D54-BFF9-729E-DA34-6B5DD214A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53" y="1972394"/>
            <a:ext cx="7247744" cy="382977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Subtract amount from hp, set hit_flash_timer to 0.2, switch state to \"hit\", shrink the HP bar to match the new hp/max_hp ratio, and call die() if hp dropped to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Panda analogy: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take_damage(amount):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hp -= 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hit_flash_timer = </a:t>
            </a:r>
            <a:r>
              <a:rPr sz="1800">
                <a:solidFill>
                  <a:srgbClr val="B5CEA8"/>
                </a:solidFill>
                <a:latin typeface="Consolas"/>
              </a:rPr>
              <a:t>0.2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set_state(</a:t>
            </a:r>
            <a:r>
              <a:rPr sz="1800">
                <a:solidFill>
                  <a:srgbClr val="CE9178"/>
                </a:solidFill>
                <a:latin typeface="Consolas"/>
              </a:rPr>
              <a:t>"hit"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$HPBar.scale.x = hp / max_hp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hp &lt;=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die()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89BB40-7CC5-8F0E-8D12-F61D4B166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950" y="3160671"/>
            <a:ext cx="5774425" cy="305125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Time to spawn two of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The Player class exists. The properties are declared. Now we create two instances — one for each player — and put them in the scene.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Panda.new() ×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Two independent instances from one blueprint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panda_a = Panda.new()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panda_b = Panda.new()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panda_a.hp = </a:t>
            </a:r>
            <a:r>
              <a:rPr sz="1800">
                <a:solidFill>
                  <a:srgbClr val="B5CEA8"/>
                </a:solidFill>
                <a:latin typeface="Consolas"/>
              </a:rPr>
              <a:t>80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only A changes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(panda_b.hp) </a:t>
            </a:r>
            <a:r>
              <a:rPr sz="1800">
                <a:solidFill>
                  <a:srgbClr val="6A9955"/>
                </a:solidFill>
                <a:latin typeface="Consolas"/>
              </a:rPr>
              <a:t># still 100 — B is unaffected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Godot: PLAYER_SCENE.instantiate()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Panda.new()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plain GDScript =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PLAYER_SCENE.instantiate()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Godot.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create a fresh copy of the blueprint.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instantiate()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add_child()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put it in the scene tree, then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load character data.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main.gd:205-212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28F49A-4165-1D2D-EB5E-3288A6515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05" y="1186703"/>
            <a:ext cx="6733582" cy="525981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Instantiate the Player scene twice — once for Player 1, once for Player 2. Add each to the tree and call setup() — Player 1 at Vector2(200, 500), Player 2 at Vector2(1080, 500).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Panda analogy: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panda_a = Panda.new()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add_child(panda_a)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panda_b = Panda.new()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add_child(panda_b)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C2E289-04B5-9C7B-7141-4ED2F10B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344" y="2971800"/>
            <a:ext cx="4786761" cy="373909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Objects can change mode.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6077"/>
            <a:ext cx="11277295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What does the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 traffic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 light know?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state is a mode — one string that tells the object what it's doing right now.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 controls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State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		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What the light does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 </a:t>
            </a:r>
          </a:p>
          <a:p>
            <a:pPr algn="l"/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>
                <a:solidFill>
                  <a:srgbClr val="1A1A1A"/>
                </a:solidFill>
                <a:latin typeface="Consolas"/>
              </a:rPr>
              <a:t>"red"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		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Cars must stop. Pedestrians walk. </a:t>
            </a:r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>
                <a:solidFill>
                  <a:srgbClr val="1A1A1A"/>
                </a:solidFill>
                <a:latin typeface="Consolas"/>
              </a:rPr>
              <a:t>"yellow"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	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Cars slow down. No new pedestrians. </a:t>
            </a:r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>
                <a:solidFill>
                  <a:srgbClr val="1A1A1A"/>
                </a:solidFill>
                <a:latin typeface="Consolas"/>
              </a:rPr>
              <a:t>"green"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	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Cars go. Pedestrians wait.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States change on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Timer runs out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Timer runs out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"yellow"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Timer runs out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"yellow"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state machine: a set of states + the rules for switching between them.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 machine in GDScript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656413"/>
            <a:ext cx="9021836" cy="4835827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class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TrafficLight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state := </a:t>
            </a:r>
            <a:r>
              <a:rPr sz="1800" dirty="0">
                <a:solidFill>
                  <a:srgbClr val="CE9178"/>
                </a:solidFill>
                <a:latin typeface="Consolas"/>
              </a:rPr>
              <a:t>"red"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</a:t>
            </a:r>
            <a:r>
              <a:rPr sz="1800" dirty="0" err="1">
                <a:solidFill>
                  <a:srgbClr val="569CD6"/>
                </a:solidFill>
                <a:latin typeface="Consolas"/>
              </a:rPr>
              <a:t>func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tick(delta):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match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state: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 dirty="0">
                <a:solidFill>
                  <a:srgbClr val="CE9178"/>
                </a:solidFill>
                <a:latin typeface="Consolas"/>
              </a:rPr>
              <a:t>"red"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cars_must_stop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 dirty="0">
                <a:solidFill>
                  <a:srgbClr val="CE9178"/>
                </a:solidFill>
                <a:latin typeface="Consolas"/>
              </a:rPr>
              <a:t>"yellow"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cars_slow_down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 dirty="0">
                <a:solidFill>
                  <a:srgbClr val="CE9178"/>
                </a:solidFill>
                <a:latin typeface="Consolas"/>
              </a:rPr>
              <a:t>"green"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cars_go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</a:t>
            </a:r>
            <a:r>
              <a:rPr sz="1800" dirty="0" err="1">
                <a:solidFill>
                  <a:srgbClr val="569CD6"/>
                </a:solidFill>
                <a:latin typeface="Consolas"/>
              </a:rPr>
              <a:t>func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new_state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if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new_state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== state: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state =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new_state</a:t>
            </a:r>
            <a:endParaRPr sz="1800" dirty="0">
              <a:solidFill>
                <a:srgbClr val="E6E6E6"/>
              </a:solidFill>
              <a:latin typeface="Consolas"/>
            </a:endParaRP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Quick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Traffic light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 pedestrian presses the crossing button.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set_state("green")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called.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happens? What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the call?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becomes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On next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cars_go()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instead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cars_must_stop()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fighter's 6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stand still; press move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; press jump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move; release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; jump key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rising; velocity flips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falling; land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"attack"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swing/fire; timer done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(pre-given)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"hit"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flash; timer done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(pre-given)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"dead"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terminal; no transitions out (pre-given)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3064460"/>
            <a:ext cx="4236598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Back to </a:t>
            </a:r>
            <a:r>
              <a:rPr lang="en-US" sz="2000" b="0" i="0" dirty="0" err="1">
                <a:solidFill>
                  <a:srgbClr val="1A1A1A"/>
                </a:solidFill>
                <a:latin typeface="Consolas"/>
              </a:rPr>
              <a:t>player.gd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player.gd:63-72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FABCC8-3950-DB4C-B66E-1F15DF6FE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29518"/>
            <a:ext cx="7119078" cy="205616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Poppins"/>
              </a:rPr>
              <a:t>Declare state (start at "idle"). In </a:t>
            </a:r>
            <a:r>
              <a:rPr sz="2000" b="1" i="0" dirty="0" err="1">
                <a:solidFill>
                  <a:srgbClr val="1A1A1A"/>
                </a:solidFill>
                <a:latin typeface="Poppins"/>
              </a:rPr>
              <a:t>set_state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(</a:t>
            </a:r>
            <a:r>
              <a:rPr sz="2000" b="1" i="0" dirty="0" err="1">
                <a:solidFill>
                  <a:srgbClr val="1A1A1A"/>
                </a:solidFill>
                <a:latin typeface="Poppins"/>
              </a:rPr>
              <a:t>new_state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)</a:t>
            </a:r>
            <a:r>
              <a:rPr lang="en-US" sz="2000" b="1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return if it matches the current state, otherwise print </a:t>
            </a:r>
            <a:r>
              <a:rPr sz="2000" b="1" i="0" dirty="0" err="1">
                <a:solidFill>
                  <a:srgbClr val="1A1A1A"/>
                </a:solidFill>
                <a:latin typeface="Poppins"/>
              </a:rPr>
              <a:t>new_state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 and update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Traffic light analogy: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state := </a:t>
            </a:r>
            <a:r>
              <a:rPr sz="1800">
                <a:solidFill>
                  <a:srgbClr val="CE9178"/>
                </a:solidFill>
                <a:latin typeface="Consolas"/>
              </a:rPr>
              <a:t>"red"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set_state(new_state):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new_state == state: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(new_state)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state = new_state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9DFC4F-94CA-1F57-505B-91E8CDAF9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439" y="3786540"/>
            <a:ext cx="5811936" cy="167862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No new visible 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State is declared. But nothing reacts to it yet — chunk #6 fills the branches. Keep going.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Use the state — make the panda behave per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The state string exists. Now write the rules: what does each state DO every frame?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Consolas"/>
              </a:rPr>
              <a:t>match state: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— six branches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_physics_process(delta)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every frame (~60×/second).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it: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state: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the current state string.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Six branches: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"attack"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"hit"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branch runs ONLY when the fighter is in that state.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written vs what you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Pre-given (gray):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state: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dispatcher itself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Velocity application (gravity, horizontal movement)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(full — you wrote attack() in chunk #7)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(full — uses hit_flash_timer)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dead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(full — freezes the fighter)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write (red — 4 holes):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when to switch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when to switch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when to switch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when to switch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get_move_direction()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helper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Pre-given helper — already in player.gd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get_move_direction() -&gt; </a:t>
            </a:r>
            <a:r>
              <a:rPr sz="1800">
                <a:solidFill>
                  <a:srgbClr val="DCDCAA"/>
                </a:solidFill>
                <a:latin typeface="Consolas"/>
              </a:rPr>
              <a:t>float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left  = Input.is_action_pressed(</a:t>
            </a:r>
            <a:r>
              <a:rPr sz="1800">
                <a:solidFill>
                  <a:srgbClr val="CE9178"/>
                </a:solidFill>
                <a:latin typeface="Consolas"/>
              </a:rPr>
              <a:t>"p%d_left"</a:t>
            </a:r>
            <a:r>
              <a:rPr sz="1800">
                <a:solidFill>
                  <a:srgbClr val="E6E6E6"/>
                </a:solidFill>
                <a:latin typeface="Consolas"/>
              </a:rPr>
              <a:t>  % player_num)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right = Input.is_action_pressed(</a:t>
            </a:r>
            <a:r>
              <a:rPr sz="1800">
                <a:solidFill>
                  <a:srgbClr val="CE9178"/>
                </a:solidFill>
                <a:latin typeface="Consolas"/>
              </a:rPr>
              <a:t>"p%d_right"</a:t>
            </a:r>
            <a:r>
              <a:rPr sz="1800">
                <a:solidFill>
                  <a:srgbClr val="E6E6E6"/>
                </a:solidFill>
                <a:latin typeface="Consolas"/>
              </a:rPr>
              <a:t> % player_num)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float</a:t>
            </a:r>
            <a:r>
              <a:rPr sz="1800">
                <a:solidFill>
                  <a:srgbClr val="E6E6E6"/>
                </a:solidFill>
                <a:latin typeface="Consolas"/>
              </a:rPr>
              <a:t>(right) - </a:t>
            </a:r>
            <a:r>
              <a:rPr sz="1800">
                <a:solidFill>
                  <a:srgbClr val="DCDCAA"/>
                </a:solidFill>
                <a:latin typeface="Consolas"/>
              </a:rPr>
              <a:t>float</a:t>
            </a:r>
            <a:r>
              <a:rPr sz="1800">
                <a:solidFill>
                  <a:srgbClr val="E6E6E6"/>
                </a:solidFill>
                <a:latin typeface="Consolas"/>
              </a:rPr>
              <a:t>(left)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Returns: -1.0 (left), 0.0 (still), 1.0 (right)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The full state machine — your four holes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253F1F-98AD-6BC5-1044-86A0374E0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55" y="3296430"/>
            <a:ext cx="9620377" cy="209853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We know idle exists — inside the idle branch: switch to \"walk\" when get_move_direction() is non-zero, and switch to \"jump\" (with upward velocity.y) when jump is pressed on the floor.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Traffic light: red → green on button press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button_pressed: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set_state(</a:t>
            </a:r>
            <a:r>
              <a:rPr sz="1800">
                <a:solidFill>
                  <a:srgbClr val="CE9178"/>
                </a:solidFill>
                <a:latin typeface="Consolas"/>
              </a:rPr>
              <a:t>"green"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Idle exits: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get_move_direction() !=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set_state(</a:t>
            </a:r>
            <a:r>
              <a:rPr sz="1800">
                <a:solidFill>
                  <a:srgbClr val="CE9178"/>
                </a:solidFill>
                <a:latin typeface="Consolas"/>
              </a:rPr>
              <a:t>"walk"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jump_pressed and is_on_floor():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velocity.y = -jump_impulse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set_state(</a:t>
            </a:r>
            <a:r>
              <a:rPr sz="1800">
                <a:solidFill>
                  <a:srgbClr val="CE9178"/>
                </a:solidFill>
                <a:latin typeface="Consolas"/>
              </a:rPr>
              <a:t>"jump"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AE63441-946B-A014-5056-8FE871FBC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729" y="3022714"/>
            <a:ext cx="5875084" cy="236625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Inside the walk branch: when get_move_direction() is zero, switch back to \"idle\". When jump is pressed on the floor, set velocity.y = -jump_impulse and switch to \"jump\".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Walk exits — symmetric to idle: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get_move_direction() ==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set_state(</a:t>
            </a:r>
            <a:r>
              <a:rPr sz="1800">
                <a:solidFill>
                  <a:srgbClr val="CE9178"/>
                </a:solidFill>
                <a:latin typeface="Consolas"/>
              </a:rPr>
              <a:t>"idle"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jump_pressed and is_on_floor():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velocity.y = -jump_impulse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set_state(</a:t>
            </a:r>
            <a:r>
              <a:rPr sz="1800">
                <a:solidFill>
                  <a:srgbClr val="CE9178"/>
                </a:solidFill>
                <a:latin typeface="Consolas"/>
              </a:rPr>
              <a:t>"jump"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EE6D41-B7FD-55EB-CEE0-4F4A65FDC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302" y="3134693"/>
            <a:ext cx="5811513" cy="220155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Inside the jump branch: when velocity.y &gt; 0 (upward velocity has run out), switch to \"fall\".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Jumped up — now falling: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velocity.y &gt;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set_state(</a:t>
            </a:r>
            <a:r>
              <a:rPr sz="1800">
                <a:solidFill>
                  <a:srgbClr val="CE9178"/>
                </a:solidFill>
                <a:latin typeface="Consolas"/>
              </a:rPr>
              <a:t>"fall"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D8CAE7-4E0B-881F-6595-0FF434558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824" y="3369910"/>
            <a:ext cx="5177852" cy="123345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is_on_floor() is true, the player has landed — switch back to \"idle\".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Landed: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is_on_floor():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set_state(</a:t>
            </a:r>
            <a:r>
              <a:rPr sz="1800">
                <a:solidFill>
                  <a:srgbClr val="CE9178"/>
                </a:solidFill>
                <a:latin typeface="Consolas"/>
              </a:rPr>
              <a:t>"idle"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3CF39D-AFB1-DC4B-C485-ED44621FE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200400"/>
            <a:ext cx="5771213" cy="183629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the attack DO something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Fighters can move. Now make the attack key actually deal damage.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match attack_type: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two branches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attack_type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is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"melee"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"projectile"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(set by chunk #2 /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attack()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: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match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attack_type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branches once — melee hits the nearby opponent directly; projectile fires a scene instance.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Same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pattern as the state machine — one string decides what happens.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Pieces already in the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float; set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start the cooldown.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melee_swing_timer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float; set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0.15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trigger the swing rectangle draw.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queue_redraw()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Godot call; redraws the swing rectangle.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get_opponent()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method; returns the other Player node (or null if dead).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spawn_projectile()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method; fires a Projectile scene in the facing direction.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The same check with named booleans: three readable lines instead of one unreadable wall. If it breaks, you know which condition failed.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11277295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BAD — one wicked one-liner: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abs</a:t>
            </a:r>
            <a:r>
              <a:rPr sz="1800">
                <a:solidFill>
                  <a:srgbClr val="E6E6E6"/>
                </a:solidFill>
                <a:latin typeface="Consolas"/>
              </a:rPr>
              <a:t>(opponent.pos.x - pos.x) &lt; rng \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and </a:t>
            </a:r>
            <a:r>
              <a:rPr sz="1800">
                <a:solidFill>
                  <a:srgbClr val="DCDCAA"/>
                </a:solidFill>
                <a:latin typeface="Consolas"/>
              </a:rPr>
              <a:t>abs</a:t>
            </a:r>
            <a:r>
              <a:rPr sz="1800">
                <a:solidFill>
                  <a:srgbClr val="E6E6E6"/>
                </a:solidFill>
                <a:latin typeface="Consolas"/>
              </a:rPr>
              <a:t>(opponent.pos.y - pos.y) &lt; </a:t>
            </a:r>
            <a:r>
              <a:rPr sz="1800">
                <a:solidFill>
                  <a:srgbClr val="B5CEA8"/>
                </a:solidFill>
                <a:latin typeface="Consolas"/>
              </a:rPr>
              <a:t>40</a:t>
            </a:r>
            <a:r>
              <a:rPr sz="1800">
                <a:solidFill>
                  <a:srgbClr val="E6E6E6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and </a:t>
            </a:r>
            <a:r>
              <a:rPr sz="1800">
                <a:solidFill>
                  <a:srgbClr val="DCDCAA"/>
                </a:solidFill>
                <a:latin typeface="Consolas"/>
              </a:rPr>
              <a:t>sign</a:t>
            </a:r>
            <a:r>
              <a:rPr sz="1800">
                <a:solidFill>
                  <a:srgbClr val="E6E6E6"/>
                </a:solidFill>
                <a:latin typeface="Consolas"/>
              </a:rPr>
              <a:t>(opponent.pos.x - pos.x) == facing: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opponent.take_damage(dmg)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abs()? Distance has no direction.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When your opponent moves to the LEFT, their x position goes DOWN — so the gap between you becomes a negative number.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When your opponent moves to the RIGHT, their x position goes UP — so the gap is a positive number.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But you're the same distance apart either way! The sign just tells you which side they're on.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abs() throws away the sign and gives you the plain distance — like a tape measure that doesn't care which direction you hold it.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   abs(−300) = 300     abs(+300) = 300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breaks without abs()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❌  Without abs()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Your attack range is 70 pixels.
Your opponent is way over to the left — 300 pixels away.
The gap comes out as −300 (negative because they're to your left).
The game checks: is −300 ≤ 70?
→ YES — so the punch lands!
But they're 300 pixels away.
That punch should never have hit.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✅  With abs()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Your attack range is 70 pixels.
Your opponent is way over to the left — 300 pixels away.
The gap comes out as −300.
abs(−300) turns that into 300.
The game checks: is 300 ≤ 70?
→ NO — punch misses. Correct!
Now it works the same
no matter which side they're 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player.gd:178-199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EC28B8-9380-E926-46CC-E21A62813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05" y="1244179"/>
            <a:ext cx="6852575" cy="496400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259" y="86868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378" y="1270794"/>
            <a:ext cx="10773431" cy="2074261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6A9955"/>
                </a:solidFill>
                <a:latin typeface="Consolas"/>
              </a:rPr>
              <a:t># Named </a:t>
            </a:r>
            <a:r>
              <a:rPr sz="1800" dirty="0" err="1">
                <a:solidFill>
                  <a:srgbClr val="6A9955"/>
                </a:solidFill>
                <a:latin typeface="Consolas"/>
              </a:rPr>
              <a:t>booleans</a:t>
            </a:r>
            <a:r>
              <a:rPr sz="1800" dirty="0">
                <a:solidFill>
                  <a:srgbClr val="6A9955"/>
                </a:solidFill>
                <a:latin typeface="Consolas"/>
              </a:rPr>
              <a:t> — the good way: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in_range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abs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to_opp.x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 &lt;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attack_range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6A9955"/>
                </a:solidFill>
                <a:latin typeface="Consolas"/>
              </a:rPr>
              <a:t># pre-given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same_height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abs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to_opp.y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 &lt; </a:t>
            </a:r>
            <a:r>
              <a:rPr sz="1800" dirty="0">
                <a:solidFill>
                  <a:srgbClr val="B5CEA8"/>
                </a:solidFill>
                <a:latin typeface="Consolas"/>
              </a:rPr>
              <a:t>40.0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      </a:t>
            </a:r>
            <a:r>
              <a:rPr sz="1800" dirty="0">
                <a:solidFill>
                  <a:srgbClr val="6A9955"/>
                </a:solidFill>
                <a:latin typeface="Consolas"/>
              </a:rPr>
              <a:t># pre-given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facing_opponent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sign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to_opp.x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 == facing  </a:t>
            </a:r>
            <a:r>
              <a:rPr sz="1800" dirty="0">
                <a:solidFill>
                  <a:srgbClr val="6A9955"/>
                </a:solidFill>
                <a:latin typeface="Consolas"/>
              </a:rPr>
              <a:t># YOU write this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if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in_range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and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facing_opponent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and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same_height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800" dirty="0">
                <a:solidFill>
                  <a:srgbClr val="6A9955"/>
                </a:solidFill>
                <a:latin typeface="Consolas"/>
              </a:rPr>
              <a:t># YOU write this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opponent.take_damage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attack_damage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259" y="3406892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DA6BA9-E25E-EE2A-19DD-F07100227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702" y="3432575"/>
            <a:ext cx="4728642" cy="342542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B0E5-8E80-69AE-2E52-3B6E5E18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4EC483-561C-745B-BE3A-88A7B4571CB0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>
            <a:extLst>
              <a:ext uri="{FF2B5EF4-FFF2-40B4-BE49-F238E27FC236}">
                <a16:creationId xmlns:a16="http://schemas.microsoft.com/office/drawing/2014/main" id="{FB55A954-FC05-4A90-234B-B5191625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81ABF7-3447-BF98-9060-8B36302B9EA9}"/>
              </a:ext>
            </a:extLst>
          </p:cNvPr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CF9B8-38C4-D9C8-8B10-B3F654E60B58}"/>
              </a:ext>
            </a:extLst>
          </p:cNvPr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E80EC-6425-B66F-A5B4-E72FBB3C8F7A}"/>
              </a:ext>
            </a:extLst>
          </p:cNvPr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9E148-0029-4F01-5BE9-EFEC1DBD1DB1}"/>
              </a:ext>
            </a:extLst>
          </p:cNvPr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9E3C11-4541-5B71-5FC2-E93753002705}"/>
              </a:ext>
            </a:extLst>
          </p:cNvPr>
          <p:cNvSpPr/>
          <p:nvPr/>
        </p:nvSpPr>
        <p:spPr>
          <a:xfrm>
            <a:off x="274320" y="100584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lang="en-US" sz="2000" b="1" i="0" dirty="0">
                <a:solidFill>
                  <a:srgbClr val="1A1A1A"/>
                </a:solidFill>
                <a:latin typeface="Poppins"/>
              </a:rPr>
              <a:t>This one is a little spicy. </a:t>
            </a:r>
          </a:p>
          <a:p>
            <a:pPr algn="l"/>
            <a:endParaRPr lang="en-US" sz="2000" b="1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b="1" i="0" dirty="0">
                <a:solidFill>
                  <a:srgbClr val="1A1A1A"/>
                </a:solidFill>
                <a:latin typeface="Poppins"/>
              </a:rPr>
              <a:t>Your code needs to decide 3 things: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F5842-DD3B-6CE9-4D04-85346AD3B313}"/>
              </a:ext>
            </a:extLst>
          </p:cNvPr>
          <p:cNvSpPr txBox="1"/>
          <p:nvPr/>
        </p:nvSpPr>
        <p:spPr>
          <a:xfrm>
            <a:off x="365760" y="2377440"/>
            <a:ext cx="11277295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Can I attack? (cooldown timer handles this automatically)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/>
              </a:rPr>
              <a:t>What kind of attack am I? (Projectile/Melee)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Did I actually hit? (Melee only – close enough, facing you, same height?)</a:t>
            </a:r>
            <a:endParaRPr sz="2000" b="0" i="0" dirty="0">
              <a:solidFill>
                <a:srgbClr val="1A1A1A"/>
              </a:solidFill>
              <a:latin typeface="Poppi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B8DCFC7-EE15-238D-F489-D1E1528EC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7" y="3885753"/>
            <a:ext cx="5651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422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pic>
        <p:nvPicPr>
          <p:cNvPr id="8" name="Picture 7" descr="D4B5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5739"/>
            <a:ext cx="6766377" cy="41408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5 — Add a fifth map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Final Challenge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 time</a:t>
            </a:r>
            <a:endParaRPr sz="54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Invent a 5th fighter: custom stats, custom sprite, custom attack. Then fight your friend with it.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Build a 5th playable character with whatever stats, sprite, and attack type you want.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Give them a custom attack: invent the behavior — projectile burst, screen shake, freeze, anything.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Play it against your friend in the map you built in Beat 5.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More ideas —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Max walk_speed before clipping through walls: ~800. Above 1000 = chaos.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jump_impulse = 1000 → moon jump.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attack_cooldown = 0.05 → machine gun attacks.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attack_damage = 99 → one-punch.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Combine: slow + high damage = tank. Fast + low damage = glass cannon.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More ideas — attack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projectiles: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spawn_projectile()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twice with a tiny delay trick.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Area burst: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opponent.take_damage(attack_damage)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checking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always hits if facing.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Boomerang: set projectile_gravity_scale to a negative value in the dict.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Self-heal: instead of damaging the opponent,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 = min(hp + 10, max_hp)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Taunt: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set_state("attack")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dealing damage — wastes the opponent's dodge.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← chunks #1 + #2 (property declarations → a fresh stats dict)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← chunk #4 (hook a new instance into the existing system)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← chunks #6 + #7 (add a new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+ invent attack behavior)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FC hole is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reword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something you wrote this morning.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41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"/>
            <a:ext cx="68580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Final Challenge — Board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45" y="1033272"/>
            <a:ext cx="4036466" cy="566013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445" y="1033272"/>
            <a:ext cx="4036466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1071" y="1033272"/>
            <a:ext cx="3798112" cy="18466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FC-1  </a:t>
            </a:r>
            <a:r>
              <a:rPr sz="1200" b="0">
                <a:solidFill>
                  <a:srgbClr val="FFFFFF"/>
                </a:solidFill>
                <a:latin typeface="Poppins"/>
              </a:rPr>
              <a:t>CUSTOM_CHARACTER 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071" y="1399032"/>
            <a:ext cx="3798112" cy="15388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Chunks #1 +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071" y="1764792"/>
            <a:ext cx="3798112" cy="2585323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200" dirty="0">
                <a:solidFill>
                  <a:srgbClr val="569CD6"/>
                </a:solidFill>
                <a:latin typeface="Consolas"/>
              </a:rPr>
              <a:t>const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CUSTOM_CHARACTER := {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display_name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MyFighter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"sprite"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"res://assets/.../tile_0004.png"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"tint"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4EC9B0"/>
                </a:solidFill>
                <a:latin typeface="Consolas"/>
              </a:rPr>
              <a:t>Color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1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1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1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),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walk_speed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250.0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jump_impulse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540.0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attack_type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"custom"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attack_damage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12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attack_cooldown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0.6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attack_range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0.0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projectile_speed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0.0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 err="1">
                <a:solidFill>
                  <a:srgbClr val="CE9178"/>
                </a:solidFill>
                <a:latin typeface="Consolas"/>
              </a:rPr>
              <a:t>projectile_gravity_scale</a:t>
            </a:r>
            <a:r>
              <a:rPr sz="12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0.0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7634" y="1033272"/>
            <a:ext cx="3716426" cy="566013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37634" y="1033272"/>
            <a:ext cx="3716426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7362" y="1033272"/>
            <a:ext cx="3496970" cy="36576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FC-2  </a:t>
            </a:r>
            <a:r>
              <a:rPr sz="1200" b="0">
                <a:solidFill>
                  <a:srgbClr val="FFFFFF"/>
                </a:solidFill>
                <a:latin typeface="Poppins"/>
              </a:rPr>
              <a:t>register in main.gd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7362" y="1399032"/>
            <a:ext cx="349697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 #4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7362" y="1764792"/>
            <a:ext cx="3496970" cy="481888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200">
                <a:solidFill>
                  <a:srgbClr val="6A9955"/>
                </a:solidFill>
                <a:latin typeface="Consolas"/>
              </a:rPr>
              <a:t># In main.gd _ready():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CHARACTERS[</a:t>
            </a:r>
            <a:r>
              <a:rPr sz="1200">
                <a:solidFill>
                  <a:srgbClr val="CE9178"/>
                </a:solidFill>
                <a:latin typeface="Consolas"/>
              </a:rPr>
              <a:t>"custom"</a:t>
            </a:r>
            <a:r>
              <a:rPr sz="1200">
                <a:solidFill>
                  <a:srgbClr val="E6E6E6"/>
                </a:solidFill>
                <a:latin typeface="Consolas"/>
              </a:rPr>
              <a:t>] = CUSTOM_CHARACTER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6A9955"/>
                </a:solidFill>
                <a:latin typeface="Consolas"/>
              </a:rPr>
              <a:t># Update char-select keys array:</a:t>
            </a:r>
          </a:p>
          <a:p>
            <a:r>
              <a:rPr sz="1200">
                <a:solidFill>
                  <a:srgbClr val="569CD6"/>
                </a:solidFill>
                <a:latin typeface="Consolas"/>
              </a:rPr>
              <a:t>var</a:t>
            </a:r>
            <a:r>
              <a:rPr sz="1200">
                <a:solidFill>
                  <a:srgbClr val="E6E6E6"/>
                </a:solidFill>
                <a:latin typeface="Consolas"/>
              </a:rPr>
              <a:t> keys = [</a:t>
            </a:r>
            <a:r>
              <a:rPr sz="1200">
                <a:solidFill>
                  <a:srgbClr val="CE9178"/>
                </a:solidFill>
                <a:latin typeface="Consolas"/>
              </a:rPr>
              <a:t>"knight"</a:t>
            </a:r>
            <a:r>
              <a:rPr sz="1200">
                <a:solidFill>
                  <a:srgbClr val="E6E6E6"/>
                </a:solidFill>
                <a:latin typeface="Consolas"/>
              </a:rPr>
              <a:t>, </a:t>
            </a:r>
            <a:r>
              <a:rPr sz="1200">
                <a:solidFill>
                  <a:srgbClr val="CE9178"/>
                </a:solidFill>
                <a:latin typeface="Consolas"/>
              </a:rPr>
              <a:t>"ninja"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"mage"</a:t>
            </a:r>
            <a:r>
              <a:rPr sz="1200">
                <a:solidFill>
                  <a:srgbClr val="E6E6E6"/>
                </a:solidFill>
                <a:latin typeface="Consolas"/>
              </a:rPr>
              <a:t>, </a:t>
            </a:r>
            <a:r>
              <a:rPr sz="1200">
                <a:solidFill>
                  <a:srgbClr val="CE9178"/>
                </a:solidFill>
                <a:latin typeface="Consolas"/>
              </a:rPr>
              <a:t>"archer"</a:t>
            </a:r>
            <a:r>
              <a:rPr sz="1200">
                <a:solidFill>
                  <a:srgbClr val="E6E6E6"/>
                </a:solidFill>
                <a:latin typeface="Consolas"/>
              </a:rPr>
              <a:t>, </a:t>
            </a:r>
            <a:r>
              <a:rPr sz="1200">
                <a:solidFill>
                  <a:srgbClr val="CE9178"/>
                </a:solidFill>
                <a:latin typeface="Consolas"/>
              </a:rPr>
              <a:t>"custom"</a:t>
            </a:r>
            <a:r>
              <a:rPr sz="120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2783" y="1033272"/>
            <a:ext cx="3866326" cy="566013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2783" y="1033272"/>
            <a:ext cx="3866326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1363" y="1033272"/>
            <a:ext cx="3638018" cy="18466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FC-3  </a:t>
            </a:r>
            <a:r>
              <a:rPr sz="1200" b="0">
                <a:solidFill>
                  <a:srgbClr val="FFFFFF"/>
                </a:solidFill>
                <a:latin typeface="Poppins"/>
              </a:rPr>
              <a:t>custom attack()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363" y="1399032"/>
            <a:ext cx="3638018" cy="15388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Chunks #6 + #7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363" y="1764792"/>
            <a:ext cx="3638018" cy="313932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200" dirty="0">
                <a:solidFill>
                  <a:srgbClr val="6A9955"/>
                </a:solidFill>
                <a:latin typeface="Consolas"/>
              </a:rPr>
              <a:t># Invent anything — patterns available:</a:t>
            </a:r>
            <a:endParaRPr lang="en-US" sz="1200" dirty="0">
              <a:solidFill>
                <a:srgbClr val="6A9955"/>
              </a:solidFill>
              <a:latin typeface="Consolas"/>
            </a:endParaRPr>
          </a:p>
          <a:p>
            <a:endParaRPr sz="1200" dirty="0">
              <a:solidFill>
                <a:srgbClr val="6A9955"/>
              </a:solidFill>
              <a:latin typeface="Consolas"/>
            </a:endParaRPr>
          </a:p>
          <a:p>
            <a:r>
              <a:rPr lang="en-US" sz="1200" dirty="0">
                <a:solidFill>
                  <a:srgbClr val="6A9955"/>
                </a:solidFill>
                <a:latin typeface="Consolas"/>
              </a:rPr>
              <a:t># deal damage</a:t>
            </a:r>
            <a:endParaRPr lang="en-US" sz="1200" dirty="0">
              <a:solidFill>
                <a:srgbClr val="E6E6E6"/>
              </a:solidFill>
              <a:latin typeface="Consolas"/>
            </a:endParaRPr>
          </a:p>
          <a:p>
            <a:r>
              <a:rPr sz="1200" dirty="0" err="1">
                <a:solidFill>
                  <a:srgbClr val="E6E6E6"/>
                </a:solidFill>
                <a:latin typeface="Consolas"/>
              </a:rPr>
              <a:t>opponent.</a:t>
            </a:r>
            <a:r>
              <a:rPr sz="1200" dirty="0" err="1">
                <a:solidFill>
                  <a:srgbClr val="DCDCAA"/>
                </a:solidFill>
                <a:latin typeface="Consolas"/>
              </a:rPr>
              <a:t>take_damage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(N)</a:t>
            </a:r>
            <a:endParaRPr lang="en-US" sz="1200" dirty="0">
              <a:solidFill>
                <a:srgbClr val="E6E6E6"/>
              </a:solidFill>
              <a:latin typeface="Consolas"/>
            </a:endParaRPr>
          </a:p>
          <a:p>
            <a:endParaRPr lang="en-US" sz="1200" dirty="0">
              <a:solidFill>
                <a:srgbClr val="E6E6E6"/>
              </a:solidFill>
              <a:latin typeface="Consolas"/>
            </a:endParaRPr>
          </a:p>
          <a:p>
            <a:r>
              <a:rPr lang="en-US" sz="1200" dirty="0">
                <a:solidFill>
                  <a:srgbClr val="6A9955"/>
                </a:solidFill>
                <a:latin typeface="Consolas"/>
              </a:rPr>
              <a:t># fire projectile</a:t>
            </a:r>
            <a:endParaRPr sz="1200" dirty="0">
              <a:solidFill>
                <a:srgbClr val="6A9955"/>
              </a:solidFill>
              <a:latin typeface="Consolas"/>
            </a:endParaRPr>
          </a:p>
          <a:p>
            <a:r>
              <a:rPr sz="1200" dirty="0" err="1">
                <a:solidFill>
                  <a:srgbClr val="DCDCAA"/>
                </a:solidFill>
                <a:latin typeface="Consolas"/>
              </a:rPr>
              <a:t>spawn_projectile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()</a:t>
            </a:r>
            <a:endParaRPr lang="en-US" sz="1200" dirty="0">
              <a:solidFill>
                <a:srgbClr val="E6E6E6"/>
              </a:solidFill>
              <a:latin typeface="Consolas"/>
            </a:endParaRPr>
          </a:p>
          <a:p>
            <a:endParaRPr lang="en-US" sz="1200" dirty="0">
              <a:solidFill>
                <a:srgbClr val="6A9955"/>
              </a:solidFill>
              <a:latin typeface="Consolas"/>
            </a:endParaRPr>
          </a:p>
          <a:p>
            <a:r>
              <a:rPr lang="en-US" sz="1200" dirty="0">
                <a:solidFill>
                  <a:srgbClr val="6A9955"/>
                </a:solidFill>
                <a:latin typeface="Consolas"/>
              </a:rPr>
              <a:t># heal yourself</a:t>
            </a:r>
            <a:endParaRPr sz="1200" dirty="0">
              <a:solidFill>
                <a:srgbClr val="6A9955"/>
              </a:solidFill>
              <a:latin typeface="Consolas"/>
            </a:endParaRP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hp += N</a:t>
            </a:r>
            <a:endParaRPr lang="en-US" sz="1200" dirty="0">
              <a:solidFill>
                <a:srgbClr val="E6E6E6"/>
              </a:solidFill>
              <a:latin typeface="Consolas"/>
            </a:endParaRPr>
          </a:p>
          <a:p>
            <a:endParaRPr lang="en-US" sz="1200" dirty="0">
              <a:solidFill>
                <a:srgbClr val="E6E6E6"/>
              </a:solidFill>
              <a:latin typeface="Consolas"/>
            </a:endParaRPr>
          </a:p>
          <a:p>
            <a:r>
              <a:rPr lang="en-US" sz="1200" dirty="0">
                <a:solidFill>
                  <a:srgbClr val="6A9955"/>
                </a:solidFill>
                <a:latin typeface="Consolas"/>
              </a:rPr>
              <a:t># draw swing arc</a:t>
            </a:r>
            <a:endParaRPr sz="1200" dirty="0">
              <a:solidFill>
                <a:srgbClr val="6A9955"/>
              </a:solidFill>
              <a:latin typeface="Consolas"/>
            </a:endParaRPr>
          </a:p>
          <a:p>
            <a:r>
              <a:rPr sz="1200" dirty="0" err="1">
                <a:solidFill>
                  <a:srgbClr val="E6E6E6"/>
                </a:solidFill>
                <a:latin typeface="Consolas"/>
              </a:rPr>
              <a:t>melee_swing_timer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1200" dirty="0">
                <a:solidFill>
                  <a:srgbClr val="B5CEA8"/>
                </a:solidFill>
                <a:latin typeface="Consolas"/>
              </a:rPr>
              <a:t>0.15</a:t>
            </a:r>
            <a:endParaRPr sz="1200" dirty="0">
              <a:solidFill>
                <a:srgbClr val="6A9955"/>
              </a:solidFill>
              <a:latin typeface="Consolas"/>
            </a:endParaRPr>
          </a:p>
          <a:p>
            <a:r>
              <a:rPr sz="1200" dirty="0" err="1">
                <a:solidFill>
                  <a:srgbClr val="DCDCAA"/>
                </a:solidFill>
                <a:latin typeface="Consolas"/>
              </a:rPr>
              <a:t>queue_redraw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r>
              <a:rPr sz="12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00" dirty="0">
                <a:solidFill>
                  <a:srgbClr val="6A9955"/>
                </a:solidFill>
                <a:latin typeface="Consolas"/>
              </a:rPr>
              <a:t># Multiple actions per attack are fine.</a:t>
            </a:r>
          </a:p>
          <a:p>
            <a:r>
              <a:rPr sz="1200" dirty="0">
                <a:solidFill>
                  <a:srgbClr val="6A9955"/>
                </a:solidFill>
                <a:latin typeface="Consolas"/>
              </a:rPr>
              <a:t># No fixed shape — this is your design.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Objects + State. Two big ideas.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OBJECT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thing in code that remembers its own data and can do things. Every fighter is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object with its own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mode that changes the object's behavior every frame. Six states: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/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dead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Together: a fighter that knows what it is AND what it's doing. That's a game character.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Tomorrow: Day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No new code. Play what you built across four days, show it off, and take it home.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 err="1">
                <a:solidFill>
                  <a:srgbClr val="1A1A1A"/>
                </a:solidFill>
                <a:latin typeface="Poppins"/>
              </a:rPr>
              <a:t>Export’n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 time</a:t>
            </a:r>
            <a:endParaRPr sz="54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.exe bro, </a:t>
            </a:r>
            <a:r>
              <a:rPr lang="en-US" sz="2400" b="0" i="0" dirty="0" err="1">
                <a:solidFill>
                  <a:srgbClr val="8A8A8A"/>
                </a:solidFill>
                <a:latin typeface="Poppins"/>
              </a:rPr>
              <a:t>ain’t</a:t>
            </a:r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 no other way to go</a:t>
            </a:r>
            <a:endParaRPr sz="2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5241</Words>
  <Application>Microsoft Macintosh PowerPoint</Application>
  <PresentationFormat>Widescreen</PresentationFormat>
  <Paragraphs>758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6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61</cp:revision>
  <dcterms:created xsi:type="dcterms:W3CDTF">2013-01-27T09:14:16Z</dcterms:created>
  <dcterms:modified xsi:type="dcterms:W3CDTF">2026-06-13T13:29:34Z</dcterms:modified>
  <cp:category/>
</cp:coreProperties>
</file>